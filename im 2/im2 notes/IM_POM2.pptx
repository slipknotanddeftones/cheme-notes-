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9"/>
  </p:notesMasterIdLst>
  <p:sldIdLst>
    <p:sldId id="318" r:id="rId2"/>
    <p:sldId id="394" r:id="rId3"/>
    <p:sldId id="334" r:id="rId4"/>
    <p:sldId id="413" r:id="rId5"/>
    <p:sldId id="335" r:id="rId6"/>
    <p:sldId id="440" r:id="rId7"/>
    <p:sldId id="414" r:id="rId8"/>
    <p:sldId id="336" r:id="rId9"/>
    <p:sldId id="415" r:id="rId10"/>
    <p:sldId id="338" r:id="rId11"/>
    <p:sldId id="416" r:id="rId12"/>
    <p:sldId id="396" r:id="rId13"/>
    <p:sldId id="417" r:id="rId14"/>
    <p:sldId id="342" r:id="rId15"/>
    <p:sldId id="418" r:id="rId16"/>
    <p:sldId id="344" r:id="rId17"/>
    <p:sldId id="345" r:id="rId18"/>
    <p:sldId id="346" r:id="rId19"/>
    <p:sldId id="419" r:id="rId20"/>
    <p:sldId id="347" r:id="rId21"/>
    <p:sldId id="348" r:id="rId22"/>
    <p:sldId id="420" r:id="rId23"/>
    <p:sldId id="441" r:id="rId24"/>
    <p:sldId id="400" r:id="rId25"/>
    <p:sldId id="442" r:id="rId26"/>
    <p:sldId id="401" r:id="rId27"/>
    <p:sldId id="402" r:id="rId28"/>
    <p:sldId id="403" r:id="rId29"/>
    <p:sldId id="443" r:id="rId30"/>
    <p:sldId id="444" r:id="rId31"/>
    <p:sldId id="446" r:id="rId32"/>
    <p:sldId id="447" r:id="rId33"/>
    <p:sldId id="448" r:id="rId34"/>
    <p:sldId id="449" r:id="rId35"/>
    <p:sldId id="445" r:id="rId36"/>
    <p:sldId id="450" r:id="rId37"/>
    <p:sldId id="451" r:id="rId38"/>
    <p:sldId id="452" r:id="rId39"/>
    <p:sldId id="453" r:id="rId40"/>
    <p:sldId id="454" r:id="rId41"/>
    <p:sldId id="455" r:id="rId42"/>
    <p:sldId id="456" r:id="rId43"/>
    <p:sldId id="457" r:id="rId44"/>
    <p:sldId id="404" r:id="rId45"/>
    <p:sldId id="350" r:id="rId46"/>
    <p:sldId id="424" r:id="rId47"/>
    <p:sldId id="356" r:id="rId48"/>
    <p:sldId id="359" r:id="rId49"/>
    <p:sldId id="360" r:id="rId50"/>
    <p:sldId id="362" r:id="rId51"/>
    <p:sldId id="363" r:id="rId52"/>
    <p:sldId id="365" r:id="rId53"/>
    <p:sldId id="272" r:id="rId54"/>
    <p:sldId id="427" r:id="rId55"/>
    <p:sldId id="367" r:id="rId56"/>
    <p:sldId id="368" r:id="rId57"/>
    <p:sldId id="370" r:id="rId58"/>
    <p:sldId id="428" r:id="rId59"/>
    <p:sldId id="372" r:id="rId60"/>
    <p:sldId id="374" r:id="rId61"/>
    <p:sldId id="429" r:id="rId62"/>
    <p:sldId id="376" r:id="rId63"/>
    <p:sldId id="430" r:id="rId64"/>
    <p:sldId id="378" r:id="rId65"/>
    <p:sldId id="431" r:id="rId66"/>
    <p:sldId id="379" r:id="rId67"/>
    <p:sldId id="432" r:id="rId68"/>
    <p:sldId id="382" r:id="rId69"/>
    <p:sldId id="433" r:id="rId70"/>
    <p:sldId id="384" r:id="rId71"/>
    <p:sldId id="434" r:id="rId72"/>
    <p:sldId id="386" r:id="rId73"/>
    <p:sldId id="435" r:id="rId74"/>
    <p:sldId id="388" r:id="rId75"/>
    <p:sldId id="389" r:id="rId76"/>
    <p:sldId id="437" r:id="rId77"/>
    <p:sldId id="391" r:id="rId78"/>
    <p:sldId id="392" r:id="rId79"/>
    <p:sldId id="393" r:id="rId80"/>
    <p:sldId id="406" r:id="rId81"/>
    <p:sldId id="408" r:id="rId82"/>
    <p:sldId id="438" r:id="rId83"/>
    <p:sldId id="407" r:id="rId84"/>
    <p:sldId id="439" r:id="rId85"/>
    <p:sldId id="410" r:id="rId86"/>
    <p:sldId id="412" r:id="rId87"/>
    <p:sldId id="405" r:id="rId8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0FB244-7EDA-4590-B202-9DA9F9166AC7}" v="34" dt="2026-01-28T12:50:15.7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94" autoAdjust="0"/>
    <p:restoredTop sz="94660"/>
  </p:normalViewPr>
  <p:slideViewPr>
    <p:cSldViewPr>
      <p:cViewPr varScale="1">
        <p:scale>
          <a:sx n="104" d="100"/>
          <a:sy n="104" d="100"/>
        </p:scale>
        <p:origin x="1296" y="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660E5EF-B99B-4B58-9AA7-338CBDCB76DF}" type="datetimeFigureOut">
              <a:rPr lang="en-IN" smtClean="0"/>
              <a:pPr/>
              <a:t>29-01-2026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2F2F5CC-A1CC-4A17-A5C6-1ED3E1DC7EAF}" type="slidenum">
              <a:rPr lang="en-IN" smtClean="0"/>
              <a:pPr/>
              <a:t>‹#›</a:t>
            </a:fld>
            <a:endParaRPr lang="en-IN"/>
          </a:p>
        </p:txBody>
      </p:sp>
    </p:spTree>
    <p:extLst>
      <p:ext uri="{BB962C8B-B14F-4D97-AF65-F5344CB8AC3E}">
        <p14:creationId xmlns:p14="http://schemas.microsoft.com/office/powerpoint/2010/main" val="35666171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1</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4298874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2</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7296693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3</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4298874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4</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6828120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5</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4298874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7</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6659745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8</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4298874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9</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2850500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10</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4298874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11</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6001695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12</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830470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13</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7482009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14</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4298874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15</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2958503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16</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4298874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17</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4298874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18</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4298874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19</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5129216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20</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4298874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21</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4298874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22</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9131816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24</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6709001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26</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6657864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27</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0096823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28</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6364777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44</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2368404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45</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4298874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46</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7452218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47</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42988740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48</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4298874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49</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42988740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50</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4298874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51</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42988740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52</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42988740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7884FEC4-CBFB-4CAD-B2CA-85631C7049F1}" type="slidenum">
              <a:rPr lang="en-IN" smtClean="0"/>
              <a:t>53</a:t>
            </a:fld>
            <a:endParaRPr lang="en-IN"/>
          </a:p>
        </p:txBody>
      </p:sp>
    </p:spTree>
    <p:extLst>
      <p:ext uri="{BB962C8B-B14F-4D97-AF65-F5344CB8AC3E}">
        <p14:creationId xmlns:p14="http://schemas.microsoft.com/office/powerpoint/2010/main" val="231969364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54</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3831806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55</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42988740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56</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42988740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57</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42988740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58</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07293875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59</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42988740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60</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42988740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61</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2293652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62</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42988740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63</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85825673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64</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42988740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65</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415097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66</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42988740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67</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05662843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68</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42988740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69</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36101196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70</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42988740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71</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46679774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72</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42988740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73</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27397840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74</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42988740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75</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42988740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76</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3118974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77</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42988740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78</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42988740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79</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42988740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80</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602472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81</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77302178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82</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71761506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83</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12023056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84</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54773622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85</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63185139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86</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29092544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F74A5C68-ED8B-4E71-BE3A-11C1E37CBBED}" type="slidenum">
              <a:rPr lang="en-US"/>
              <a:pPr/>
              <a:t>87</a:t>
            </a:fld>
            <a:endParaRPr lang="en-US"/>
          </a:p>
        </p:txBody>
      </p:sp>
      <p:sp>
        <p:nvSpPr>
          <p:cNvPr id="12291" name="Rectangle 2"/>
          <p:cNvSpPr>
            <a:spLocks noGrp="1" noRot="1" noChangeAspect="1" noChangeArrowheads="1" noTextEdit="1"/>
          </p:cNvSpPr>
          <p:nvPr>
            <p:ph type="sldImg"/>
          </p:nvPr>
        </p:nvSpPr>
        <p:spPr>
          <a:ln/>
        </p:spPr>
        <p:txBody>
          <a:bodyPr/>
          <a:lstStyle/>
          <a:p>
            <a:endParaRPr lang="en-IN"/>
          </a:p>
        </p:txBody>
      </p:sp>
      <p:sp>
        <p:nvSpPr>
          <p:cNvPr id="12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5111005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56C501F6-1E83-4D72-8FB4-912E87BBA984}" type="datetimeFigureOut">
              <a:rPr lang="en-IN" smtClean="0"/>
              <a:pPr/>
              <a:t>29-01-2026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AB9BE36-F3C7-4162-8E4E-A94BEFE5F265}"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6C501F6-1E83-4D72-8FB4-912E87BBA984}" type="datetimeFigureOut">
              <a:rPr lang="en-IN" smtClean="0"/>
              <a:pPr/>
              <a:t>29-01-2026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AB9BE36-F3C7-4162-8E4E-A94BEFE5F265}"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C501F6-1E83-4D72-8FB4-912E87BBA984}" type="datetimeFigureOut">
              <a:rPr lang="en-IN" smtClean="0"/>
              <a:pPr/>
              <a:t>29-01-2026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AB9BE36-F3C7-4162-8E4E-A94BEFE5F265}"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56C501F6-1E83-4D72-8FB4-912E87BBA984}" type="datetimeFigureOut">
              <a:rPr lang="en-IN" smtClean="0"/>
              <a:pPr/>
              <a:t>29-01-2026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AB9BE36-F3C7-4162-8E4E-A94BEFE5F265}"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56C501F6-1E83-4D72-8FB4-912E87BBA984}" type="datetimeFigureOut">
              <a:rPr lang="en-IN" smtClean="0"/>
              <a:pPr/>
              <a:t>29-01-2026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AB9BE36-F3C7-4162-8E4E-A94BEFE5F265}"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56C501F6-1E83-4D72-8FB4-912E87BBA984}" type="datetimeFigureOut">
              <a:rPr lang="en-IN" smtClean="0"/>
              <a:pPr/>
              <a:t>29-01-2026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AB9BE36-F3C7-4162-8E4E-A94BEFE5F265}"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C501F6-1E83-4D72-8FB4-912E87BBA984}" type="datetimeFigureOut">
              <a:rPr lang="en-IN" smtClean="0"/>
              <a:pPr/>
              <a:t>29-01-2026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AB9BE36-F3C7-4162-8E4E-A94BEFE5F265}"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6C501F6-1E83-4D72-8FB4-912E87BBA984}" type="datetimeFigureOut">
              <a:rPr lang="en-IN" smtClean="0"/>
              <a:pPr/>
              <a:t>29-01-2026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AB9BE36-F3C7-4162-8E4E-A94BEFE5F265}"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6C501F6-1E83-4D72-8FB4-912E87BBA984}" type="datetimeFigureOut">
              <a:rPr lang="en-IN" smtClean="0"/>
              <a:pPr/>
              <a:t>29-01-2026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AB9BE36-F3C7-4162-8E4E-A94BEFE5F265}"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6C501F6-1E83-4D72-8FB4-912E87BBA984}" type="datetimeFigureOut">
              <a:rPr lang="en-IN" smtClean="0"/>
              <a:pPr/>
              <a:t>29-01-2026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AB9BE36-F3C7-4162-8E4E-A94BEFE5F265}"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6C501F6-1E83-4D72-8FB4-912E87BBA984}" type="datetimeFigureOut">
              <a:rPr lang="en-IN" smtClean="0"/>
              <a:pPr/>
              <a:t>29-01-2026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AB9BE36-F3C7-4162-8E4E-A94BEFE5F265}"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C501F6-1E83-4D72-8FB4-912E87BBA984}" type="datetimeFigureOut">
              <a:rPr lang="en-IN" smtClean="0"/>
              <a:pPr/>
              <a:t>29-01-2026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B9BE36-F3C7-4162-8E4E-A94BEFE5F265}"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2.bin"/><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5.bin"/><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8.bin"/><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10.bin"/><Relationship Id="rId7" Type="http://schemas.openxmlformats.org/officeDocument/2006/relationships/oleObject" Target="../embeddings/oleObject12.bin"/><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11.bin"/><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13.bin"/><Relationship Id="rId7" Type="http://schemas.openxmlformats.org/officeDocument/2006/relationships/oleObject" Target="../embeddings/oleObject15.bin"/><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14.bin"/><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16.bin"/><Relationship Id="rId7" Type="http://schemas.openxmlformats.org/officeDocument/2006/relationships/oleObject" Target="../embeddings/oleObject18.bin"/><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17.bin"/><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19.bin"/><Relationship Id="rId7" Type="http://schemas.openxmlformats.org/officeDocument/2006/relationships/oleObject" Target="../embeddings/oleObject21.bin"/><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20.bin"/><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22.bin"/><Relationship Id="rId7" Type="http://schemas.openxmlformats.org/officeDocument/2006/relationships/oleObject" Target="../embeddings/oleObject24.bin"/><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23.bin"/><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25.bin"/><Relationship Id="rId7" Type="http://schemas.openxmlformats.org/officeDocument/2006/relationships/oleObject" Target="../embeddings/oleObject27.bin"/><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26.bin"/><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28.bin"/><Relationship Id="rId7" Type="http://schemas.openxmlformats.org/officeDocument/2006/relationships/oleObject" Target="../embeddings/oleObject30.bin"/><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29.bin"/><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31.bin"/><Relationship Id="rId7" Type="http://schemas.openxmlformats.org/officeDocument/2006/relationships/oleObject" Target="../embeddings/oleObject33.bin"/><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32.bin"/><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34.bin"/><Relationship Id="rId7" Type="http://schemas.openxmlformats.org/officeDocument/2006/relationships/oleObject" Target="../embeddings/oleObject36.bin"/><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35.bin"/><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37.bin"/><Relationship Id="rId7" Type="http://schemas.openxmlformats.org/officeDocument/2006/relationships/oleObject" Target="../embeddings/oleObject39.bin"/><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38.bin"/><Relationship Id="rId4" Type="http://schemas.openxmlformats.org/officeDocument/2006/relationships/image" Target="../media/image1.png"/><Relationship Id="rId9" Type="http://schemas.openxmlformats.org/officeDocument/2006/relationships/image" Target="../media/image4.jpeg"/></Relationships>
</file>

<file path=ppt/slides/_rels/slide15.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40.bin"/><Relationship Id="rId7" Type="http://schemas.openxmlformats.org/officeDocument/2006/relationships/oleObject" Target="../embeddings/oleObject42.bin"/><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41.bin"/><Relationship Id="rId4" Type="http://schemas.openxmlformats.org/officeDocument/2006/relationships/image" Target="../media/image1.png"/><Relationship Id="rId9" Type="http://schemas.openxmlformats.org/officeDocument/2006/relationships/image" Target="../media/image5.jpeg"/></Relationships>
</file>

<file path=ppt/slides/_rels/slide16.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43.bin"/><Relationship Id="rId7" Type="http://schemas.openxmlformats.org/officeDocument/2006/relationships/oleObject" Target="../embeddings/oleObject45.bin"/><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44.bin"/><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46.bin"/><Relationship Id="rId7" Type="http://schemas.openxmlformats.org/officeDocument/2006/relationships/oleObject" Target="../embeddings/oleObject48.bin"/><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47.bin"/><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49.bin"/><Relationship Id="rId7" Type="http://schemas.openxmlformats.org/officeDocument/2006/relationships/oleObject" Target="../embeddings/oleObject51.bin"/><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50.bin"/><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52.bin"/><Relationship Id="rId7" Type="http://schemas.openxmlformats.org/officeDocument/2006/relationships/oleObject" Target="../embeddings/oleObject54.bin"/><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53.bin"/><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55.bin"/><Relationship Id="rId7" Type="http://schemas.openxmlformats.org/officeDocument/2006/relationships/oleObject" Target="../embeddings/oleObject57.bin"/><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56.bin"/><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58.bin"/><Relationship Id="rId7" Type="http://schemas.openxmlformats.org/officeDocument/2006/relationships/oleObject" Target="../embeddings/oleObject60.bin"/><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59.bin"/><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61.bin"/><Relationship Id="rId7" Type="http://schemas.openxmlformats.org/officeDocument/2006/relationships/oleObject" Target="../embeddings/oleObject63.bin"/><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62.bin"/><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64.bin"/><Relationship Id="rId7" Type="http://schemas.openxmlformats.org/officeDocument/2006/relationships/oleObject" Target="../embeddings/oleObject66.bin"/><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65.bin"/><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67.bin"/><Relationship Id="rId7" Type="http://schemas.openxmlformats.org/officeDocument/2006/relationships/oleObject" Target="../embeddings/oleObject69.bin"/><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68.bin"/><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70.bin"/><Relationship Id="rId7" Type="http://schemas.openxmlformats.org/officeDocument/2006/relationships/oleObject" Target="../embeddings/oleObject72.bin"/><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71.bin"/><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73.bin"/><Relationship Id="rId7" Type="http://schemas.openxmlformats.org/officeDocument/2006/relationships/oleObject" Target="../embeddings/oleObject75.bin"/><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74.bin"/><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hyperlink" Target="https://youtu.be/_dANzaInfvA?si=QzC0SfYsTZ9JOz4M" TargetMode="External"/><Relationship Id="rId2" Type="http://schemas.openxmlformats.org/officeDocument/2006/relationships/hyperlink" Target="https://www.investopedia.com/ask/answers/121514/what-difference-between-pl-statement-and-balance-sheet.asp"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76.bin"/><Relationship Id="rId7" Type="http://schemas.openxmlformats.org/officeDocument/2006/relationships/oleObject" Target="../embeddings/oleObject78.bin"/><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77.bin"/><Relationship Id="rId4" Type="http://schemas.openxmlformats.org/officeDocument/2006/relationships/image" Target="../media/image1.png"/></Relationships>
</file>

<file path=ppt/slides/_rels/slide45.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79.bin"/><Relationship Id="rId7" Type="http://schemas.openxmlformats.org/officeDocument/2006/relationships/oleObject" Target="../embeddings/oleObject81.bin"/><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80.bin"/><Relationship Id="rId4" Type="http://schemas.openxmlformats.org/officeDocument/2006/relationships/image" Target="../media/image1.png"/></Relationships>
</file>

<file path=ppt/slides/_rels/slide46.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82.bin"/><Relationship Id="rId7" Type="http://schemas.openxmlformats.org/officeDocument/2006/relationships/oleObject" Target="../embeddings/oleObject84.bin"/><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83.bin"/><Relationship Id="rId4" Type="http://schemas.openxmlformats.org/officeDocument/2006/relationships/image" Target="../media/image1.png"/></Relationships>
</file>

<file path=ppt/slides/_rels/slide47.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85.bin"/><Relationship Id="rId7" Type="http://schemas.openxmlformats.org/officeDocument/2006/relationships/oleObject" Target="../embeddings/oleObject87.bin"/><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86.bin"/><Relationship Id="rId4" Type="http://schemas.openxmlformats.org/officeDocument/2006/relationships/image" Target="../media/image1.png"/></Relationships>
</file>

<file path=ppt/slides/_rels/slide48.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88.bin"/><Relationship Id="rId7" Type="http://schemas.openxmlformats.org/officeDocument/2006/relationships/oleObject" Target="../embeddings/oleObject90.bin"/><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89.bin"/><Relationship Id="rId4" Type="http://schemas.openxmlformats.org/officeDocument/2006/relationships/image" Target="../media/image1.png"/></Relationships>
</file>

<file path=ppt/slides/_rels/slide49.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91.bin"/><Relationship Id="rId7" Type="http://schemas.openxmlformats.org/officeDocument/2006/relationships/oleObject" Target="../embeddings/oleObject93.bin"/><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92.bin"/><Relationship Id="rId4" Type="http://schemas.openxmlformats.org/officeDocument/2006/relationships/image" Target="../media/image1.png"/></Relationships>
</file>

<file path=ppt/slides/_rels/slide50.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94.bin"/><Relationship Id="rId7" Type="http://schemas.openxmlformats.org/officeDocument/2006/relationships/oleObject" Target="../embeddings/oleObject96.bin"/><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95.bin"/><Relationship Id="rId4" Type="http://schemas.openxmlformats.org/officeDocument/2006/relationships/image" Target="../media/image1.png"/></Relationships>
</file>

<file path=ppt/slides/_rels/slide51.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97.bin"/><Relationship Id="rId7" Type="http://schemas.openxmlformats.org/officeDocument/2006/relationships/oleObject" Target="../embeddings/oleObject99.bin"/><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98.bin"/><Relationship Id="rId4" Type="http://schemas.openxmlformats.org/officeDocument/2006/relationships/image" Target="../media/image1.png"/></Relationships>
</file>

<file path=ppt/slides/_rels/slide52.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100.bin"/><Relationship Id="rId7" Type="http://schemas.openxmlformats.org/officeDocument/2006/relationships/oleObject" Target="../embeddings/oleObject102.bin"/><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101.bin"/><Relationship Id="rId4" Type="http://schemas.openxmlformats.org/officeDocument/2006/relationships/image" Target="../media/image1.png"/></Relationships>
</file>

<file path=ppt/slides/_rels/slide53.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103.bin"/><Relationship Id="rId7" Type="http://schemas.openxmlformats.org/officeDocument/2006/relationships/oleObject" Target="../embeddings/oleObject105.bin"/><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104.bin"/><Relationship Id="rId4" Type="http://schemas.openxmlformats.org/officeDocument/2006/relationships/image" Target="../media/image1.png"/></Relationships>
</file>

<file path=ppt/slides/_rels/slide55.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106.bin"/><Relationship Id="rId7" Type="http://schemas.openxmlformats.org/officeDocument/2006/relationships/oleObject" Target="../embeddings/oleObject108.bin"/><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107.bin"/><Relationship Id="rId4" Type="http://schemas.openxmlformats.org/officeDocument/2006/relationships/image" Target="../media/image1.png"/></Relationships>
</file>

<file path=ppt/slides/_rels/slide56.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109.bin"/><Relationship Id="rId7" Type="http://schemas.openxmlformats.org/officeDocument/2006/relationships/oleObject" Target="../embeddings/oleObject111.bin"/><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110.bin"/><Relationship Id="rId4" Type="http://schemas.openxmlformats.org/officeDocument/2006/relationships/image" Target="../media/image1.png"/></Relationships>
</file>

<file path=ppt/slides/_rels/slide57.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112.bin"/><Relationship Id="rId7" Type="http://schemas.openxmlformats.org/officeDocument/2006/relationships/oleObject" Target="../embeddings/oleObject114.bin"/><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113.bin"/><Relationship Id="rId4" Type="http://schemas.openxmlformats.org/officeDocument/2006/relationships/image" Target="../media/image1.png"/></Relationships>
</file>

<file path=ppt/slides/_rels/slide58.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115.bin"/><Relationship Id="rId7" Type="http://schemas.openxmlformats.org/officeDocument/2006/relationships/oleObject" Target="../embeddings/oleObject117.bin"/><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116.bin"/><Relationship Id="rId4" Type="http://schemas.openxmlformats.org/officeDocument/2006/relationships/image" Target="../media/image1.png"/></Relationships>
</file>

<file path=ppt/slides/_rels/slide59.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118.bin"/><Relationship Id="rId7" Type="http://schemas.openxmlformats.org/officeDocument/2006/relationships/oleObject" Target="../embeddings/oleObject120.bin"/><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119.bin"/><Relationship Id="rId4" Type="http://schemas.openxmlformats.org/officeDocument/2006/relationships/image" Target="../media/image1.png"/></Relationships>
</file>

<file path=ppt/slides/_rels/slide60.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121.bin"/><Relationship Id="rId7" Type="http://schemas.openxmlformats.org/officeDocument/2006/relationships/oleObject" Target="../embeddings/oleObject123.bin"/><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122.bin"/><Relationship Id="rId4" Type="http://schemas.openxmlformats.org/officeDocument/2006/relationships/image" Target="../media/image1.png"/></Relationships>
</file>

<file path=ppt/slides/_rels/slide61.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124.bin"/><Relationship Id="rId7" Type="http://schemas.openxmlformats.org/officeDocument/2006/relationships/oleObject" Target="../embeddings/oleObject126.bin"/><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125.bin"/><Relationship Id="rId4" Type="http://schemas.openxmlformats.org/officeDocument/2006/relationships/image" Target="../media/image1.png"/></Relationships>
</file>

<file path=ppt/slides/_rels/slide62.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127.bin"/><Relationship Id="rId7" Type="http://schemas.openxmlformats.org/officeDocument/2006/relationships/oleObject" Target="../embeddings/oleObject129.bin"/><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128.bin"/><Relationship Id="rId4" Type="http://schemas.openxmlformats.org/officeDocument/2006/relationships/image" Target="../media/image1.png"/></Relationships>
</file>

<file path=ppt/slides/_rels/slide63.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130.bin"/><Relationship Id="rId7" Type="http://schemas.openxmlformats.org/officeDocument/2006/relationships/oleObject" Target="../embeddings/oleObject132.bin"/><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131.bin"/><Relationship Id="rId4" Type="http://schemas.openxmlformats.org/officeDocument/2006/relationships/image" Target="../media/image1.png"/></Relationships>
</file>

<file path=ppt/slides/_rels/slide64.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133.bin"/><Relationship Id="rId7" Type="http://schemas.openxmlformats.org/officeDocument/2006/relationships/oleObject" Target="../embeddings/oleObject135.bin"/><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134.bin"/><Relationship Id="rId4" Type="http://schemas.openxmlformats.org/officeDocument/2006/relationships/image" Target="../media/image1.png"/></Relationships>
</file>

<file path=ppt/slides/_rels/slide65.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136.bin"/><Relationship Id="rId7" Type="http://schemas.openxmlformats.org/officeDocument/2006/relationships/oleObject" Target="../embeddings/oleObject138.bin"/><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137.bin"/><Relationship Id="rId4" Type="http://schemas.openxmlformats.org/officeDocument/2006/relationships/image" Target="../media/image1.png"/></Relationships>
</file>

<file path=ppt/slides/_rels/slide66.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139.bin"/><Relationship Id="rId7" Type="http://schemas.openxmlformats.org/officeDocument/2006/relationships/oleObject" Target="../embeddings/oleObject141.bin"/><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140.bin"/><Relationship Id="rId4" Type="http://schemas.openxmlformats.org/officeDocument/2006/relationships/image" Target="../media/image1.png"/></Relationships>
</file>

<file path=ppt/slides/_rels/slide67.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142.bin"/><Relationship Id="rId7" Type="http://schemas.openxmlformats.org/officeDocument/2006/relationships/oleObject" Target="../embeddings/oleObject144.bin"/><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143.bin"/><Relationship Id="rId4" Type="http://schemas.openxmlformats.org/officeDocument/2006/relationships/image" Target="../media/image1.png"/></Relationships>
</file>

<file path=ppt/slides/_rels/slide68.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145.bin"/><Relationship Id="rId7" Type="http://schemas.openxmlformats.org/officeDocument/2006/relationships/oleObject" Target="../embeddings/oleObject147.bin"/><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146.bin"/><Relationship Id="rId4" Type="http://schemas.openxmlformats.org/officeDocument/2006/relationships/image" Target="../media/image1.png"/></Relationships>
</file>

<file path=ppt/slides/_rels/slide69.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148.bin"/><Relationship Id="rId7" Type="http://schemas.openxmlformats.org/officeDocument/2006/relationships/oleObject" Target="../embeddings/oleObject150.bin"/><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149.bin"/><Relationship Id="rId4" Type="http://schemas.openxmlformats.org/officeDocument/2006/relationships/image" Target="../media/image1.png"/></Relationships>
</file>

<file path=ppt/slides/_rels/slide70.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151.bin"/><Relationship Id="rId7" Type="http://schemas.openxmlformats.org/officeDocument/2006/relationships/oleObject" Target="../embeddings/oleObject153.bin"/><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152.bin"/><Relationship Id="rId4" Type="http://schemas.openxmlformats.org/officeDocument/2006/relationships/image" Target="../media/image1.png"/></Relationships>
</file>

<file path=ppt/slides/_rels/slide71.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154.bin"/><Relationship Id="rId7" Type="http://schemas.openxmlformats.org/officeDocument/2006/relationships/oleObject" Target="../embeddings/oleObject156.bin"/><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155.bin"/><Relationship Id="rId4" Type="http://schemas.openxmlformats.org/officeDocument/2006/relationships/image" Target="../media/image1.png"/></Relationships>
</file>

<file path=ppt/slides/_rels/slide72.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157.bin"/><Relationship Id="rId7" Type="http://schemas.openxmlformats.org/officeDocument/2006/relationships/oleObject" Target="../embeddings/oleObject159.bin"/><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158.bin"/><Relationship Id="rId4" Type="http://schemas.openxmlformats.org/officeDocument/2006/relationships/image" Target="../media/image1.png"/></Relationships>
</file>

<file path=ppt/slides/_rels/slide73.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160.bin"/><Relationship Id="rId7" Type="http://schemas.openxmlformats.org/officeDocument/2006/relationships/oleObject" Target="../embeddings/oleObject162.bin"/><Relationship Id="rId2" Type="http://schemas.openxmlformats.org/officeDocument/2006/relationships/notesSlide" Target="../notesSlides/notesSlide55.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161.bin"/><Relationship Id="rId4" Type="http://schemas.openxmlformats.org/officeDocument/2006/relationships/image" Target="../media/image1.png"/></Relationships>
</file>

<file path=ppt/slides/_rels/slide74.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163.bin"/><Relationship Id="rId7" Type="http://schemas.openxmlformats.org/officeDocument/2006/relationships/oleObject" Target="../embeddings/oleObject165.bin"/><Relationship Id="rId2" Type="http://schemas.openxmlformats.org/officeDocument/2006/relationships/notesSlide" Target="../notesSlides/notesSlide56.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164.bin"/><Relationship Id="rId4" Type="http://schemas.openxmlformats.org/officeDocument/2006/relationships/image" Target="../media/image1.png"/></Relationships>
</file>

<file path=ppt/slides/_rels/slide75.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166.bin"/><Relationship Id="rId7" Type="http://schemas.openxmlformats.org/officeDocument/2006/relationships/oleObject" Target="../embeddings/oleObject168.bin"/><Relationship Id="rId2" Type="http://schemas.openxmlformats.org/officeDocument/2006/relationships/notesSlide" Target="../notesSlides/notesSlide57.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167.bin"/><Relationship Id="rId4" Type="http://schemas.openxmlformats.org/officeDocument/2006/relationships/image" Target="../media/image1.png"/></Relationships>
</file>

<file path=ppt/slides/_rels/slide76.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169.bin"/><Relationship Id="rId7" Type="http://schemas.openxmlformats.org/officeDocument/2006/relationships/oleObject" Target="../embeddings/oleObject171.bin"/><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170.bin"/><Relationship Id="rId4" Type="http://schemas.openxmlformats.org/officeDocument/2006/relationships/image" Target="../media/image1.png"/></Relationships>
</file>

<file path=ppt/slides/_rels/slide77.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172.bin"/><Relationship Id="rId7" Type="http://schemas.openxmlformats.org/officeDocument/2006/relationships/oleObject" Target="../embeddings/oleObject174.bin"/><Relationship Id="rId2" Type="http://schemas.openxmlformats.org/officeDocument/2006/relationships/notesSlide" Target="../notesSlides/notesSlide59.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173.bin"/><Relationship Id="rId4" Type="http://schemas.openxmlformats.org/officeDocument/2006/relationships/image" Target="../media/image1.png"/></Relationships>
</file>

<file path=ppt/slides/_rels/slide78.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175.bin"/><Relationship Id="rId7" Type="http://schemas.openxmlformats.org/officeDocument/2006/relationships/oleObject" Target="../embeddings/oleObject177.bin"/><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176.bin"/><Relationship Id="rId4" Type="http://schemas.openxmlformats.org/officeDocument/2006/relationships/image" Target="../media/image1.png"/></Relationships>
</file>

<file path=ppt/slides/_rels/slide79.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178.bin"/><Relationship Id="rId7" Type="http://schemas.openxmlformats.org/officeDocument/2006/relationships/oleObject" Target="../embeddings/oleObject180.bin"/><Relationship Id="rId2" Type="http://schemas.openxmlformats.org/officeDocument/2006/relationships/notesSlide" Target="../notesSlides/notesSlide61.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179.bin"/><Relationship Id="rId4" Type="http://schemas.openxmlformats.org/officeDocument/2006/relationships/image" Target="../media/image1.png"/></Relationships>
</file>

<file path=ppt/slides/_rels/slide80.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181.bin"/><Relationship Id="rId7" Type="http://schemas.openxmlformats.org/officeDocument/2006/relationships/oleObject" Target="../embeddings/oleObject183.bin"/><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182.bin"/><Relationship Id="rId4" Type="http://schemas.openxmlformats.org/officeDocument/2006/relationships/image" Target="../media/image1.png"/></Relationships>
</file>

<file path=ppt/slides/_rels/slide81.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184.bin"/><Relationship Id="rId7" Type="http://schemas.openxmlformats.org/officeDocument/2006/relationships/oleObject" Target="../embeddings/oleObject186.bin"/><Relationship Id="rId2" Type="http://schemas.openxmlformats.org/officeDocument/2006/relationships/notesSlide" Target="../notesSlides/notesSlide63.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185.bin"/><Relationship Id="rId4" Type="http://schemas.openxmlformats.org/officeDocument/2006/relationships/image" Target="../media/image1.png"/></Relationships>
</file>

<file path=ppt/slides/_rels/slide82.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187.bin"/><Relationship Id="rId7" Type="http://schemas.openxmlformats.org/officeDocument/2006/relationships/oleObject" Target="../embeddings/oleObject189.bin"/><Relationship Id="rId2" Type="http://schemas.openxmlformats.org/officeDocument/2006/relationships/notesSlide" Target="../notesSlides/notesSlide64.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188.bin"/><Relationship Id="rId4" Type="http://schemas.openxmlformats.org/officeDocument/2006/relationships/image" Target="../media/image1.png"/></Relationships>
</file>

<file path=ppt/slides/_rels/slide83.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190.bin"/><Relationship Id="rId7" Type="http://schemas.openxmlformats.org/officeDocument/2006/relationships/oleObject" Target="../embeddings/oleObject192.bin"/><Relationship Id="rId2" Type="http://schemas.openxmlformats.org/officeDocument/2006/relationships/notesSlide" Target="../notesSlides/notesSlide65.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191.bin"/><Relationship Id="rId4" Type="http://schemas.openxmlformats.org/officeDocument/2006/relationships/image" Target="../media/image1.png"/></Relationships>
</file>

<file path=ppt/slides/_rels/slide84.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193.bin"/><Relationship Id="rId7" Type="http://schemas.openxmlformats.org/officeDocument/2006/relationships/oleObject" Target="../embeddings/oleObject195.bin"/><Relationship Id="rId2" Type="http://schemas.openxmlformats.org/officeDocument/2006/relationships/notesSlide" Target="../notesSlides/notesSlide66.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194.bin"/><Relationship Id="rId4" Type="http://schemas.openxmlformats.org/officeDocument/2006/relationships/image" Target="../media/image1.png"/></Relationships>
</file>

<file path=ppt/slides/_rels/slide85.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196.bin"/><Relationship Id="rId7" Type="http://schemas.openxmlformats.org/officeDocument/2006/relationships/oleObject" Target="../embeddings/oleObject198.bin"/><Relationship Id="rId2" Type="http://schemas.openxmlformats.org/officeDocument/2006/relationships/notesSlide" Target="../notesSlides/notesSlide67.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197.bin"/><Relationship Id="rId4" Type="http://schemas.openxmlformats.org/officeDocument/2006/relationships/image" Target="../media/image1.png"/></Relationships>
</file>

<file path=ppt/slides/_rels/slide86.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199.bin"/><Relationship Id="rId7" Type="http://schemas.openxmlformats.org/officeDocument/2006/relationships/oleObject" Target="../embeddings/oleObject201.bin"/><Relationship Id="rId2" Type="http://schemas.openxmlformats.org/officeDocument/2006/relationships/notesSlide" Target="../notesSlides/notesSlide68.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200.bin"/><Relationship Id="rId4" Type="http://schemas.openxmlformats.org/officeDocument/2006/relationships/image" Target="../media/image1.png"/></Relationships>
</file>

<file path=ppt/slides/_rels/slide87.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oleObject" Target="../embeddings/oleObject202.bin"/><Relationship Id="rId7" Type="http://schemas.openxmlformats.org/officeDocument/2006/relationships/oleObject" Target="../embeddings/oleObject204.bin"/><Relationship Id="rId2" Type="http://schemas.openxmlformats.org/officeDocument/2006/relationships/notesSlide" Target="../notesSlides/notesSlide69.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oleObject" Target="../embeddings/oleObject203.bin"/><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39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3928"/>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392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endParaRPr lang="en-US" sz="2800" b="1" dirty="0">
              <a:solidFill>
                <a:schemeClr val="bg1"/>
              </a:solidFill>
              <a:latin typeface="Calibri" pitchFamily="34" charset="0"/>
            </a:endParaRP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pPr marL="0" lvl="0" indent="0">
              <a:buNone/>
            </a:pPr>
            <a:endParaRPr lang="en-US" sz="2000" b="1" dirty="0"/>
          </a:p>
          <a:p>
            <a:pPr marL="0" lvl="0" indent="0">
              <a:buNone/>
            </a:pPr>
            <a:endParaRPr lang="en-US" sz="2000" b="1" dirty="0"/>
          </a:p>
          <a:p>
            <a:pPr marL="0" indent="0" algn="ctr">
              <a:buNone/>
            </a:pPr>
            <a:r>
              <a:rPr lang="en-US" sz="6000" b="1" dirty="0"/>
              <a:t>INDUSTRIAL MANAGEMENT PART 2</a:t>
            </a:r>
            <a:endParaRPr lang="en-IN" sz="6000"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58079406"/>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15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1533"/>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153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endParaRPr lang="en-US" sz="2800" b="1" dirty="0">
              <a:solidFill>
                <a:schemeClr val="bg1"/>
              </a:solidFill>
              <a:latin typeface="Calibri" pitchFamily="34" charset="0"/>
            </a:endParaRP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r>
              <a:rPr lang="en-US" b="1" dirty="0"/>
              <a:t>ORGANISATION.</a:t>
            </a:r>
          </a:p>
          <a:p>
            <a:endParaRPr lang="en-US" b="1" dirty="0"/>
          </a:p>
          <a:p>
            <a:endParaRPr lang="en-US" b="1" dirty="0"/>
          </a:p>
          <a:p>
            <a:r>
              <a:rPr lang="en-US" b="1" dirty="0"/>
              <a:t>SOCIAL UNIT OF PEOPLE SYSTEMATICALLY ARRANGED AND MANAGED TO PURSUE COLLECTIVE GOALS ON CONTUNUING BASIS.</a:t>
            </a: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473342336"/>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15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153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153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solidFill>
                  <a:schemeClr val="bg1"/>
                </a:solidFill>
                <a:latin typeface="Calibri" pitchFamily="34" charset="0"/>
              </a:rPr>
              <a:t>STRUCTRE</a:t>
            </a: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fontScale="92500" lnSpcReduction="10000"/>
          </a:bodyPr>
          <a:lstStyle/>
          <a:p>
            <a:pPr lvl="0"/>
            <a:r>
              <a:rPr lang="en-US" b="1" u="sng" dirty="0"/>
              <a:t>MECHANISTIC</a:t>
            </a:r>
          </a:p>
          <a:p>
            <a:pPr lvl="0"/>
            <a:endParaRPr lang="en-US" b="1" u="sng" dirty="0"/>
          </a:p>
          <a:p>
            <a:pPr lvl="0"/>
            <a:r>
              <a:rPr lang="en-US" b="1" u="sng" dirty="0"/>
              <a:t>ORGANIC</a:t>
            </a:r>
          </a:p>
          <a:p>
            <a:pPr lvl="0"/>
            <a:endParaRPr lang="en-US" sz="2000" b="1" u="sng" dirty="0"/>
          </a:p>
          <a:p>
            <a:pPr marL="0" lvl="0" indent="0" algn="ctr">
              <a:buNone/>
            </a:pPr>
            <a:r>
              <a:rPr lang="en-US" sz="2800" dirty="0"/>
              <a:t>The structure defines position and </a:t>
            </a:r>
            <a:r>
              <a:rPr lang="en-US" sz="2800" dirty="0" err="1"/>
              <a:t>function.The</a:t>
            </a:r>
            <a:r>
              <a:rPr lang="en-US" sz="2800" dirty="0"/>
              <a:t> optimum structure depends on Political, </a:t>
            </a:r>
            <a:r>
              <a:rPr lang="en-US" sz="2800" dirty="0" err="1"/>
              <a:t>Demogrphic,Sociocultural</a:t>
            </a:r>
            <a:r>
              <a:rPr lang="en-US" sz="2800" dirty="0"/>
              <a:t> , </a:t>
            </a:r>
            <a:r>
              <a:rPr lang="en-US" sz="2800" dirty="0" err="1"/>
              <a:t>Economic,Technological,AND</a:t>
            </a:r>
            <a:r>
              <a:rPr lang="en-US" sz="2800" dirty="0"/>
              <a:t> Legal factors. </a:t>
            </a:r>
          </a:p>
          <a:p>
            <a:pPr marL="0" lvl="0" indent="0" algn="ctr">
              <a:buNone/>
            </a:pPr>
            <a:endParaRPr lang="en-US" sz="2800" dirty="0"/>
          </a:p>
          <a:p>
            <a:pPr marL="0" lvl="0" indent="0" algn="ctr">
              <a:buNone/>
            </a:pPr>
            <a:endParaRPr lang="en-US" sz="2800" dirty="0"/>
          </a:p>
          <a:p>
            <a:pPr marL="0" lvl="0" indent="0" algn="ctr">
              <a:buNone/>
            </a:pPr>
            <a:r>
              <a:rPr lang="en-US" sz="2800" dirty="0"/>
              <a:t> </a:t>
            </a:r>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5807940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5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53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532"/>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25338" y="656431"/>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solidFill>
                  <a:schemeClr val="bg1"/>
                </a:solidFill>
                <a:latin typeface="Calibri" pitchFamily="34" charset="0"/>
              </a:rPr>
              <a:t>MECHANISTIC AND ORGANIC </a:t>
            </a: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pPr lvl="0"/>
            <a:r>
              <a:rPr lang="en-US" b="1" u="sng" dirty="0"/>
              <a:t>RIGID, WELL DEFINED,BEUROCRATIC,MULTI LEVEL,PYRAMID,LEAST INTERACTIVE AMONG PEERS.</a:t>
            </a:r>
          </a:p>
          <a:p>
            <a:pPr lvl="0"/>
            <a:endParaRPr lang="en-US" b="1" u="sng" dirty="0"/>
          </a:p>
          <a:p>
            <a:pPr lvl="0"/>
            <a:r>
              <a:rPr lang="en-US" b="1" u="sng"/>
              <a:t>FLEXIBLE, FLAT,INTERACTIVE,MINIMUM DOCUMENTATION,MULTIPLE ROLES,DECENTRALIZED DECISION MAKING.</a:t>
            </a:r>
            <a:endParaRPr lang="en-US" b="1" u="sng" dirty="0"/>
          </a:p>
          <a:p>
            <a:pPr lvl="0"/>
            <a:endParaRPr lang="en-US" b="1" u="sng" dirty="0"/>
          </a:p>
          <a:p>
            <a:pPr lvl="0"/>
            <a:endParaRPr lang="en-US" b="1" u="sng" dirty="0"/>
          </a:p>
          <a:p>
            <a:pPr lvl="0"/>
            <a:endParaRPr lang="en-US" sz="2000" b="1" dirty="0"/>
          </a:p>
          <a:p>
            <a:pPr lvl="0"/>
            <a:endParaRPr lang="en-US" sz="2000" b="1" dirty="0"/>
          </a:p>
          <a:p>
            <a:pPr marL="0" lvl="0" indent="0" algn="ctr">
              <a:buNone/>
            </a:pPr>
            <a:endParaRPr lang="en-US" sz="2800"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091923187"/>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15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153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153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solidFill>
                  <a:schemeClr val="bg1"/>
                </a:solidFill>
                <a:latin typeface="Calibri" pitchFamily="34" charset="0"/>
              </a:rPr>
              <a:t>GREINERS MODEL </a:t>
            </a: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pPr lvl="0"/>
            <a:r>
              <a:rPr lang="en-US" sz="3000" b="1" u="sng" dirty="0"/>
              <a:t>ASSUMPTIONS</a:t>
            </a:r>
          </a:p>
          <a:p>
            <a:pPr lvl="0"/>
            <a:endParaRPr lang="en-US" sz="3000" b="1" u="sng" dirty="0"/>
          </a:p>
          <a:p>
            <a:pPr lvl="0"/>
            <a:endParaRPr lang="en-US" sz="3000" b="1" u="sng" dirty="0"/>
          </a:p>
          <a:p>
            <a:pPr marL="457200" lvl="0" indent="-457200">
              <a:buAutoNum type="alphaLcParenR"/>
            </a:pPr>
            <a:r>
              <a:rPr lang="en-US" sz="2400" dirty="0"/>
              <a:t>GROWTH</a:t>
            </a:r>
          </a:p>
          <a:p>
            <a:pPr marL="457200" lvl="0" indent="-457200">
              <a:buAutoNum type="alphaLcParenR"/>
            </a:pPr>
            <a:r>
              <a:rPr lang="en-US" sz="2400" dirty="0"/>
              <a:t>MANAGEMENT STYLE</a:t>
            </a:r>
          </a:p>
          <a:p>
            <a:pPr marL="457200" lvl="0" indent="-457200">
              <a:buAutoNum type="alphaLcParenR"/>
            </a:pPr>
            <a:r>
              <a:rPr lang="en-US" sz="2400" dirty="0"/>
              <a:t>STRUCTURE</a:t>
            </a:r>
          </a:p>
          <a:p>
            <a:pPr marL="457200" lvl="0" indent="-457200">
              <a:buAutoNum type="alphaLcParenR"/>
            </a:pPr>
            <a:r>
              <a:rPr lang="en-US" sz="2400" dirty="0"/>
              <a:t>COORDINATION</a:t>
            </a:r>
          </a:p>
          <a:p>
            <a:pPr marL="457200" lvl="0" indent="-457200">
              <a:buAutoNum type="alphaLcParenR"/>
            </a:pPr>
            <a:endParaRPr lang="en-US" sz="2400" dirty="0"/>
          </a:p>
          <a:p>
            <a:pPr marL="457200" lvl="0" indent="-457200">
              <a:buAutoNum type="alphaLcParenR"/>
            </a:pPr>
            <a:endParaRPr lang="en-US" sz="2400" dirty="0"/>
          </a:p>
          <a:p>
            <a:pPr marL="457200" lvl="0" indent="-457200">
              <a:buAutoNum type="alphaLcParenR"/>
            </a:pPr>
            <a:endParaRPr lang="en-US" sz="2400" dirty="0"/>
          </a:p>
          <a:p>
            <a:pPr marL="457200" lvl="0" indent="-457200">
              <a:buAutoNum type="alphaLcParenR"/>
            </a:pPr>
            <a:endParaRPr lang="en-US" sz="2400" dirty="0"/>
          </a:p>
          <a:p>
            <a:pPr marL="457200" lvl="0" indent="-457200">
              <a:buAutoNum type="alphaLcParenR"/>
            </a:pPr>
            <a:endParaRPr lang="en-US" sz="2400" dirty="0"/>
          </a:p>
          <a:p>
            <a:pPr marL="0" lv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58079406"/>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5D7E8-537D-4AE0-8B73-076C2471E40F}"/>
              </a:ext>
            </a:extLst>
          </p:cNvPr>
          <p:cNvSpPr>
            <a:spLocks noGrp="1"/>
          </p:cNvSpPr>
          <p:nvPr>
            <p:ph type="title"/>
          </p:nvPr>
        </p:nvSpPr>
        <p:spPr/>
        <p:txBody>
          <a:bodyPr/>
          <a:lstStyle/>
          <a:p>
            <a:r>
              <a:rPr lang="en-IN" dirty="0"/>
              <a:t>TYPES OF SFTRUCTURES</a:t>
            </a:r>
          </a:p>
        </p:txBody>
      </p:sp>
      <p:sp>
        <p:nvSpPr>
          <p:cNvPr id="3" name="Content Placeholder 2">
            <a:extLst>
              <a:ext uri="{FF2B5EF4-FFF2-40B4-BE49-F238E27FC236}">
                <a16:creationId xmlns:a16="http://schemas.microsoft.com/office/drawing/2014/main" id="{E56E2B7D-5628-43C9-BA60-049ED8C0D453}"/>
              </a:ext>
            </a:extLst>
          </p:cNvPr>
          <p:cNvSpPr>
            <a:spLocks noGrp="1"/>
          </p:cNvSpPr>
          <p:nvPr>
            <p:ph idx="1"/>
          </p:nvPr>
        </p:nvSpPr>
        <p:spPr/>
        <p:txBody>
          <a:bodyPr>
            <a:normAutofit lnSpcReduction="10000"/>
          </a:bodyPr>
          <a:lstStyle/>
          <a:p>
            <a:r>
              <a:rPr lang="en-IN" dirty="0"/>
              <a:t>FUNCTIONAL     Manufacturing firms</a:t>
            </a:r>
          </a:p>
          <a:p>
            <a:r>
              <a:rPr lang="en-IN" dirty="0"/>
              <a:t>DIVISIONAL        Multiple markets</a:t>
            </a:r>
          </a:p>
          <a:p>
            <a:r>
              <a:rPr lang="en-IN" dirty="0"/>
              <a:t>MATRIX               Project Based Companies</a:t>
            </a:r>
          </a:p>
          <a:p>
            <a:r>
              <a:rPr lang="en-IN" dirty="0"/>
              <a:t>TEAM BASED      Flexibility Innovation</a:t>
            </a:r>
          </a:p>
          <a:p>
            <a:r>
              <a:rPr lang="en-IN" dirty="0"/>
              <a:t>NETWORK           Outsourcing Companies</a:t>
            </a:r>
          </a:p>
          <a:p>
            <a:r>
              <a:rPr lang="en-IN" dirty="0"/>
              <a:t>HIERARCHIAL      Traditional Stable</a:t>
            </a:r>
          </a:p>
          <a:p>
            <a:r>
              <a:rPr lang="en-IN" dirty="0"/>
              <a:t>FLAT                      Faster </a:t>
            </a:r>
            <a:r>
              <a:rPr lang="en-IN"/>
              <a:t>Decisions Collaborative</a:t>
            </a:r>
            <a:endParaRPr lang="en-IN" dirty="0"/>
          </a:p>
        </p:txBody>
      </p:sp>
    </p:spTree>
    <p:extLst>
      <p:ext uri="{BB962C8B-B14F-4D97-AF65-F5344CB8AC3E}">
        <p14:creationId xmlns:p14="http://schemas.microsoft.com/office/powerpoint/2010/main" val="30441606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44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450"/>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45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solidFill>
                  <a:schemeClr val="bg1"/>
                </a:solidFill>
                <a:latin typeface="Calibri" pitchFamily="34" charset="0"/>
              </a:rPr>
              <a:t>PHASES OF GROWTH</a:t>
            </a: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pPr marL="0" lvl="0" indent="0" algn="just">
              <a:buNone/>
            </a:pPr>
            <a:r>
              <a:rPr lang="en-US" sz="2000" dirty="0"/>
              <a:t>GROWTH THROUGH CREATIVITY                                    LEADERSHIP CRISIS</a:t>
            </a:r>
          </a:p>
          <a:p>
            <a:pPr marL="0" lvl="0" indent="0" algn="just">
              <a:buNone/>
            </a:pPr>
            <a:endParaRPr lang="en-US" sz="2000" dirty="0"/>
          </a:p>
          <a:p>
            <a:pPr marL="0" lvl="0" indent="0" algn="just">
              <a:buNone/>
            </a:pPr>
            <a:r>
              <a:rPr lang="en-US" sz="2000" dirty="0"/>
              <a:t>GROWTH THROUGH DIRECTION                                    AUTONOMY CRISIS</a:t>
            </a:r>
          </a:p>
          <a:p>
            <a:pPr marL="0" lvl="0" indent="0" algn="just">
              <a:buNone/>
            </a:pPr>
            <a:endParaRPr lang="en-US" sz="2000" dirty="0"/>
          </a:p>
          <a:p>
            <a:pPr marL="0" lvl="0" indent="0" algn="just">
              <a:buNone/>
            </a:pPr>
            <a:r>
              <a:rPr lang="en-US" sz="2000" dirty="0"/>
              <a:t>GROWTH THROUGH DELEGATION                                  CONTROL CRISIS</a:t>
            </a:r>
          </a:p>
          <a:p>
            <a:pPr marL="0" lvl="0" indent="0" algn="just">
              <a:buNone/>
            </a:pPr>
            <a:endParaRPr lang="en-US" sz="2000" dirty="0"/>
          </a:p>
          <a:p>
            <a:pPr marL="0" lvl="0" indent="0" algn="just">
              <a:buNone/>
            </a:pPr>
            <a:r>
              <a:rPr lang="en-US" sz="2000" dirty="0"/>
              <a:t>GROWTH THROUGH COORDINATION                           RED TAPE CRISIS</a:t>
            </a:r>
          </a:p>
          <a:p>
            <a:pPr marL="0" lvl="0" indent="0" algn="just">
              <a:buNone/>
            </a:pPr>
            <a:endParaRPr lang="en-US" sz="2000" dirty="0"/>
          </a:p>
          <a:p>
            <a:pPr marL="0" lvl="0" indent="0" algn="just">
              <a:buNone/>
            </a:pPr>
            <a:r>
              <a:rPr lang="en-US" sz="2000" dirty="0"/>
              <a:t>GROWTH THROUGH COLLABORATION         INTERNAL GROWTH CRISIS</a:t>
            </a:r>
          </a:p>
          <a:p>
            <a:pPr marL="0" lvl="0" indent="0" algn="just">
              <a:buNone/>
            </a:pPr>
            <a:endParaRPr lang="en-US" sz="2000" dirty="0"/>
          </a:p>
          <a:p>
            <a:pPr marL="0" lvl="0" indent="0" algn="just">
              <a:buNone/>
            </a:pPr>
            <a:r>
              <a:rPr lang="en-US" sz="2000" dirty="0"/>
              <a:t>GROWTH THROUGH ALLIANCES                                  IDENTITY CRISIS.</a:t>
            </a:r>
          </a:p>
          <a:p>
            <a:pPr marL="0" lvl="0" indent="0" algn="just">
              <a:buNone/>
            </a:pPr>
            <a:endParaRPr lang="en-US" sz="2000" dirty="0"/>
          </a:p>
          <a:p>
            <a:pPr marL="0" lvl="0" indent="0" algn="just">
              <a:buNone/>
            </a:pPr>
            <a:endParaRPr lang="en-US" sz="2000" dirty="0"/>
          </a:p>
          <a:p>
            <a:pPr marL="457200" indent="-457200">
              <a:buFont typeface="+mj-lt"/>
              <a:buAutoNum type="arabicPeriod"/>
            </a:pPr>
            <a:endParaRPr lang="en-US" sz="2000" dirty="0"/>
          </a:p>
          <a:p>
            <a:pPr marL="457200" lvl="0" indent="-457200">
              <a:buFont typeface="+mj-lt"/>
              <a:buAutoNum type="arabicPeriod"/>
            </a:pPr>
            <a:endParaRPr lang="en-US" sz="2000" dirty="0"/>
          </a:p>
          <a:p>
            <a:pPr marL="457200" lvl="0" indent="-457200">
              <a:buAutoNum type="arabicPeriod"/>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962823968"/>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15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153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153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solidFill>
                  <a:schemeClr val="bg1"/>
                </a:solidFill>
                <a:latin typeface="Calibri" pitchFamily="34" charset="0"/>
              </a:rPr>
              <a:t>STAGE 1 CREATIVITY</a:t>
            </a: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pPr marL="0" indent="0">
              <a:buNone/>
            </a:pPr>
            <a:endParaRPr lang="en-US" sz="2400" dirty="0"/>
          </a:p>
          <a:p>
            <a:pPr marL="0" indent="0">
              <a:buNone/>
            </a:pPr>
            <a:r>
              <a:rPr lang="en-US" sz="2400" dirty="0"/>
              <a:t>Flat structure</a:t>
            </a:r>
          </a:p>
          <a:p>
            <a:pPr marL="0" indent="0">
              <a:buNone/>
            </a:pPr>
            <a:r>
              <a:rPr lang="en-US" sz="2400" dirty="0"/>
              <a:t>Small and Informal</a:t>
            </a:r>
          </a:p>
          <a:p>
            <a:pPr marL="0" indent="0">
              <a:buNone/>
            </a:pPr>
            <a:r>
              <a:rPr lang="en-US" sz="2400" dirty="0" err="1"/>
              <a:t>Entreprenurial</a:t>
            </a:r>
            <a:endParaRPr lang="en-US" sz="2400" dirty="0"/>
          </a:p>
          <a:p>
            <a:pPr marL="0" indent="0">
              <a:buNone/>
            </a:pPr>
            <a:r>
              <a:rPr lang="en-US" sz="2400" dirty="0"/>
              <a:t>Loyal employees.</a:t>
            </a:r>
          </a:p>
          <a:p>
            <a:pPr marL="0" indent="0">
              <a:buNone/>
            </a:pPr>
            <a:endParaRPr lang="en-US" sz="2400" dirty="0"/>
          </a:p>
          <a:p>
            <a:pPr marL="0" indent="0">
              <a:buNone/>
            </a:pPr>
            <a:endParaRPr lang="en-US" sz="2400" dirty="0"/>
          </a:p>
          <a:p>
            <a:pPr marL="0" indent="0">
              <a:buNone/>
            </a:pPr>
            <a:r>
              <a:rPr lang="en-US" sz="2400" dirty="0"/>
              <a:t>ONE MAN SHOW…Not possible</a:t>
            </a:r>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58079406"/>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4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42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430"/>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solidFill>
                  <a:schemeClr val="bg1"/>
                </a:solidFill>
                <a:latin typeface="Calibri" pitchFamily="34" charset="0"/>
              </a:rPr>
              <a:t>STAGE 2 DIRECTION  </a:t>
            </a: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pPr marL="0" lvl="0" indent="0">
              <a:buNone/>
            </a:pPr>
            <a:endParaRPr lang="en-US" sz="2000" b="1" dirty="0"/>
          </a:p>
          <a:p>
            <a:pPr marL="0" lvl="0" indent="0">
              <a:buNone/>
            </a:pPr>
            <a:r>
              <a:rPr lang="en-US" sz="2400" b="1" dirty="0"/>
              <a:t>Appoint Functional Managers.</a:t>
            </a:r>
          </a:p>
          <a:p>
            <a:pPr marL="0" lvl="0" indent="0">
              <a:buNone/>
            </a:pPr>
            <a:r>
              <a:rPr lang="en-US" sz="2400" b="1" dirty="0"/>
              <a:t>Create Middle </a:t>
            </a:r>
            <a:r>
              <a:rPr lang="en-US" sz="2400" b="1" dirty="0" err="1"/>
              <a:t>Management,Rules</a:t>
            </a:r>
            <a:r>
              <a:rPr lang="en-US" sz="2400" b="1" dirty="0"/>
              <a:t> procedures are standardized, Central coordination with Entrepreneur</a:t>
            </a:r>
          </a:p>
          <a:p>
            <a:pPr marL="0" lvl="0" indent="0">
              <a:buNone/>
            </a:pPr>
            <a:endParaRPr lang="en-US" sz="2400" b="1" dirty="0"/>
          </a:p>
          <a:p>
            <a:pPr marL="0" lvl="0" indent="0">
              <a:buNone/>
            </a:pPr>
            <a:endParaRPr lang="en-US" sz="2400" b="1" dirty="0"/>
          </a:p>
          <a:p>
            <a:pPr marL="0" lvl="0" indent="0">
              <a:buNone/>
            </a:pPr>
            <a:endParaRPr lang="en-US" sz="2400" b="1" dirty="0"/>
          </a:p>
          <a:p>
            <a:pPr marL="0" lvl="0" indent="0">
              <a:buNone/>
            </a:pPr>
            <a:r>
              <a:rPr lang="en-US" sz="2400" b="1" dirty="0"/>
              <a:t>Autonomy crisis is Born.</a:t>
            </a:r>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569609416"/>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15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153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153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solidFill>
                  <a:schemeClr val="bg1"/>
                </a:solidFill>
                <a:latin typeface="Calibri" pitchFamily="34" charset="0"/>
              </a:rPr>
              <a:t>STAGE 3 DELEGATION</a:t>
            </a: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pPr marL="0" lvl="0" indent="0">
              <a:buNone/>
            </a:pPr>
            <a:endParaRPr lang="en-US" sz="2000" b="1" dirty="0"/>
          </a:p>
          <a:p>
            <a:pPr marL="457200" lvl="0" indent="-457200">
              <a:buAutoNum type="arabicPeriod"/>
            </a:pPr>
            <a:r>
              <a:rPr lang="en-US" sz="2400" dirty="0"/>
              <a:t>Tactical , Operational objectives by middle managers.</a:t>
            </a:r>
          </a:p>
          <a:p>
            <a:pPr marL="457200" lvl="0" indent="-457200">
              <a:buAutoNum type="arabicPeriod"/>
            </a:pPr>
            <a:r>
              <a:rPr lang="en-US" sz="2400" dirty="0"/>
              <a:t>Low intervention</a:t>
            </a:r>
          </a:p>
          <a:p>
            <a:pPr marL="457200" lvl="0" indent="-457200">
              <a:buAutoNum type="arabicPeriod"/>
            </a:pPr>
            <a:r>
              <a:rPr lang="en-US" sz="2400" dirty="0"/>
              <a:t>Product Group</a:t>
            </a:r>
          </a:p>
          <a:p>
            <a:pPr marL="457200" lvl="0" indent="-457200">
              <a:buAutoNum type="arabicPeriod"/>
            </a:pPr>
            <a:r>
              <a:rPr lang="en-US" sz="2400" dirty="0"/>
              <a:t>Individual Managers</a:t>
            </a:r>
          </a:p>
          <a:p>
            <a:pPr marL="457200" lvl="0" indent="-457200">
              <a:buAutoNum type="arabicPeriod"/>
            </a:pPr>
            <a:endParaRPr lang="en-US" sz="2400" dirty="0"/>
          </a:p>
          <a:p>
            <a:pPr marL="457200" lvl="0" indent="-457200">
              <a:buAutoNum type="arabicPeriod"/>
            </a:pPr>
            <a:endParaRPr lang="en-US" sz="2400" dirty="0"/>
          </a:p>
          <a:p>
            <a:pPr marL="0" lvl="0" indent="0">
              <a:buNone/>
            </a:pPr>
            <a:r>
              <a:rPr lang="en-US" sz="2000" b="1" dirty="0"/>
              <a:t> Co ordination Difficult Divisional managers plot own course</a:t>
            </a:r>
          </a:p>
          <a:p>
            <a:pPr marL="457200" lvl="0" indent="-45720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58079406"/>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4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41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418"/>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solidFill>
                  <a:schemeClr val="bg1"/>
                </a:solidFill>
                <a:latin typeface="Calibri" pitchFamily="34" charset="0"/>
              </a:rPr>
              <a:t>STAGE 4 COORDINATION</a:t>
            </a: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pPr marL="457200" lvl="0" indent="-457200">
              <a:buAutoNum type="arabicPeriod"/>
            </a:pPr>
            <a:r>
              <a:rPr lang="en-US" sz="2400" dirty="0"/>
              <a:t>Staff </a:t>
            </a:r>
            <a:r>
              <a:rPr lang="en-US" sz="2400" dirty="0" err="1"/>
              <a:t>Deparments</a:t>
            </a:r>
            <a:r>
              <a:rPr lang="en-US" sz="2400" dirty="0"/>
              <a:t> Introduced… What are staff and line roles?</a:t>
            </a:r>
          </a:p>
          <a:p>
            <a:pPr marL="457200" lvl="0" indent="-457200">
              <a:buAutoNum type="arabicPeriod"/>
            </a:pPr>
            <a:r>
              <a:rPr lang="en-US" sz="2400" dirty="0"/>
              <a:t>Take strong position from Headquarters</a:t>
            </a:r>
          </a:p>
          <a:p>
            <a:pPr marL="457200" lvl="0" indent="-457200">
              <a:buAutoNum type="arabicPeriod"/>
            </a:pPr>
            <a:r>
              <a:rPr lang="en-US" sz="2400" dirty="0"/>
              <a:t>Manage Divisional managers</a:t>
            </a:r>
          </a:p>
          <a:p>
            <a:pPr marL="457200" lvl="0" indent="-457200">
              <a:buAutoNum type="arabicPeriod"/>
            </a:pPr>
            <a:r>
              <a:rPr lang="en-US" sz="2400" dirty="0"/>
              <a:t>Headquarters All important</a:t>
            </a:r>
          </a:p>
          <a:p>
            <a:pPr marL="457200" lvl="0" indent="-457200">
              <a:buAutoNum type="arabicPeriod"/>
            </a:pPr>
            <a:endParaRPr lang="en-US" sz="2400" b="1" dirty="0"/>
          </a:p>
          <a:p>
            <a:pPr marL="457200" lvl="0" indent="-457200">
              <a:buAutoNum type="arabicPeriod"/>
            </a:pPr>
            <a:endParaRPr lang="en-US" sz="2400" b="1" dirty="0"/>
          </a:p>
          <a:p>
            <a:pPr marL="0" lvl="0" indent="0">
              <a:buNone/>
            </a:pPr>
            <a:r>
              <a:rPr lang="en-US" sz="2400" b="1" dirty="0"/>
              <a:t>   COMPANY INFLEXIBLE RED TAPE ARISES STAFF DEPT TAKE UP TOO      MUCH POWER   </a:t>
            </a: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536024615"/>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139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139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139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solidFill>
                  <a:schemeClr val="bg1"/>
                </a:solidFill>
                <a:latin typeface="Calibri" pitchFamily="34" charset="0"/>
              </a:rPr>
              <a:t>STAGE 5 COLLABORATION</a:t>
            </a: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pPr marL="457200" lvl="0" indent="-457200">
              <a:buAutoNum type="arabicPeriod"/>
            </a:pPr>
            <a:r>
              <a:rPr lang="en-US" sz="2400" dirty="0"/>
              <a:t>Line and Staff </a:t>
            </a:r>
            <a:r>
              <a:rPr lang="en-US" sz="2400" dirty="0" err="1"/>
              <a:t>Deparment</a:t>
            </a:r>
            <a:r>
              <a:rPr lang="en-US" sz="2400" dirty="0"/>
              <a:t> co-ordination</a:t>
            </a:r>
          </a:p>
          <a:p>
            <a:pPr marL="457200" lvl="0" indent="-457200">
              <a:buAutoNum type="arabicPeriod"/>
            </a:pPr>
            <a:r>
              <a:rPr lang="en-US" sz="2400" dirty="0" err="1"/>
              <a:t>Hierachial</a:t>
            </a:r>
            <a:r>
              <a:rPr lang="en-US" sz="2400" dirty="0"/>
              <a:t> forms</a:t>
            </a:r>
          </a:p>
          <a:p>
            <a:pPr marL="457200" lvl="0" indent="-457200">
              <a:buAutoNum type="arabicPeriod"/>
            </a:pPr>
            <a:r>
              <a:rPr lang="en-US" sz="2400"/>
              <a:t>Matrix Structure</a:t>
            </a:r>
            <a:endParaRPr lang="en-US" sz="2400" dirty="0"/>
          </a:p>
          <a:p>
            <a:pPr marL="457200" lvl="0" indent="-457200">
              <a:buAutoNum type="arabicPeriod"/>
            </a:pPr>
            <a:r>
              <a:rPr lang="en-US" sz="2400" dirty="0"/>
              <a:t>Consultation Groups</a:t>
            </a:r>
          </a:p>
          <a:p>
            <a:pPr marL="457200" lvl="0" indent="-457200">
              <a:buAutoNum type="arabicPeriod"/>
            </a:pPr>
            <a:r>
              <a:rPr lang="en-US" sz="2400" dirty="0"/>
              <a:t>Meetings </a:t>
            </a:r>
          </a:p>
          <a:p>
            <a:pPr marL="457200" lvl="0" indent="-457200">
              <a:buNone/>
            </a:pPr>
            <a:endParaRPr lang="en-US" sz="2000" b="1" dirty="0"/>
          </a:p>
          <a:p>
            <a:pPr marL="457200" lvl="0" indent="-457200">
              <a:buNone/>
            </a:pPr>
            <a:endParaRPr lang="en-US" sz="2000" b="1" dirty="0"/>
          </a:p>
          <a:p>
            <a:pPr marL="457200" lvl="0" indent="-457200">
              <a:buNone/>
            </a:pPr>
            <a:r>
              <a:rPr lang="en-US" sz="2000" b="1" dirty="0"/>
              <a:t>Too many Consultations. Supervision Declines…</a:t>
            </a:r>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54553523"/>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4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402"/>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403"/>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solidFill>
                  <a:schemeClr val="bg1"/>
                </a:solidFill>
                <a:latin typeface="Calibri" pitchFamily="34" charset="0"/>
              </a:rPr>
              <a:t>STAGE 6 ALLIANCES</a:t>
            </a: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pPr marL="0" lvl="0" indent="0">
              <a:buNone/>
            </a:pPr>
            <a:r>
              <a:rPr lang="en-US" b="1" u="sng" dirty="0"/>
              <a:t> </a:t>
            </a:r>
          </a:p>
          <a:p>
            <a:pPr marL="457200" lvl="0" indent="-457200">
              <a:buAutoNum type="arabicPeriod"/>
            </a:pPr>
            <a:r>
              <a:rPr lang="en-US" sz="2400" dirty="0"/>
              <a:t>External alliances</a:t>
            </a:r>
          </a:p>
          <a:p>
            <a:pPr marL="457200" lvl="0" indent="-457200">
              <a:buAutoNum type="arabicPeriod"/>
            </a:pPr>
            <a:r>
              <a:rPr lang="en-US" sz="2400" dirty="0"/>
              <a:t>Contacts</a:t>
            </a:r>
          </a:p>
          <a:p>
            <a:pPr marL="457200" lvl="0" indent="-457200">
              <a:buAutoNum type="arabicPeriod"/>
            </a:pPr>
            <a:r>
              <a:rPr lang="en-US" sz="2400" dirty="0"/>
              <a:t>Mergers</a:t>
            </a:r>
          </a:p>
          <a:p>
            <a:pPr marL="457200" lvl="0" indent="-457200">
              <a:buAutoNum type="arabicPeriod"/>
            </a:pPr>
            <a:r>
              <a:rPr lang="en-US" sz="2400" dirty="0"/>
              <a:t>Extensive Network</a:t>
            </a:r>
          </a:p>
          <a:p>
            <a:pPr marL="457200" lvl="0" indent="-457200">
              <a:buAutoNum type="arabicPeriod"/>
            </a:pPr>
            <a:endParaRPr lang="en-US" sz="2000" b="1" dirty="0"/>
          </a:p>
          <a:p>
            <a:pPr marL="0" lvl="0" indent="0">
              <a:buNone/>
            </a:pPr>
            <a:r>
              <a:rPr lang="en-US" sz="2000" b="1" dirty="0"/>
              <a:t>  Focus on alliances rather than own </a:t>
            </a:r>
            <a:r>
              <a:rPr lang="en-US" sz="2000" b="1" dirty="0" err="1"/>
              <a:t>business.Other</a:t>
            </a:r>
            <a:r>
              <a:rPr lang="en-US" sz="2000" b="1" dirty="0"/>
              <a:t> businesses take </a:t>
            </a:r>
            <a:r>
              <a:rPr lang="en-US" sz="2000" b="1" dirty="0" err="1"/>
              <a:t>over.Identity</a:t>
            </a:r>
            <a:r>
              <a:rPr lang="en-US" sz="2000" b="1" dirty="0"/>
              <a:t> Crisis.</a:t>
            </a:r>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06003063"/>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15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153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153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pPr marL="0" lvl="0" indent="0">
              <a:buNone/>
            </a:pPr>
            <a:endParaRPr lang="en-US" sz="2000" b="1" dirty="0"/>
          </a:p>
          <a:p>
            <a:pPr marL="457200" lvl="0" indent="-457200">
              <a:buNone/>
            </a:pPr>
            <a:endParaRPr lang="en-US" sz="2000" b="1" dirty="0"/>
          </a:p>
          <a:p>
            <a:pPr marL="457200" lvl="0" indent="-45720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id="{B0742942-8637-429B-A2B5-14E0485D7E90}"/>
              </a:ext>
            </a:extLst>
          </p:cNvPr>
          <p:cNvSpPr txBox="1"/>
          <p:nvPr/>
        </p:nvSpPr>
        <p:spPr>
          <a:xfrm>
            <a:off x="219975" y="596954"/>
            <a:ext cx="1372492" cy="584775"/>
          </a:xfrm>
          <a:prstGeom prst="rect">
            <a:avLst/>
          </a:prstGeom>
          <a:noFill/>
        </p:spPr>
        <p:txBody>
          <a:bodyPr wrap="none" rtlCol="0">
            <a:spAutoFit/>
          </a:bodyPr>
          <a:lstStyle/>
          <a:p>
            <a:r>
              <a:rPr lang="en-IN" sz="3200" dirty="0"/>
              <a:t>GRAPH</a:t>
            </a:r>
          </a:p>
        </p:txBody>
      </p:sp>
      <p:pic>
        <p:nvPicPr>
          <p:cNvPr id="3" name="Picture 2">
            <a:extLst>
              <a:ext uri="{FF2B5EF4-FFF2-40B4-BE49-F238E27FC236}">
                <a16:creationId xmlns:a16="http://schemas.microsoft.com/office/drawing/2014/main" id="{E5E80CE0-D618-492A-B6F7-F417F0C754A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1177409"/>
            <a:ext cx="9042400" cy="51773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8079406"/>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38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38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382"/>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solidFill>
                  <a:schemeClr val="bg1"/>
                </a:solidFill>
                <a:latin typeface="Calibri" pitchFamily="34" charset="0"/>
              </a:rPr>
              <a:t>GRAPH 2</a:t>
            </a: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38101" y="2025788"/>
            <a:ext cx="11318159" cy="4100375"/>
          </a:xfrm>
        </p:spPr>
        <p:txBody>
          <a:bodyPr>
            <a:normAutofit/>
          </a:bodyPr>
          <a:lstStyle/>
          <a:p>
            <a:pPr marL="457200" lvl="0" indent="-457200">
              <a:buNone/>
            </a:pPr>
            <a:endParaRPr lang="en-US" sz="2000" b="1" dirty="0"/>
          </a:p>
          <a:p>
            <a:pPr marL="457200" lvl="0" indent="-45720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pic>
        <p:nvPicPr>
          <p:cNvPr id="2050" name="Picture 2">
            <a:extLst>
              <a:ext uri="{FF2B5EF4-FFF2-40B4-BE49-F238E27FC236}">
                <a16:creationId xmlns:a16="http://schemas.microsoft.com/office/drawing/2014/main" id="{D76C60F9-2714-495C-8218-A7FBF607785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32636" y="1290638"/>
            <a:ext cx="9478164" cy="4772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1541823"/>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15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153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153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solidFill>
                  <a:schemeClr val="bg1"/>
                </a:solidFill>
                <a:latin typeface="Calibri" pitchFamily="34" charset="0"/>
              </a:rPr>
              <a:t>ORGANISATIONAL DESIGN</a:t>
            </a: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pPr marL="0" lvl="0" indent="0">
              <a:buNone/>
            </a:pPr>
            <a:r>
              <a:rPr lang="en-US" sz="2000" b="1" dirty="0"/>
              <a:t>        </a:t>
            </a:r>
            <a:r>
              <a:rPr lang="en-US" sz="2800" b="1" dirty="0"/>
              <a:t>CREATE VALUE FOR FUTURE</a:t>
            </a:r>
          </a:p>
          <a:p>
            <a:pPr marL="0" lvl="0" indent="0">
              <a:buNone/>
            </a:pPr>
            <a:r>
              <a:rPr lang="en-US" sz="2800" b="1" dirty="0"/>
              <a:t>      PEOPLE AT THE CENTRE</a:t>
            </a:r>
          </a:p>
          <a:p>
            <a:pPr marL="0" lvl="0" indent="0">
              <a:buNone/>
            </a:pPr>
            <a:r>
              <a:rPr lang="en-US" sz="2800" b="1" dirty="0"/>
              <a:t>      DESIGN IS LIKE A MAP.  IMPLEMENTATION GPS</a:t>
            </a:r>
          </a:p>
          <a:p>
            <a:pPr marL="0" lvl="0" indent="0">
              <a:buNone/>
            </a:pPr>
            <a:r>
              <a:rPr lang="en-US" sz="2800" b="1" dirty="0"/>
              <a:t>      BUILD RESILIENCE FOR UNKNOWN.</a:t>
            </a:r>
          </a:p>
          <a:p>
            <a:pPr marL="0" lvl="0" indent="0">
              <a:buNone/>
            </a:pPr>
            <a:r>
              <a:rPr lang="en-US" sz="2800" b="1" dirty="0"/>
              <a:t> </a:t>
            </a:r>
          </a:p>
          <a:p>
            <a:pPr marL="0" lvl="0" indent="0">
              <a:buNone/>
            </a:pPr>
            <a:endParaRPr lang="en-US" sz="2800" b="1" dirty="0"/>
          </a:p>
          <a:p>
            <a:pPr marL="0" lvl="0" indent="0">
              <a:buNone/>
            </a:pPr>
            <a:r>
              <a:rPr lang="en-US" sz="2800" b="1" dirty="0"/>
              <a:t>      NO PERFECT MODEL. </a:t>
            </a: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58079406"/>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15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153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153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solidFill>
                  <a:schemeClr val="bg1"/>
                </a:solidFill>
                <a:latin typeface="Calibri" pitchFamily="34" charset="0"/>
              </a:rPr>
              <a:t> ORGANISATIONAL DESIGN</a:t>
            </a: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pPr marL="457200" lvl="0" indent="-457200">
              <a:buNone/>
            </a:pPr>
            <a:r>
              <a:rPr lang="en-US" sz="2000" dirty="0"/>
              <a:t>                                                      </a:t>
            </a:r>
          </a:p>
          <a:p>
            <a:pPr marL="457200" lvl="0" indent="-457200">
              <a:buNone/>
            </a:pPr>
            <a:r>
              <a:rPr lang="en-US" sz="2000" b="1" dirty="0"/>
              <a:t>         </a:t>
            </a:r>
            <a:r>
              <a:rPr lang="en-US" b="1" dirty="0"/>
              <a:t>MISSION</a:t>
            </a:r>
          </a:p>
          <a:p>
            <a:pPr marL="457200" lvl="0" indent="-457200">
              <a:buNone/>
            </a:pPr>
            <a:r>
              <a:rPr lang="en-US" sz="2000" b="1" dirty="0"/>
              <a:t>         </a:t>
            </a:r>
            <a:r>
              <a:rPr lang="en-US" b="1" dirty="0"/>
              <a:t>PROCESS</a:t>
            </a:r>
          </a:p>
          <a:p>
            <a:pPr marL="457200" lvl="0" indent="-457200">
              <a:buNone/>
            </a:pPr>
            <a:r>
              <a:rPr lang="en-US" sz="2000" b="1"/>
              <a:t>         </a:t>
            </a:r>
            <a:r>
              <a:rPr lang="en-US" b="1"/>
              <a:t>ROLES</a:t>
            </a:r>
            <a:r>
              <a:rPr lang="en-US" sz="2000" b="1"/>
              <a:t>  </a:t>
            </a:r>
            <a:r>
              <a:rPr lang="en-US" b="1"/>
              <a:t>                                                                          </a:t>
            </a:r>
            <a:r>
              <a:rPr lang="en-US" b="1" dirty="0"/>
              <a:t>STRUCTURE                                          </a:t>
            </a:r>
          </a:p>
          <a:p>
            <a:pPr marL="457200" lvl="0" indent="-457200">
              <a:buNone/>
            </a:pPr>
            <a:r>
              <a:rPr lang="en-US" b="1" dirty="0"/>
              <a:t>     PEOPLE AND PRACTICES</a:t>
            </a:r>
          </a:p>
          <a:p>
            <a:pPr marL="400050" lvl="1" indent="0">
              <a:buNone/>
            </a:pPr>
            <a:endParaRPr lang="en-US" sz="16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58079406"/>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15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153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153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solidFill>
                  <a:schemeClr val="bg1"/>
                </a:solidFill>
                <a:latin typeface="Calibri" pitchFamily="34" charset="0"/>
              </a:rPr>
              <a:t>Concept of Internal customers.</a:t>
            </a: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fontScale="92500" lnSpcReduction="10000"/>
          </a:bodyPr>
          <a:lstStyle/>
          <a:p>
            <a:pPr marL="457200" lvl="0" indent="-457200">
              <a:buNone/>
            </a:pPr>
            <a:endParaRPr lang="en-US" sz="2000" b="1" dirty="0"/>
          </a:p>
          <a:p>
            <a:pPr marL="457200" lvl="0" indent="-457200">
              <a:buNone/>
            </a:pPr>
            <a:r>
              <a:rPr lang="en-US" sz="2000" b="1" dirty="0"/>
              <a:t>   </a:t>
            </a:r>
            <a:r>
              <a:rPr lang="en-US" sz="2400" b="1" dirty="0"/>
              <a:t>Customer is The Focus.</a:t>
            </a:r>
          </a:p>
          <a:p>
            <a:pPr marL="457200" lvl="0" indent="-457200">
              <a:buNone/>
            </a:pPr>
            <a:endParaRPr lang="en-US" sz="2400" b="1" dirty="0"/>
          </a:p>
          <a:p>
            <a:pPr marL="457200" lvl="0" indent="-457200">
              <a:buNone/>
            </a:pPr>
            <a:r>
              <a:rPr lang="en-US" sz="2400" b="1" dirty="0"/>
              <a:t>    Research.&gt; Development.&gt; Process Design.&gt; Projects.&gt;</a:t>
            </a:r>
          </a:p>
          <a:p>
            <a:pPr marL="457200" lvl="0" indent="-457200">
              <a:buNone/>
            </a:pPr>
            <a:r>
              <a:rPr lang="en-US" sz="2400" b="1" dirty="0"/>
              <a:t>    Operations.&gt;Marketing.&gt; Final Purchaser.</a:t>
            </a:r>
          </a:p>
          <a:p>
            <a:pPr marL="457200" lvl="0" indent="-457200">
              <a:buNone/>
            </a:pPr>
            <a:endParaRPr lang="en-US" sz="2400" b="1" dirty="0"/>
          </a:p>
          <a:p>
            <a:pPr marL="457200" lvl="0" indent="-457200">
              <a:buNone/>
            </a:pPr>
            <a:endParaRPr lang="en-US" sz="2400" b="1" dirty="0"/>
          </a:p>
          <a:p>
            <a:pPr marL="457200" lvl="0" indent="-457200">
              <a:buNone/>
            </a:pPr>
            <a:r>
              <a:rPr lang="en-US" sz="2400" b="1" dirty="0"/>
              <a:t>   Multiple Customers.  Purchase, Finance and accounts, </a:t>
            </a:r>
            <a:r>
              <a:rPr lang="en-US" sz="2400" b="1" dirty="0" err="1"/>
              <a:t>Personnel,Quality</a:t>
            </a:r>
            <a:r>
              <a:rPr lang="en-US" sz="2400" b="1" dirty="0"/>
              <a:t> </a:t>
            </a:r>
          </a:p>
          <a:p>
            <a:pPr marL="457200" lvl="0" indent="-457200">
              <a:buNone/>
            </a:pPr>
            <a:r>
              <a:rPr lang="en-US" sz="2400" b="1" dirty="0"/>
              <a:t>   Assurance, </a:t>
            </a:r>
            <a:r>
              <a:rPr lang="en-US" sz="2400" b="1" dirty="0" err="1"/>
              <a:t>HR,Maintainance</a:t>
            </a:r>
            <a:r>
              <a:rPr lang="en-US" sz="2400" b="1" dirty="0"/>
              <a:t>, Stores, Security, IT services.</a:t>
            </a:r>
          </a:p>
          <a:p>
            <a:pPr marL="457200" lvl="0" indent="-457200">
              <a:buNone/>
            </a:pPr>
            <a:r>
              <a:rPr lang="en-US" sz="2400" b="1" dirty="0"/>
              <a:t>     </a:t>
            </a:r>
          </a:p>
          <a:p>
            <a:pPr marL="457200" lvl="0" indent="-457200">
              <a:buNone/>
            </a:pPr>
            <a:endParaRPr lang="en-US" sz="2400" b="1" dirty="0"/>
          </a:p>
          <a:p>
            <a:pPr marL="457200" lvl="0" indent="-457200">
              <a:buNone/>
            </a:pPr>
            <a:r>
              <a:rPr lang="en-US" sz="2400" b="1" dirty="0"/>
              <a:t>        </a:t>
            </a: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58079406"/>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36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36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370"/>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solidFill>
                  <a:schemeClr val="bg1"/>
                </a:solidFill>
                <a:latin typeface="Calibri" pitchFamily="34" charset="0"/>
              </a:rPr>
              <a:t>Marketing</a:t>
            </a: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r>
              <a:rPr lang="en-US" b="1" u="sng" dirty="0"/>
              <a:t>Interaction With Others:</a:t>
            </a:r>
          </a:p>
          <a:p>
            <a:pPr marL="0" lvl="0" indent="0">
              <a:buNone/>
            </a:pPr>
            <a:endParaRPr lang="en-US" sz="2000" b="1" dirty="0"/>
          </a:p>
          <a:p>
            <a:pPr marL="457200" lvl="0" indent="-457200">
              <a:buFont typeface="+mj-lt"/>
              <a:buAutoNum type="arabicPeriod"/>
            </a:pPr>
            <a:r>
              <a:rPr lang="en-US" sz="2400" dirty="0"/>
              <a:t>R&amp;D</a:t>
            </a:r>
          </a:p>
          <a:p>
            <a:pPr marL="457200" lvl="0" indent="-457200">
              <a:buFont typeface="+mj-lt"/>
              <a:buAutoNum type="arabicPeriod"/>
            </a:pPr>
            <a:r>
              <a:rPr lang="en-US" sz="2400" dirty="0"/>
              <a:t>Design &amp; projects.</a:t>
            </a:r>
          </a:p>
          <a:p>
            <a:pPr marL="457200" lvl="0" indent="-457200">
              <a:buFont typeface="+mj-lt"/>
              <a:buAutoNum type="arabicPeriod"/>
            </a:pPr>
            <a:r>
              <a:rPr lang="en-US" sz="2400" dirty="0"/>
              <a:t>Operations</a:t>
            </a:r>
          </a:p>
          <a:p>
            <a:pPr marL="457200" lvl="0" indent="-457200">
              <a:buFont typeface="+mj-lt"/>
              <a:buAutoNum type="arabicPeriod"/>
            </a:pPr>
            <a:r>
              <a:rPr lang="en-US" sz="2400" dirty="0"/>
              <a:t>Quality assurance</a:t>
            </a:r>
          </a:p>
          <a:p>
            <a:pPr marL="457200" lvl="0" indent="-457200">
              <a:buFont typeface="+mj-lt"/>
              <a:buAutoNum type="arabicPeriod"/>
            </a:pPr>
            <a:r>
              <a:rPr lang="en-US" sz="2400" dirty="0"/>
              <a:t>Customer</a:t>
            </a:r>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758399240"/>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15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153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153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solidFill>
                  <a:schemeClr val="bg1"/>
                </a:solidFill>
                <a:latin typeface="Calibri" pitchFamily="34" charset="0"/>
              </a:rPr>
              <a:t>Marketing</a:t>
            </a: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r>
              <a:rPr lang="en-US" b="1" u="sng" dirty="0"/>
              <a:t>Three Major Areas </a:t>
            </a:r>
          </a:p>
          <a:p>
            <a:pPr marL="457200" lvl="0" indent="-457200">
              <a:buAutoNum type="arabicPeriod"/>
            </a:pPr>
            <a:r>
              <a:rPr lang="en-US" sz="2400" dirty="0"/>
              <a:t>New Products</a:t>
            </a:r>
          </a:p>
          <a:p>
            <a:pPr marL="457200" lvl="0" indent="-457200">
              <a:buAutoNum type="arabicPeriod"/>
            </a:pPr>
            <a:r>
              <a:rPr lang="en-US" sz="2400" dirty="0"/>
              <a:t>Improving Existing products</a:t>
            </a:r>
          </a:p>
          <a:p>
            <a:pPr marL="457200" lvl="0" indent="-457200">
              <a:buAutoNum type="arabicPeriod"/>
            </a:pPr>
            <a:r>
              <a:rPr lang="en-US" sz="2400" dirty="0"/>
              <a:t>Service to the customer</a:t>
            </a:r>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58079406"/>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15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153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153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endParaRPr lang="en-US" sz="2800" b="1" dirty="0">
              <a:solidFill>
                <a:schemeClr val="bg1"/>
              </a:solidFill>
              <a:latin typeface="Calibri" pitchFamily="34" charset="0"/>
            </a:endParaRP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58079406"/>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36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363"/>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36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solidFill>
                  <a:schemeClr val="bg1"/>
                </a:solidFill>
                <a:latin typeface="Calibri" pitchFamily="34" charset="0"/>
              </a:rPr>
              <a:t>PORTERS VALUE CHAIN MODEL</a:t>
            </a: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pPr marL="0" lvl="0" indent="0">
              <a:buNone/>
            </a:pPr>
            <a:r>
              <a:rPr lang="en-US" sz="2000" b="1" dirty="0"/>
              <a:t>  </a:t>
            </a:r>
            <a:r>
              <a:rPr lang="en-US" sz="2800" b="1" dirty="0"/>
              <a:t>INTRODUCED IN 1985 BY MICHEL PORTER</a:t>
            </a:r>
          </a:p>
          <a:p>
            <a:pPr marL="0" lvl="0" indent="0">
              <a:buNone/>
            </a:pPr>
            <a:r>
              <a:rPr lang="en-US" sz="2000" b="1" dirty="0"/>
              <a:t>   </a:t>
            </a:r>
          </a:p>
          <a:p>
            <a:pPr marL="0" lvl="0" indent="0">
              <a:buNone/>
            </a:pPr>
            <a:r>
              <a:rPr lang="en-US" sz="2800" b="1" dirty="0"/>
              <a:t>Primary Activities- Directly Develop Product or Services.</a:t>
            </a:r>
          </a:p>
          <a:p>
            <a:pPr marL="0" lvl="0" indent="0">
              <a:buNone/>
            </a:pPr>
            <a:endParaRPr lang="en-US" sz="2800" b="1" dirty="0"/>
          </a:p>
          <a:p>
            <a:pPr marL="0" lvl="0" indent="0">
              <a:buNone/>
            </a:pPr>
            <a:r>
              <a:rPr lang="en-US" sz="2800" b="1" dirty="0"/>
              <a:t>Support Activities- To make Primary Activities more Efficient</a:t>
            </a:r>
          </a:p>
          <a:p>
            <a:pPr marL="0" lvl="0" indent="0">
              <a:buNone/>
            </a:pPr>
            <a:endParaRPr lang="en-US" sz="2800" b="1" dirty="0"/>
          </a:p>
          <a:p>
            <a:pPr marL="0" lvl="0" indent="0">
              <a:buNone/>
            </a:pPr>
            <a:r>
              <a:rPr lang="en-US" sz="2800" b="1" dirty="0"/>
              <a:t>Strategic Management tool.</a:t>
            </a:r>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271717656"/>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608D6-35E0-D3F3-EC42-3B2B8FC7B6C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D342C17-B173-AFB2-4320-04F35ED23A4B}"/>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A7EE036D-EB2C-C170-2F28-E2D457B99D78}"/>
              </a:ext>
            </a:extLst>
          </p:cNvPr>
          <p:cNvPicPr>
            <a:picLocks noChangeAspect="1"/>
          </p:cNvPicPr>
          <p:nvPr/>
        </p:nvPicPr>
        <p:blipFill>
          <a:blip r:embed="rId2"/>
          <a:srcRect t="19089" b="2140"/>
          <a:stretch>
            <a:fillRect/>
          </a:stretch>
        </p:blipFill>
        <p:spPr>
          <a:xfrm>
            <a:off x="157267" y="586096"/>
            <a:ext cx="8829465" cy="5685807"/>
          </a:xfrm>
          <a:prstGeom prst="rect">
            <a:avLst/>
          </a:prstGeom>
        </p:spPr>
      </p:pic>
    </p:spTree>
    <p:extLst>
      <p:ext uri="{BB962C8B-B14F-4D97-AF65-F5344CB8AC3E}">
        <p14:creationId xmlns:p14="http://schemas.microsoft.com/office/powerpoint/2010/main" val="18020218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124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1248"/>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124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solidFill>
                  <a:schemeClr val="bg1"/>
                </a:solidFill>
                <a:latin typeface="Calibri" pitchFamily="34" charset="0"/>
              </a:rPr>
              <a:t>VALUE CHAIN ANALYSIS</a:t>
            </a: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lnSpcReduction="10000"/>
          </a:bodyPr>
          <a:lstStyle/>
          <a:p>
            <a:pPr marL="0" lvl="0" indent="0">
              <a:buNone/>
            </a:pPr>
            <a:r>
              <a:rPr lang="en-US" sz="2800" b="1" dirty="0"/>
              <a:t> COMPETETION</a:t>
            </a:r>
          </a:p>
          <a:p>
            <a:pPr marL="0" lvl="0" indent="0">
              <a:buNone/>
            </a:pPr>
            <a:endParaRPr lang="en-US" sz="2800" b="1" dirty="0"/>
          </a:p>
          <a:p>
            <a:pPr marL="0" lvl="0" indent="0">
              <a:buNone/>
            </a:pPr>
            <a:r>
              <a:rPr lang="en-US" sz="2800" b="1" dirty="0"/>
              <a:t>NEW ENTRANTS</a:t>
            </a:r>
          </a:p>
          <a:p>
            <a:pPr marL="0" lvl="0" indent="0">
              <a:buNone/>
            </a:pPr>
            <a:endParaRPr lang="en-US" sz="2800" b="1" dirty="0"/>
          </a:p>
          <a:p>
            <a:pPr marL="0" lvl="0" indent="0">
              <a:buNone/>
            </a:pPr>
            <a:r>
              <a:rPr lang="en-US" sz="2800" b="1" dirty="0"/>
              <a:t>BARGAINING POWER OF CUSTOMERS</a:t>
            </a:r>
          </a:p>
          <a:p>
            <a:pPr marL="0" lvl="0" indent="0">
              <a:buNone/>
            </a:pPr>
            <a:endParaRPr lang="en-US" sz="2800" b="1" dirty="0"/>
          </a:p>
          <a:p>
            <a:pPr marL="0" lvl="0" indent="0">
              <a:buNone/>
            </a:pPr>
            <a:r>
              <a:rPr lang="en-US" sz="2800" b="1" dirty="0"/>
              <a:t>BARGAINING POWER OF SUPPLIERS</a:t>
            </a:r>
          </a:p>
          <a:p>
            <a:pPr marL="0" lvl="0" indent="0">
              <a:buNone/>
            </a:pPr>
            <a:endParaRPr lang="en-US" sz="2800" b="1" dirty="0"/>
          </a:p>
          <a:p>
            <a:pPr marL="0" lvl="0" indent="0">
              <a:buNone/>
            </a:pPr>
            <a:r>
              <a:rPr lang="en-US" sz="2800" b="1" dirty="0"/>
              <a:t>THREAT OF ALTERNATIVES</a:t>
            </a:r>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480122134"/>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30FFC-F412-89CE-151D-02E3FD8E6F97}"/>
              </a:ext>
            </a:extLst>
          </p:cNvPr>
          <p:cNvSpPr>
            <a:spLocks noGrp="1"/>
          </p:cNvSpPr>
          <p:nvPr>
            <p:ph type="title"/>
          </p:nvPr>
        </p:nvSpPr>
        <p:spPr/>
        <p:txBody>
          <a:bodyPr/>
          <a:lstStyle/>
          <a:p>
            <a:endParaRPr lang="en-IN"/>
          </a:p>
        </p:txBody>
      </p:sp>
      <p:pic>
        <p:nvPicPr>
          <p:cNvPr id="2050" name="Picture 2" descr="Solved] Which of the following porters is not a part of Five Forces&amp;">
            <a:extLst>
              <a:ext uri="{FF2B5EF4-FFF2-40B4-BE49-F238E27FC236}">
                <a16:creationId xmlns:a16="http://schemas.microsoft.com/office/drawing/2014/main" id="{2CFD29A9-6099-3040-1696-86B432EF72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19" y="427037"/>
            <a:ext cx="9122381" cy="513556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30CE735-A8D7-4D65-8D0F-7636EDDE809F}"/>
              </a:ext>
            </a:extLst>
          </p:cNvPr>
          <p:cNvSpPr txBox="1"/>
          <p:nvPr/>
        </p:nvSpPr>
        <p:spPr>
          <a:xfrm>
            <a:off x="609600" y="5641584"/>
            <a:ext cx="8229600" cy="923330"/>
          </a:xfrm>
          <a:prstGeom prst="rect">
            <a:avLst/>
          </a:prstGeom>
          <a:noFill/>
        </p:spPr>
        <p:txBody>
          <a:bodyPr wrap="square">
            <a:spAutoFit/>
          </a:bodyPr>
          <a:lstStyle/>
          <a:p>
            <a:pPr algn="ctr"/>
            <a:r>
              <a:rPr lang="en-IN" b="1" dirty="0"/>
              <a:t>PORTER'S FIVE FORCES IS A FRAMEWORK FOR UNDERSTANDING THE COMPETITIVE FORCES AT WORK IN AN INDUSTRY, AND WHICH DRIVE THE WAY ECONOMIC VALUE IS DIVIDED AMONG INDUSTRY ACTORS.</a:t>
            </a:r>
          </a:p>
        </p:txBody>
      </p:sp>
    </p:spTree>
    <p:extLst>
      <p:ext uri="{BB962C8B-B14F-4D97-AF65-F5344CB8AC3E}">
        <p14:creationId xmlns:p14="http://schemas.microsoft.com/office/powerpoint/2010/main" val="37113060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124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124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124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solidFill>
                  <a:schemeClr val="bg1"/>
                </a:solidFill>
                <a:latin typeface="Calibri" pitchFamily="34" charset="0"/>
              </a:rPr>
              <a:t>VALUE CHAIN</a:t>
            </a: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pPr marL="457200" lvl="0" indent="-457200">
              <a:buNone/>
            </a:pPr>
            <a:endParaRPr lang="en-US" sz="2800" b="1" dirty="0"/>
          </a:p>
          <a:p>
            <a:pPr marL="457200" lvl="0" indent="-457200">
              <a:buNone/>
            </a:pPr>
            <a:r>
              <a:rPr lang="en-US" sz="2800" b="1" dirty="0"/>
              <a:t>PHYSICAL OR TRADITIONAL</a:t>
            </a:r>
          </a:p>
          <a:p>
            <a:pPr marL="457200" lvl="0" indent="-457200">
              <a:buNone/>
            </a:pPr>
            <a:endParaRPr lang="en-US" sz="2800" b="1" dirty="0"/>
          </a:p>
          <a:p>
            <a:pPr marL="457200" lvl="0" indent="-457200">
              <a:buNone/>
            </a:pPr>
            <a:r>
              <a:rPr lang="en-US" sz="2800" b="1" dirty="0"/>
              <a:t>VIRTUAL</a:t>
            </a:r>
          </a:p>
          <a:p>
            <a:pPr marL="457200" lvl="0" indent="-457200">
              <a:buNone/>
            </a:pPr>
            <a:endParaRPr lang="en-US" sz="2800" b="1" dirty="0"/>
          </a:p>
          <a:p>
            <a:pPr marL="457200" lvl="0" indent="-457200">
              <a:buNone/>
            </a:pPr>
            <a:r>
              <a:rPr lang="en-US" sz="2800" b="1" dirty="0"/>
              <a:t>STRATEGIC BUSINESS UNIT</a:t>
            </a:r>
          </a:p>
          <a:p>
            <a:pPr marL="457200" lvl="0" indent="-457200">
              <a:buNone/>
            </a:pPr>
            <a:endParaRPr lang="en-US" sz="2800" b="1" dirty="0"/>
          </a:p>
          <a:p>
            <a:pPr marL="457200" lvl="0" indent="-457200">
              <a:buNone/>
            </a:pPr>
            <a:r>
              <a:rPr lang="en-US" sz="2800" b="1" dirty="0"/>
              <a:t>GLOBAL </a:t>
            </a:r>
          </a:p>
          <a:p>
            <a:pPr marL="457200" lvl="0" indent="-457200">
              <a:buNone/>
            </a:pPr>
            <a:endParaRPr lang="en-US" sz="2800" b="1" dirty="0"/>
          </a:p>
          <a:p>
            <a:pPr marL="457200" lvl="0" indent="-45720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776068566"/>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124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1242"/>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1243"/>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solidFill>
                  <a:schemeClr val="bg1"/>
                </a:solidFill>
                <a:latin typeface="Calibri" pitchFamily="34" charset="0"/>
              </a:rPr>
              <a:t>EXAMPLES OF INDUSTRIES</a:t>
            </a: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pPr marL="457200" lvl="0" indent="-457200">
              <a:buNone/>
            </a:pPr>
            <a:endParaRPr lang="en-US" sz="2800" b="1" dirty="0"/>
          </a:p>
          <a:p>
            <a:pPr marL="457200" lvl="0" indent="-457200">
              <a:buNone/>
            </a:pPr>
            <a:r>
              <a:rPr lang="en-US" sz="2800" b="1" dirty="0"/>
              <a:t>WALL MART  RELIANCE</a:t>
            </a:r>
          </a:p>
          <a:p>
            <a:pPr marL="457200" lvl="0" indent="-457200">
              <a:buNone/>
            </a:pPr>
            <a:r>
              <a:rPr lang="en-US" sz="2800" b="1" dirty="0"/>
              <a:t>AMAZON</a:t>
            </a:r>
          </a:p>
          <a:p>
            <a:pPr marL="457200" lvl="0" indent="-457200">
              <a:buNone/>
            </a:pPr>
            <a:r>
              <a:rPr lang="en-US" sz="2800" b="1" dirty="0"/>
              <a:t>FEDEX   SPEED POST</a:t>
            </a:r>
          </a:p>
          <a:p>
            <a:pPr marL="457200" lvl="0" indent="-457200">
              <a:buNone/>
            </a:pPr>
            <a:r>
              <a:rPr lang="en-US" sz="2800" b="1" dirty="0"/>
              <a:t>BASF</a:t>
            </a:r>
          </a:p>
          <a:p>
            <a:pPr marL="457200" lvl="0" indent="-457200">
              <a:buNone/>
            </a:pPr>
            <a:r>
              <a:rPr lang="en-US" sz="2800" b="1" dirty="0"/>
              <a:t>CITI BANK    ICICI BANK</a:t>
            </a:r>
          </a:p>
          <a:p>
            <a:pPr marL="457200" lvl="0" indent="-457200">
              <a:buNone/>
            </a:pPr>
            <a:r>
              <a:rPr lang="en-US" sz="2800" b="1" dirty="0"/>
              <a:t>ASIAN PAINTS  PIDILITE</a:t>
            </a:r>
          </a:p>
          <a:p>
            <a:pPr marL="457200" lvl="0" indent="-457200">
              <a:buNone/>
            </a:pPr>
            <a:endParaRPr lang="en-US" sz="2800" b="1" dirty="0"/>
          </a:p>
          <a:p>
            <a:pPr marL="457200" lvl="0" indent="-457200">
              <a:buNone/>
            </a:pPr>
            <a:r>
              <a:rPr lang="en-US" sz="2000" b="1" dirty="0"/>
              <a:t> </a:t>
            </a:r>
          </a:p>
          <a:p>
            <a:pPr marL="457200" lvl="0" indent="-457200">
              <a:buNone/>
            </a:pPr>
            <a:endParaRPr lang="en-US" sz="2000" b="1" dirty="0"/>
          </a:p>
          <a:p>
            <a:pPr marL="457200" lvl="0" indent="-45720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253078120"/>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123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123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1240"/>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solidFill>
                  <a:schemeClr val="bg1"/>
                </a:solidFill>
                <a:latin typeface="Calibri" pitchFamily="34" charset="0"/>
              </a:rPr>
              <a:t>PORTERS GENERIC STRATEGY</a:t>
            </a: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pPr marL="457200" lvl="0" indent="-457200">
              <a:buNone/>
            </a:pPr>
            <a:endParaRPr lang="en-US" sz="2000" b="1" dirty="0"/>
          </a:p>
          <a:p>
            <a:pPr marL="457200" lvl="0" indent="-457200">
              <a:buNone/>
            </a:pPr>
            <a:endParaRPr lang="en-US" sz="2000" b="1" dirty="0"/>
          </a:p>
          <a:p>
            <a:pPr marL="457200" lvl="0" indent="-457200">
              <a:buNone/>
            </a:pPr>
            <a:r>
              <a:rPr lang="en-US" sz="2800" b="1" dirty="0"/>
              <a:t>LOWER COST</a:t>
            </a:r>
          </a:p>
          <a:p>
            <a:pPr marL="457200" lvl="0" indent="-457200">
              <a:buNone/>
            </a:pPr>
            <a:endParaRPr lang="en-US" sz="2800" b="1" dirty="0"/>
          </a:p>
          <a:p>
            <a:pPr marL="457200" lvl="0" indent="-457200">
              <a:buNone/>
            </a:pPr>
            <a:endParaRPr lang="en-US" sz="2800" b="1" dirty="0"/>
          </a:p>
          <a:p>
            <a:pPr marL="457200" lvl="0" indent="-457200">
              <a:buNone/>
            </a:pPr>
            <a:r>
              <a:rPr lang="en-US" sz="2800" b="1" dirty="0"/>
              <a:t>DIFFERANTIATION.</a:t>
            </a:r>
          </a:p>
          <a:p>
            <a:pPr marL="457200" lvl="0" indent="-457200">
              <a:buNone/>
            </a:pPr>
            <a:endParaRPr lang="en-US" sz="2000" b="1" dirty="0"/>
          </a:p>
          <a:p>
            <a:pPr marL="457200" lvl="0" indent="-45720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086061684"/>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EA0E4-D727-8A69-D508-044D5780887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8A36A7E-B6CB-FBEE-403B-88A209A0E8FE}"/>
              </a:ext>
            </a:extLst>
          </p:cNvPr>
          <p:cNvSpPr>
            <a:spLocks noGrp="1"/>
          </p:cNvSpPr>
          <p:nvPr>
            <p:ph idx="1"/>
          </p:nvPr>
        </p:nvSpPr>
        <p:spPr/>
        <p:txBody>
          <a:bodyPr/>
          <a:lstStyle/>
          <a:p>
            <a:endParaRPr lang="en-IN"/>
          </a:p>
        </p:txBody>
      </p:sp>
      <p:pic>
        <p:nvPicPr>
          <p:cNvPr id="3074" name="Picture 2">
            <a:extLst>
              <a:ext uri="{FF2B5EF4-FFF2-40B4-BE49-F238E27FC236}">
                <a16:creationId xmlns:a16="http://schemas.microsoft.com/office/drawing/2014/main" id="{43B65713-7758-3BE6-5C5B-D6971A4D1A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3844" y="152591"/>
            <a:ext cx="8376311" cy="64403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01893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23E3F61-1A7A-5640-7C9E-23767CF9DEB7}"/>
              </a:ext>
            </a:extLst>
          </p:cNvPr>
          <p:cNvSpPr>
            <a:spLocks noGrp="1"/>
          </p:cNvSpPr>
          <p:nvPr>
            <p:ph type="title"/>
          </p:nvPr>
        </p:nvSpPr>
        <p:spPr/>
        <p:txBody>
          <a:bodyPr/>
          <a:lstStyle/>
          <a:p>
            <a:r>
              <a:rPr lang="en-US" dirty="0">
                <a:latin typeface="Aptos" panose="020B0004020202020204" pitchFamily="34" charset="0"/>
              </a:rPr>
              <a:t>Balance Sheet</a:t>
            </a:r>
            <a:endParaRPr lang="en-IN" dirty="0">
              <a:latin typeface="Aptos" panose="020B0004020202020204" pitchFamily="34" charset="0"/>
            </a:endParaRPr>
          </a:p>
        </p:txBody>
      </p:sp>
      <p:sp>
        <p:nvSpPr>
          <p:cNvPr id="5" name="Content Placeholder 4">
            <a:extLst>
              <a:ext uri="{FF2B5EF4-FFF2-40B4-BE49-F238E27FC236}">
                <a16:creationId xmlns:a16="http://schemas.microsoft.com/office/drawing/2014/main" id="{338B5034-F4A1-3735-9804-0BE94CCC1427}"/>
              </a:ext>
            </a:extLst>
          </p:cNvPr>
          <p:cNvSpPr>
            <a:spLocks noGrp="1"/>
          </p:cNvSpPr>
          <p:nvPr>
            <p:ph idx="1"/>
          </p:nvPr>
        </p:nvSpPr>
        <p:spPr/>
        <p:txBody>
          <a:bodyPr>
            <a:normAutofit lnSpcReduction="10000"/>
          </a:bodyPr>
          <a:lstStyle/>
          <a:p>
            <a:pPr algn="just"/>
            <a:r>
              <a:rPr lang="en-US" dirty="0">
                <a:latin typeface="Aptos" panose="020B0004020202020204" pitchFamily="34" charset="0"/>
              </a:rPr>
              <a:t>Reports assets, liabilities, and equity at a specific point in time</a:t>
            </a:r>
          </a:p>
          <a:p>
            <a:pPr algn="just"/>
            <a:endParaRPr lang="en-US" dirty="0">
              <a:latin typeface="Aptos" panose="020B0004020202020204" pitchFamily="34" charset="0"/>
            </a:endParaRPr>
          </a:p>
          <a:p>
            <a:pPr algn="just"/>
            <a:r>
              <a:rPr lang="en-US" dirty="0">
                <a:latin typeface="Aptos" panose="020B0004020202020204" pitchFamily="34" charset="0"/>
              </a:rPr>
              <a:t>What the company currently holds and owns</a:t>
            </a:r>
          </a:p>
          <a:p>
            <a:pPr algn="just"/>
            <a:endParaRPr lang="en-US" dirty="0">
              <a:latin typeface="Aptos" panose="020B0004020202020204" pitchFamily="34" charset="0"/>
            </a:endParaRPr>
          </a:p>
          <a:p>
            <a:pPr algn="just"/>
            <a:r>
              <a:rPr lang="en-US" dirty="0">
                <a:latin typeface="Aptos" panose="020B0004020202020204" pitchFamily="34" charset="0"/>
              </a:rPr>
              <a:t>The balance sheet is a </a:t>
            </a:r>
            <a:r>
              <a:rPr lang="en-US" b="1" dirty="0">
                <a:latin typeface="Aptos" panose="020B0004020202020204" pitchFamily="34" charset="0"/>
              </a:rPr>
              <a:t>snapshot</a:t>
            </a:r>
            <a:r>
              <a:rPr lang="en-US" dirty="0">
                <a:latin typeface="Aptos" panose="020B0004020202020204" pitchFamily="34" charset="0"/>
              </a:rPr>
              <a:t> that tells you what a company is worth at a single moment</a:t>
            </a:r>
            <a:endParaRPr lang="en-IN" dirty="0">
              <a:latin typeface="Aptos" panose="020B0004020202020204" pitchFamily="34" charset="0"/>
            </a:endParaRPr>
          </a:p>
        </p:txBody>
      </p:sp>
    </p:spTree>
    <p:extLst>
      <p:ext uri="{BB962C8B-B14F-4D97-AF65-F5344CB8AC3E}">
        <p14:creationId xmlns:p14="http://schemas.microsoft.com/office/powerpoint/2010/main" val="15081331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he image illustrates the Golden Equation, which shows that the total assets (resources owned) must equal the sum of liabilities (what is owed) and shareholders' equity (net value) to maintain balance in financial accounting.&#10;&#10;AI-generated content may be incorrect.">
            <a:extLst>
              <a:ext uri="{FF2B5EF4-FFF2-40B4-BE49-F238E27FC236}">
                <a16:creationId xmlns:a16="http://schemas.microsoft.com/office/drawing/2014/main" id="{03CE309C-5B99-7485-55E2-907A13EE63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77186"/>
            <a:ext cx="9144000" cy="5103628"/>
          </a:xfrm>
          <a:prstGeom prst="rect">
            <a:avLst/>
          </a:prstGeom>
        </p:spPr>
      </p:pic>
    </p:spTree>
    <p:extLst>
      <p:ext uri="{BB962C8B-B14F-4D97-AF65-F5344CB8AC3E}">
        <p14:creationId xmlns:p14="http://schemas.microsoft.com/office/powerpoint/2010/main" val="16767925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63A87-7624-5ED5-E4C9-90D507020EE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3C6D6A9-6FE3-F7C9-D6D7-C70FCCF8BFA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877186"/>
            <a:ext cx="9144000" cy="5103627"/>
          </a:xfrm>
          <a:prstGeom prst="rect">
            <a:avLst/>
          </a:prstGeom>
        </p:spPr>
      </p:pic>
    </p:spTree>
    <p:extLst>
      <p:ext uri="{BB962C8B-B14F-4D97-AF65-F5344CB8AC3E}">
        <p14:creationId xmlns:p14="http://schemas.microsoft.com/office/powerpoint/2010/main" val="26959653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62A7E-3286-99C0-3B8A-4304EA886D7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6088B63-F3DB-08B9-502F-B8BD9F2DD41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375257"/>
            <a:ext cx="9142977" cy="6107485"/>
          </a:xfrm>
          <a:prstGeom prst="rect">
            <a:avLst/>
          </a:prstGeom>
        </p:spPr>
      </p:pic>
    </p:spTree>
    <p:extLst>
      <p:ext uri="{BB962C8B-B14F-4D97-AF65-F5344CB8AC3E}">
        <p14:creationId xmlns:p14="http://schemas.microsoft.com/office/powerpoint/2010/main" val="11871249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EC114-09D6-DBA1-BAC5-A147B0B04EE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55CED64-53F3-7BE3-7014-5AAB7BE614F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 y="877186"/>
            <a:ext cx="9143998" cy="5103627"/>
          </a:xfrm>
          <a:prstGeom prst="rect">
            <a:avLst/>
          </a:prstGeom>
        </p:spPr>
      </p:pic>
    </p:spTree>
    <p:extLst>
      <p:ext uri="{BB962C8B-B14F-4D97-AF65-F5344CB8AC3E}">
        <p14:creationId xmlns:p14="http://schemas.microsoft.com/office/powerpoint/2010/main" val="11082324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6A1E4-A72D-F16A-A4A8-97E806C2463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82E023A-0DC3-254E-A094-31AB9AB6FDEC}"/>
              </a:ext>
            </a:extLst>
          </p:cNvPr>
          <p:cNvSpPr>
            <a:spLocks noGrp="1"/>
          </p:cNvSpPr>
          <p:nvPr>
            <p:ph type="title"/>
          </p:nvPr>
        </p:nvSpPr>
        <p:spPr/>
        <p:txBody>
          <a:bodyPr/>
          <a:lstStyle/>
          <a:p>
            <a:r>
              <a:rPr lang="en-US" dirty="0">
                <a:latin typeface="Aptos" panose="020B0004020202020204" pitchFamily="34" charset="0"/>
              </a:rPr>
              <a:t>P&amp;L Statement</a:t>
            </a:r>
            <a:endParaRPr lang="en-IN" dirty="0">
              <a:latin typeface="Aptos" panose="020B0004020202020204" pitchFamily="34" charset="0"/>
            </a:endParaRPr>
          </a:p>
        </p:txBody>
      </p:sp>
      <p:sp>
        <p:nvSpPr>
          <p:cNvPr id="5" name="Content Placeholder 4">
            <a:extLst>
              <a:ext uri="{FF2B5EF4-FFF2-40B4-BE49-F238E27FC236}">
                <a16:creationId xmlns:a16="http://schemas.microsoft.com/office/drawing/2014/main" id="{B3875494-B919-DFE3-95BC-B8294ED01A3A}"/>
              </a:ext>
            </a:extLst>
          </p:cNvPr>
          <p:cNvSpPr>
            <a:spLocks noGrp="1"/>
          </p:cNvSpPr>
          <p:nvPr>
            <p:ph idx="1"/>
          </p:nvPr>
        </p:nvSpPr>
        <p:spPr/>
        <p:txBody>
          <a:bodyPr/>
          <a:lstStyle/>
          <a:p>
            <a:pPr algn="just"/>
            <a:r>
              <a:rPr lang="en-US" dirty="0">
                <a:latin typeface="Aptos" panose="020B0004020202020204" pitchFamily="34" charset="0"/>
              </a:rPr>
              <a:t>Summarises the </a:t>
            </a:r>
            <a:r>
              <a:rPr lang="en-US" b="1" dirty="0">
                <a:latin typeface="Aptos" panose="020B0004020202020204" pitchFamily="34" charset="0"/>
              </a:rPr>
              <a:t>revenues</a:t>
            </a:r>
            <a:r>
              <a:rPr lang="en-US" dirty="0">
                <a:latin typeface="Aptos" panose="020B0004020202020204" pitchFamily="34" charset="0"/>
              </a:rPr>
              <a:t>, </a:t>
            </a:r>
            <a:r>
              <a:rPr lang="en-US" b="1" dirty="0">
                <a:latin typeface="Aptos" panose="020B0004020202020204" pitchFamily="34" charset="0"/>
              </a:rPr>
              <a:t>costs</a:t>
            </a:r>
            <a:r>
              <a:rPr lang="en-US" dirty="0">
                <a:latin typeface="Aptos" panose="020B0004020202020204" pitchFamily="34" charset="0"/>
              </a:rPr>
              <a:t> and </a:t>
            </a:r>
            <a:r>
              <a:rPr lang="en-US" b="1" dirty="0">
                <a:latin typeface="Aptos" panose="020B0004020202020204" pitchFamily="34" charset="0"/>
              </a:rPr>
              <a:t>expenses</a:t>
            </a:r>
            <a:r>
              <a:rPr lang="en-US" dirty="0">
                <a:latin typeface="Aptos" panose="020B0004020202020204" pitchFamily="34" charset="0"/>
              </a:rPr>
              <a:t> incurred during a specific period of </a:t>
            </a:r>
            <a:r>
              <a:rPr lang="en-US" b="1" dirty="0">
                <a:latin typeface="Aptos" panose="020B0004020202020204" pitchFamily="34" charset="0"/>
              </a:rPr>
              <a:t>time</a:t>
            </a:r>
          </a:p>
          <a:p>
            <a:pPr algn="just"/>
            <a:endParaRPr lang="en-US" dirty="0">
              <a:latin typeface="Aptos" panose="020B0004020202020204" pitchFamily="34" charset="0"/>
            </a:endParaRPr>
          </a:p>
          <a:p>
            <a:pPr algn="just"/>
            <a:r>
              <a:rPr lang="en-IN" dirty="0">
                <a:latin typeface="Aptos" panose="020B0004020202020204" pitchFamily="34" charset="0"/>
              </a:rPr>
              <a:t>Captures the flow of activity over a period of time like a </a:t>
            </a:r>
            <a:r>
              <a:rPr lang="en-IN" b="1" dirty="0">
                <a:latin typeface="Aptos" panose="020B0004020202020204" pitchFamily="34" charset="0"/>
              </a:rPr>
              <a:t>movie</a:t>
            </a:r>
            <a:r>
              <a:rPr lang="en-IN" dirty="0">
                <a:latin typeface="Aptos" panose="020B0004020202020204" pitchFamily="34" charset="0"/>
              </a:rPr>
              <a:t>, </a:t>
            </a:r>
            <a:r>
              <a:rPr lang="en-US" dirty="0">
                <a:latin typeface="Aptos" panose="020B0004020202020204" pitchFamily="34" charset="0"/>
              </a:rPr>
              <a:t>revealing the story of how it generated profit or incurred loss through its daily operations</a:t>
            </a:r>
            <a:endParaRPr lang="en-IN" dirty="0">
              <a:latin typeface="Aptos" panose="020B0004020202020204" pitchFamily="34" charset="0"/>
            </a:endParaRPr>
          </a:p>
        </p:txBody>
      </p:sp>
    </p:spTree>
    <p:extLst>
      <p:ext uri="{BB962C8B-B14F-4D97-AF65-F5344CB8AC3E}">
        <p14:creationId xmlns:p14="http://schemas.microsoft.com/office/powerpoint/2010/main" val="33627458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6CF6F-C204-774F-FE42-D7436E4C868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E298027-2AF9-6021-2517-E6B18976614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 y="877186"/>
            <a:ext cx="9143998" cy="5103626"/>
          </a:xfrm>
          <a:prstGeom prst="rect">
            <a:avLst/>
          </a:prstGeom>
        </p:spPr>
      </p:pic>
    </p:spTree>
    <p:extLst>
      <p:ext uri="{BB962C8B-B14F-4D97-AF65-F5344CB8AC3E}">
        <p14:creationId xmlns:p14="http://schemas.microsoft.com/office/powerpoint/2010/main" val="24665435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2C3B1-B954-1006-F449-E025B41B3DE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06C5336-A1C6-F74B-E2AA-32449B83A06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580889" y="0"/>
            <a:ext cx="5982222" cy="6858000"/>
          </a:xfrm>
          <a:prstGeom prst="rect">
            <a:avLst/>
          </a:prstGeom>
          <a:ln>
            <a:solidFill>
              <a:schemeClr val="tx1"/>
            </a:solidFill>
          </a:ln>
        </p:spPr>
      </p:pic>
    </p:spTree>
    <p:extLst>
      <p:ext uri="{BB962C8B-B14F-4D97-AF65-F5344CB8AC3E}">
        <p14:creationId xmlns:p14="http://schemas.microsoft.com/office/powerpoint/2010/main" val="29481225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2BA55-D8C6-8E3C-6455-7136B90D1B4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2A9F949-6B05-3603-FAC0-B51975A7881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 y="877186"/>
            <a:ext cx="9143996" cy="5103626"/>
          </a:xfrm>
          <a:prstGeom prst="rect">
            <a:avLst/>
          </a:prstGeom>
        </p:spPr>
      </p:pic>
    </p:spTree>
    <p:extLst>
      <p:ext uri="{BB962C8B-B14F-4D97-AF65-F5344CB8AC3E}">
        <p14:creationId xmlns:p14="http://schemas.microsoft.com/office/powerpoint/2010/main" val="21282376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91231-D9BF-2CB8-830B-2EAEC4C2D47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4B7617D-EDF5-4A77-9000-F5519223F37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 y="877186"/>
            <a:ext cx="9143996" cy="5103625"/>
          </a:xfrm>
          <a:prstGeom prst="rect">
            <a:avLst/>
          </a:prstGeom>
        </p:spPr>
      </p:pic>
    </p:spTree>
    <p:extLst>
      <p:ext uri="{BB962C8B-B14F-4D97-AF65-F5344CB8AC3E}">
        <p14:creationId xmlns:p14="http://schemas.microsoft.com/office/powerpoint/2010/main" val="23405608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6F087-B434-056C-6287-4292641A4F4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3AB81F8-1921-F9A3-BFE8-97342460845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 y="877186"/>
            <a:ext cx="9143996" cy="5103625"/>
          </a:xfrm>
          <a:prstGeom prst="rect">
            <a:avLst/>
          </a:prstGeom>
        </p:spPr>
      </p:pic>
    </p:spTree>
    <p:extLst>
      <p:ext uri="{BB962C8B-B14F-4D97-AF65-F5344CB8AC3E}">
        <p14:creationId xmlns:p14="http://schemas.microsoft.com/office/powerpoint/2010/main" val="34464030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A517E-B544-B23B-5C92-8CB56FFD57F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5B725EF-87D2-5DCA-7938-0972A5C5613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 y="877186"/>
            <a:ext cx="9143996" cy="5103625"/>
          </a:xfrm>
          <a:prstGeom prst="rect">
            <a:avLst/>
          </a:prstGeom>
        </p:spPr>
      </p:pic>
    </p:spTree>
    <p:extLst>
      <p:ext uri="{BB962C8B-B14F-4D97-AF65-F5344CB8AC3E}">
        <p14:creationId xmlns:p14="http://schemas.microsoft.com/office/powerpoint/2010/main" val="20936788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BBCE1-84A2-3D98-8FEF-48A8B6926D6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9F4B7FA-CCCC-D548-3423-D409C0A96DE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 y="877186"/>
            <a:ext cx="9143996" cy="5103625"/>
          </a:xfrm>
          <a:prstGeom prst="rect">
            <a:avLst/>
          </a:prstGeom>
        </p:spPr>
      </p:pic>
    </p:spTree>
    <p:extLst>
      <p:ext uri="{BB962C8B-B14F-4D97-AF65-F5344CB8AC3E}">
        <p14:creationId xmlns:p14="http://schemas.microsoft.com/office/powerpoint/2010/main" val="9070672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5D0086E-1BDD-2445-43DA-A1C4CABCF180}"/>
              </a:ext>
            </a:extLst>
          </p:cNvPr>
          <p:cNvSpPr>
            <a:spLocks noGrp="1"/>
          </p:cNvSpPr>
          <p:nvPr>
            <p:ph type="title"/>
          </p:nvPr>
        </p:nvSpPr>
        <p:spPr/>
        <p:txBody>
          <a:bodyPr/>
          <a:lstStyle/>
          <a:p>
            <a:r>
              <a:rPr lang="en-US" dirty="0">
                <a:latin typeface="Aptos" panose="020B0004020202020204" pitchFamily="34" charset="0"/>
              </a:rPr>
              <a:t>References</a:t>
            </a:r>
            <a:endParaRPr lang="en-IN" dirty="0">
              <a:latin typeface="Aptos" panose="020B0004020202020204" pitchFamily="34" charset="0"/>
            </a:endParaRPr>
          </a:p>
        </p:txBody>
      </p:sp>
      <p:sp>
        <p:nvSpPr>
          <p:cNvPr id="4" name="Content Placeholder 3">
            <a:extLst>
              <a:ext uri="{FF2B5EF4-FFF2-40B4-BE49-F238E27FC236}">
                <a16:creationId xmlns:a16="http://schemas.microsoft.com/office/drawing/2014/main" id="{3143880D-0200-68AE-8DFC-CE7158C25201}"/>
              </a:ext>
            </a:extLst>
          </p:cNvPr>
          <p:cNvSpPr>
            <a:spLocks noGrp="1"/>
          </p:cNvSpPr>
          <p:nvPr>
            <p:ph idx="1"/>
          </p:nvPr>
        </p:nvSpPr>
        <p:spPr/>
        <p:txBody>
          <a:bodyPr/>
          <a:lstStyle/>
          <a:p>
            <a:r>
              <a:rPr lang="en-IN" dirty="0">
                <a:latin typeface="Aptos" panose="020B0004020202020204" pitchFamily="34" charset="0"/>
                <a:hlinkClick r:id="rId2"/>
              </a:rPr>
              <a:t>https://www.investopedia.com/ask/answers/121514/what-difference-between-pl-statement-and-balance-sheet.asp</a:t>
            </a:r>
            <a:r>
              <a:rPr lang="en-IN" dirty="0">
                <a:latin typeface="Aptos" panose="020B0004020202020204" pitchFamily="34" charset="0"/>
              </a:rPr>
              <a:t> </a:t>
            </a:r>
          </a:p>
          <a:p>
            <a:r>
              <a:rPr lang="en-IN" dirty="0">
                <a:latin typeface="Aptos" panose="020B0004020202020204" pitchFamily="34" charset="0"/>
                <a:hlinkClick r:id="rId3"/>
              </a:rPr>
              <a:t>https://youtu.be/_dANzaInfvA?si=QzC0SfYsTZ9JOz4M</a:t>
            </a:r>
            <a:r>
              <a:rPr lang="en-IN" dirty="0">
                <a:latin typeface="Aptos" panose="020B0004020202020204" pitchFamily="34" charset="0"/>
              </a:rPr>
              <a:t> </a:t>
            </a:r>
          </a:p>
        </p:txBody>
      </p:sp>
    </p:spTree>
    <p:extLst>
      <p:ext uri="{BB962C8B-B14F-4D97-AF65-F5344CB8AC3E}">
        <p14:creationId xmlns:p14="http://schemas.microsoft.com/office/powerpoint/2010/main" val="42391188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12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123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123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solidFill>
                  <a:schemeClr val="bg1"/>
                </a:solidFill>
                <a:latin typeface="Calibri" pitchFamily="34" charset="0"/>
              </a:rPr>
              <a:t>FINANANCE AND ACCOUNTS</a:t>
            </a: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Autofit/>
          </a:bodyPr>
          <a:lstStyle/>
          <a:p>
            <a:r>
              <a:rPr lang="en-US" b="1" u="sng" dirty="0"/>
              <a:t>BUDGET</a:t>
            </a:r>
          </a:p>
          <a:p>
            <a:endParaRPr lang="en-US" b="1" u="sng" dirty="0"/>
          </a:p>
          <a:p>
            <a:r>
              <a:rPr lang="en-US" b="1" dirty="0"/>
              <a:t>DEFICIT BUDGET AND WHAT IT MEANS</a:t>
            </a:r>
          </a:p>
          <a:p>
            <a:endParaRPr lang="en-US" b="1" dirty="0"/>
          </a:p>
          <a:p>
            <a:r>
              <a:rPr lang="en-US" b="1" dirty="0"/>
              <a:t>CAPITAL AND REVENUE EXPENDITURE</a:t>
            </a:r>
          </a:p>
          <a:p>
            <a:endParaRPr lang="en-US" b="1" dirty="0"/>
          </a:p>
          <a:p>
            <a:r>
              <a:rPr lang="en-US" b="1" dirty="0"/>
              <a:t>DEPRECIATION AND INCOME TAX</a:t>
            </a:r>
          </a:p>
          <a:p>
            <a:endParaRPr lang="en-US" b="1" dirty="0"/>
          </a:p>
          <a:p>
            <a:endParaRPr lang="en-US" b="1" dirty="0"/>
          </a:p>
          <a:p>
            <a:endParaRPr lang="en-US" b="1" dirty="0"/>
          </a:p>
          <a:p>
            <a:endParaRPr lang="en-US" b="1" dirty="0"/>
          </a:p>
          <a:p>
            <a:pPr marL="457200" lvl="0" indent="-457200">
              <a:buNone/>
            </a:pPr>
            <a:endParaRPr lang="en-US" b="1" dirty="0"/>
          </a:p>
          <a:p>
            <a:pPr marL="457200" lvl="0" indent="-457200">
              <a:buNone/>
            </a:pPr>
            <a:r>
              <a:rPr lang="en-US" b="1" dirty="0"/>
              <a:t>These compromises might play out differently if the time period or time cycles are affected.</a:t>
            </a:r>
          </a:p>
          <a:p>
            <a:pPr marL="457200" lvl="0" indent="-457200">
              <a:buNone/>
            </a:pPr>
            <a:endParaRPr lang="en-US" b="1" dirty="0"/>
          </a:p>
          <a:p>
            <a:pPr marL="457200" lvl="0" indent="-457200">
              <a:buNone/>
            </a:pPr>
            <a:r>
              <a:rPr lang="en-US" b="1" dirty="0"/>
              <a:t>To Sum up there are no specific rules for effects of scale up.</a:t>
            </a:r>
          </a:p>
          <a:p>
            <a:pPr marL="457200" lvl="0" indent="-457200">
              <a:buNone/>
            </a:pPr>
            <a:r>
              <a:rPr lang="en-US" b="1" dirty="0"/>
              <a:t>The judgement of the Engineers and Chemists should be considered for factors affecting scale up</a:t>
            </a:r>
          </a:p>
          <a:p>
            <a:pPr marL="457200" lvl="0" indent="-457200">
              <a:buNone/>
            </a:pPr>
            <a:r>
              <a:rPr lang="en-US" b="1" dirty="0"/>
              <a:t>AND</a:t>
            </a:r>
          </a:p>
          <a:p>
            <a:pPr marL="457200" lvl="0" indent="-457200">
              <a:buNone/>
            </a:pPr>
            <a:r>
              <a:rPr lang="en-US" b="1" dirty="0"/>
              <a:t>All the parameters independently verified through experiments in lab or Pilot Plant</a:t>
            </a:r>
          </a:p>
          <a:p>
            <a:pPr marL="457200" lvl="0" indent="-457200">
              <a:buNone/>
            </a:pPr>
            <a:endParaRPr lang="en-US" b="1" dirty="0"/>
          </a:p>
          <a:p>
            <a:pPr marL="0" lvl="0" indent="0">
              <a:buNone/>
            </a:pPr>
            <a:endParaRPr lang="en-US" b="1" dirty="0"/>
          </a:p>
          <a:p>
            <a:pPr marL="0" lvl="0" indent="0">
              <a:buNone/>
            </a:pPr>
            <a:endParaRPr lang="en-US" b="1" dirty="0"/>
          </a:p>
          <a:p>
            <a:pPr marL="0" lvl="0" indent="0">
              <a:buNone/>
            </a:pPr>
            <a:endParaRPr lang="en-US" b="1" dirty="0"/>
          </a:p>
          <a:p>
            <a:pPr marL="0" lvl="0" indent="0">
              <a:buNone/>
            </a:pPr>
            <a:endParaRPr lang="en-US" b="1" dirty="0"/>
          </a:p>
          <a:p>
            <a:pPr marL="0" lvl="0" indent="0">
              <a:buNone/>
            </a:pPr>
            <a:endParaRPr lang="en-US" b="1" dirty="0"/>
          </a:p>
          <a:p>
            <a:pPr marL="0" lvl="0" indent="0">
              <a:buNone/>
            </a:pPr>
            <a:endParaRPr lang="en-US" b="1" dirty="0"/>
          </a:p>
          <a:p>
            <a:pPr marL="0" lvl="0" indent="0">
              <a:buNone/>
            </a:pPr>
            <a:endParaRPr lang="en-US" b="1" dirty="0"/>
          </a:p>
          <a:p>
            <a:pPr marL="0" lvl="0" indent="0">
              <a:buNone/>
            </a:pPr>
            <a:endParaRPr lang="en-US" b="1" dirty="0"/>
          </a:p>
          <a:p>
            <a:pPr marL="0" lvl="0" indent="0">
              <a:buNone/>
            </a:pPr>
            <a:endParaRPr lang="en-US" b="1" dirty="0"/>
          </a:p>
          <a:p>
            <a:pPr marL="0" lvl="0" indent="0">
              <a:buNone/>
            </a:pPr>
            <a:endParaRPr lang="en-US" b="1" dirty="0"/>
          </a:p>
          <a:p>
            <a:pPr marL="0" lvl="0" indent="0">
              <a:buNone/>
            </a:pPr>
            <a:endParaRPr lang="en-US" b="1" dirty="0"/>
          </a:p>
          <a:p>
            <a:pPr marL="0" lvl="0" indent="0">
              <a:buNone/>
            </a:pPr>
            <a:endParaRPr lang="en-US" b="1" dirty="0"/>
          </a:p>
          <a:p>
            <a:pPr marL="0" lvl="0" indent="0">
              <a:buNone/>
            </a:pPr>
            <a:endParaRPr lang="en-US" b="1" dirty="0"/>
          </a:p>
          <a:p>
            <a:pPr marL="0" lvl="0" indent="0">
              <a:buNone/>
            </a:pPr>
            <a:endParaRPr lang="en-US" b="1" dirty="0"/>
          </a:p>
          <a:p>
            <a:pPr marL="0" lvl="0" indent="0">
              <a:buNone/>
            </a:pPr>
            <a:endParaRPr lang="en-US" b="1" dirty="0"/>
          </a:p>
          <a:p>
            <a:pPr marL="0" lvl="0" indent="0">
              <a:buNone/>
            </a:pPr>
            <a:endParaRPr lang="en-US" b="1" dirty="0"/>
          </a:p>
          <a:p>
            <a:pPr marL="0" lvl="0" indent="0">
              <a:buNone/>
            </a:pPr>
            <a:endParaRPr lang="en-US" b="1" dirty="0"/>
          </a:p>
          <a:p>
            <a:pPr marL="0" lvl="0" indent="0">
              <a:buNone/>
            </a:pPr>
            <a:endParaRPr lang="en-US" b="1" dirty="0"/>
          </a:p>
          <a:p>
            <a:pPr marL="0" lvl="0" indent="0">
              <a:buNone/>
            </a:pPr>
            <a:endParaRPr lang="en-US" b="1" dirty="0"/>
          </a:p>
          <a:p>
            <a:pPr marL="0" lvl="0" indent="0">
              <a:buNone/>
            </a:pPr>
            <a:endParaRPr lang="en-US" b="1" dirty="0"/>
          </a:p>
          <a:p>
            <a:pPr marL="0" lvl="0" indent="0">
              <a:buNone/>
            </a:pPr>
            <a:endParaRPr lang="en-US" b="1" dirty="0"/>
          </a:p>
          <a:p>
            <a:pPr marL="0" lvl="0" indent="0">
              <a:buNone/>
            </a:pPr>
            <a:endParaRPr lang="en-US" b="1" dirty="0"/>
          </a:p>
          <a:p>
            <a:pPr marL="0" lvl="0" indent="0">
              <a:buNone/>
            </a:pPr>
            <a:endParaRPr lang="en-US" b="1" dirty="0"/>
          </a:p>
          <a:p>
            <a:pPr marL="0" lvl="0" indent="0">
              <a:buNone/>
            </a:pPr>
            <a:endParaRPr lang="en-US" b="1" dirty="0"/>
          </a:p>
          <a:p>
            <a:pPr marL="0" lvl="0" indent="0">
              <a:buNone/>
            </a:pPr>
            <a:endParaRPr lang="en-US"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08668004"/>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15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153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153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solidFill>
                  <a:schemeClr val="bg1"/>
                </a:solidFill>
                <a:latin typeface="Calibri" pitchFamily="34" charset="0"/>
              </a:rPr>
              <a:t>FINANCE AND ACCOUNTS</a:t>
            </a: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r>
              <a:rPr lang="en-US" b="1" u="sng" dirty="0"/>
              <a:t>SURPLUS BUDGET</a:t>
            </a:r>
            <a:endParaRPr lang="en-US" sz="2000" b="1" dirty="0"/>
          </a:p>
          <a:p>
            <a:pPr marL="457200" lvl="0" indent="-457200">
              <a:buAutoNum type="arabicPeriod"/>
            </a:pPr>
            <a:r>
              <a:rPr lang="en-US" sz="2800" dirty="0"/>
              <a:t>PROFIT AFTER TAX</a:t>
            </a:r>
          </a:p>
          <a:p>
            <a:pPr marL="457200" lvl="0" indent="-457200">
              <a:buAutoNum type="arabicPeriod"/>
            </a:pPr>
            <a:endParaRPr lang="en-US" sz="2800" dirty="0"/>
          </a:p>
          <a:p>
            <a:pPr marL="457200" lvl="0" indent="-457200">
              <a:buAutoNum type="arabicPeriod"/>
            </a:pPr>
            <a:r>
              <a:rPr lang="en-US" sz="2800" dirty="0"/>
              <a:t>CARRY OVER OR DISDURSAL</a:t>
            </a:r>
          </a:p>
          <a:p>
            <a:pPr marL="457200" lvl="0" indent="-457200">
              <a:buAutoNum type="arabicPeriod"/>
            </a:pPr>
            <a:endParaRPr lang="en-US" sz="2800" dirty="0"/>
          </a:p>
          <a:p>
            <a:pPr marL="457200" lvl="0" indent="-457200">
              <a:buAutoNum type="arabicPeriod"/>
            </a:pPr>
            <a:r>
              <a:rPr lang="en-US" sz="2800" dirty="0"/>
              <a:t>EBIDTA</a:t>
            </a:r>
            <a:endParaRPr lang="en-US" sz="2400" dirty="0"/>
          </a:p>
          <a:p>
            <a:pPr marL="457200" lvl="0" indent="-457200">
              <a:buNone/>
            </a:pPr>
            <a:endParaRPr lang="en-US" sz="2000" b="1" dirty="0"/>
          </a:p>
          <a:p>
            <a:pPr marL="457200" lvl="0" indent="-45720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58079406"/>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3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32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32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solidFill>
                  <a:schemeClr val="bg1"/>
                </a:solidFill>
                <a:latin typeface="Calibri" pitchFamily="34" charset="0"/>
              </a:rPr>
              <a:t>INVESTMENT DECISIONS</a:t>
            </a: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pPr marL="0" lvl="0" indent="0">
              <a:buNone/>
            </a:pPr>
            <a:r>
              <a:rPr lang="en-US" sz="2000" b="1" dirty="0"/>
              <a:t>  </a:t>
            </a:r>
          </a:p>
          <a:p>
            <a:pPr marL="0" lvl="0" indent="0">
              <a:buNone/>
            </a:pPr>
            <a:r>
              <a:rPr lang="en-US" sz="2800" b="1" dirty="0"/>
              <a:t>  TECHNICAL EVALUATION.</a:t>
            </a:r>
          </a:p>
          <a:p>
            <a:pPr marL="0" lvl="0" indent="0">
              <a:buNone/>
            </a:pPr>
            <a:r>
              <a:rPr lang="en-US" sz="2800" b="1" dirty="0"/>
              <a:t>  FEASIBILITY</a:t>
            </a:r>
          </a:p>
          <a:p>
            <a:pPr marL="0" lvl="0" indent="0">
              <a:buNone/>
            </a:pPr>
            <a:r>
              <a:rPr lang="en-US" sz="2800" b="1" dirty="0"/>
              <a:t>  ABILITY</a:t>
            </a:r>
          </a:p>
          <a:p>
            <a:pPr marL="0" lvl="0" indent="0">
              <a:buNone/>
            </a:pPr>
            <a:r>
              <a:rPr lang="en-US" sz="2800" b="1" dirty="0"/>
              <a:t>  COMPETETION</a:t>
            </a:r>
          </a:p>
          <a:p>
            <a:pPr marL="0" lvl="0" indent="0">
              <a:buNone/>
            </a:pPr>
            <a:r>
              <a:rPr lang="en-US" sz="2800" b="1" dirty="0"/>
              <a:t>   NOVELTY</a:t>
            </a:r>
          </a:p>
          <a:p>
            <a:pPr marL="0" lvl="0" indent="0">
              <a:buNone/>
            </a:pPr>
            <a:r>
              <a:rPr lang="en-US" sz="2800" b="1" dirty="0"/>
              <a:t>   DIFFERRACIATION OR LOW COST</a:t>
            </a:r>
          </a:p>
          <a:p>
            <a:pPr marL="0" lvl="0" indent="0">
              <a:buNone/>
            </a:pPr>
            <a:r>
              <a:rPr lang="en-US" sz="2800" b="1" dirty="0"/>
              <a:t>   GRASS ROOT OR EXISTING INFRASTRUCTURE</a:t>
            </a:r>
          </a:p>
          <a:p>
            <a:pPr marL="0" lvl="0" indent="0">
              <a:buNone/>
            </a:pPr>
            <a:r>
              <a:rPr lang="en-US" sz="2800" b="1" dirty="0"/>
              <a:t>   </a:t>
            </a:r>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206895764"/>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15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153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153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solidFill>
                  <a:schemeClr val="bg1"/>
                </a:solidFill>
                <a:latin typeface="Calibri" pitchFamily="34" charset="0"/>
              </a:rPr>
              <a:t>UNVESTMENT DECISIONS</a:t>
            </a: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pPr marL="0" lvl="0" indent="0">
              <a:buNone/>
            </a:pPr>
            <a:endParaRPr lang="en-US" sz="2000" b="1" dirty="0"/>
          </a:p>
          <a:p>
            <a:pPr marL="0" lvl="0" indent="0">
              <a:buNone/>
            </a:pPr>
            <a:r>
              <a:rPr lang="en-US" sz="2800" b="1" dirty="0"/>
              <a:t>    LOCATION</a:t>
            </a:r>
          </a:p>
          <a:p>
            <a:pPr marL="0" lvl="0" indent="0">
              <a:buNone/>
            </a:pPr>
            <a:r>
              <a:rPr lang="en-US" sz="2800" b="1" dirty="0"/>
              <a:t>    LAND ACQUISITION</a:t>
            </a:r>
          </a:p>
          <a:p>
            <a:pPr marL="0" lvl="0" indent="0">
              <a:buNone/>
            </a:pPr>
            <a:r>
              <a:rPr lang="en-US" sz="2800" b="1" dirty="0"/>
              <a:t>    OTHER HISTORICAL AND GEOGRAPHICAL FACTORS</a:t>
            </a:r>
          </a:p>
          <a:p>
            <a:pPr marL="0" lvl="0" indent="0">
              <a:buNone/>
            </a:pPr>
            <a:r>
              <a:rPr lang="en-US" sz="2800" b="1" dirty="0"/>
              <a:t>    AVAILIBILITY OF MANPOWER </a:t>
            </a:r>
          </a:p>
          <a:p>
            <a:pPr marL="0" lvl="0" indent="0">
              <a:buNone/>
            </a:pPr>
            <a:r>
              <a:rPr lang="en-US" sz="2800" b="1" dirty="0"/>
              <a:t>    ENVIRONMENTAL CLEARANCE.</a:t>
            </a:r>
          </a:p>
          <a:p>
            <a:pPr marL="0" lvl="0" indent="0">
              <a:buNone/>
            </a:pPr>
            <a:r>
              <a:rPr lang="en-US" sz="2800" b="1" dirty="0"/>
              <a:t>    OTHER RULES AND REGULATIONS.</a:t>
            </a:r>
          </a:p>
          <a:p>
            <a:pPr marL="0" lvl="0" indent="0">
              <a:buNone/>
            </a:pPr>
            <a:r>
              <a:rPr lang="en-US" sz="2800" b="1" dirty="0"/>
              <a:t>    CONSISTENCY WITH COMPANY PHILOSOPHY AND</a:t>
            </a:r>
          </a:p>
          <a:p>
            <a:pPr marL="0" lvl="0" indent="0">
              <a:buNone/>
            </a:pPr>
            <a:r>
              <a:rPr lang="en-US" sz="2800" b="1" dirty="0"/>
              <a:t>    CULTURE      </a:t>
            </a:r>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48192"/>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58079406"/>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15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153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153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solidFill>
                  <a:schemeClr val="bg1"/>
                </a:solidFill>
                <a:latin typeface="Calibri" pitchFamily="34" charset="0"/>
              </a:rPr>
              <a:t>INVESTMENT DECISIONS</a:t>
            </a: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pPr marL="457200" lvl="0" indent="-457200">
              <a:buNone/>
            </a:pPr>
            <a:endParaRPr lang="en-US" sz="2800" b="1" dirty="0"/>
          </a:p>
          <a:p>
            <a:pPr marL="0" lvl="0" indent="0">
              <a:buNone/>
            </a:pPr>
            <a:r>
              <a:rPr lang="en-US" sz="2800" b="1" dirty="0"/>
              <a:t>  RETURN ON INVESTMENT</a:t>
            </a:r>
          </a:p>
          <a:p>
            <a:pPr marL="0" lvl="0" indent="0">
              <a:buNone/>
            </a:pPr>
            <a:r>
              <a:rPr lang="en-US" sz="2800" b="1" dirty="0"/>
              <a:t>  AVAILIBILITY OF CASH FLOW.</a:t>
            </a:r>
          </a:p>
          <a:p>
            <a:pPr marL="0" lvl="0" indent="0">
              <a:buNone/>
            </a:pPr>
            <a:r>
              <a:rPr lang="en-US" sz="2800" b="1" dirty="0"/>
              <a:t>  BANKS NBFCs  OR OTHER INSTITUTIONS.</a:t>
            </a:r>
          </a:p>
          <a:p>
            <a:pPr marL="0" lvl="0" indent="0">
              <a:buNone/>
            </a:pPr>
            <a:r>
              <a:rPr lang="en-US" sz="2800" b="1" dirty="0"/>
              <a:t>  BACKWARD AREA BENEFITS</a:t>
            </a:r>
          </a:p>
          <a:p>
            <a:pPr marL="0" lvl="0" indent="0">
              <a:buNone/>
            </a:pPr>
            <a:r>
              <a:rPr lang="en-US" sz="2800" b="1" dirty="0"/>
              <a:t>  TIME FRAME OF  MONEY REQUIREMENT.</a:t>
            </a:r>
          </a:p>
          <a:p>
            <a:pPr marL="0" lvl="0" indent="0">
              <a:buNone/>
            </a:pPr>
            <a:r>
              <a:rPr lang="en-US" sz="2800" b="1" dirty="0"/>
              <a:t>   OPPORTUNITY COST.</a:t>
            </a: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58079406"/>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15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153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153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solidFill>
                  <a:schemeClr val="bg1"/>
                </a:solidFill>
                <a:latin typeface="Calibri" pitchFamily="34" charset="0"/>
              </a:rPr>
              <a:t>PRODUCT LIFE CYCLE</a:t>
            </a: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pPr marL="457200" lvl="0" indent="-457200">
              <a:buNone/>
            </a:pPr>
            <a:endParaRPr lang="en-US" sz="2000" b="1" dirty="0"/>
          </a:p>
          <a:p>
            <a:pPr marL="457200" lvl="0" indent="-457200">
              <a:buNone/>
            </a:pPr>
            <a:r>
              <a:rPr lang="en-US" sz="2800" b="1" dirty="0"/>
              <a:t> Estimation.</a:t>
            </a:r>
          </a:p>
          <a:p>
            <a:pPr marL="457200" lvl="0" indent="-457200">
              <a:buNone/>
            </a:pPr>
            <a:endParaRPr lang="en-US" sz="2800" b="1" dirty="0"/>
          </a:p>
          <a:p>
            <a:pPr marL="457200" lvl="0" indent="-457200">
              <a:buNone/>
            </a:pPr>
            <a:r>
              <a:rPr lang="en-US" sz="2800" b="1" dirty="0"/>
              <a:t> </a:t>
            </a:r>
            <a:r>
              <a:rPr lang="en-US" sz="2800" b="1" dirty="0" err="1"/>
              <a:t>Competetion</a:t>
            </a:r>
            <a:r>
              <a:rPr lang="en-US" sz="2800" b="1" dirty="0"/>
              <a:t>.</a:t>
            </a:r>
          </a:p>
          <a:p>
            <a:pPr marL="457200" lvl="0" indent="-457200">
              <a:buNone/>
            </a:pPr>
            <a:endParaRPr lang="en-US" sz="2800" b="1" dirty="0"/>
          </a:p>
          <a:p>
            <a:pPr marL="457200" lvl="0" indent="-457200">
              <a:buNone/>
            </a:pPr>
            <a:r>
              <a:rPr lang="en-US" sz="2800" b="1" dirty="0"/>
              <a:t> External factors</a:t>
            </a:r>
          </a:p>
          <a:p>
            <a:pPr marL="457200" lvl="0" indent="-457200">
              <a:buNone/>
            </a:pPr>
            <a:endParaRPr lang="en-US" sz="2800" b="1" dirty="0"/>
          </a:p>
          <a:p>
            <a:pPr marL="457200" lvl="0" indent="-457200">
              <a:buNone/>
            </a:pPr>
            <a:r>
              <a:rPr lang="en-US" sz="2800" b="1" dirty="0"/>
              <a:t> Tie up with prospective customers</a:t>
            </a:r>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58079406"/>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15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153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153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solidFill>
                  <a:schemeClr val="bg1"/>
                </a:solidFill>
                <a:latin typeface="Calibri" pitchFamily="34" charset="0"/>
              </a:rPr>
              <a:t> RISK ANALYSIS </a:t>
            </a: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fontScale="62500" lnSpcReduction="20000"/>
          </a:bodyPr>
          <a:lstStyle/>
          <a:p>
            <a:pPr marL="457200" lvl="0" indent="-457200">
              <a:buNone/>
            </a:pPr>
            <a:endParaRPr lang="en-US" sz="2400" dirty="0"/>
          </a:p>
          <a:p>
            <a:pPr marL="457200" lvl="0" indent="-457200">
              <a:buNone/>
            </a:pPr>
            <a:r>
              <a:rPr lang="en-US" sz="2800" dirty="0"/>
              <a:t>   Evaluate And Quantify.</a:t>
            </a:r>
          </a:p>
          <a:p>
            <a:pPr marL="457200" lvl="0" indent="-457200">
              <a:buNone/>
            </a:pPr>
            <a:endParaRPr lang="en-US" sz="2800" dirty="0"/>
          </a:p>
          <a:p>
            <a:pPr marL="457200" lvl="0" indent="-457200">
              <a:buNone/>
            </a:pPr>
            <a:r>
              <a:rPr lang="en-US" sz="2800" dirty="0"/>
              <a:t>   Do or Die category.</a:t>
            </a:r>
          </a:p>
          <a:p>
            <a:pPr marL="457200" lvl="0" indent="-457200">
              <a:buNone/>
            </a:pPr>
            <a:endParaRPr lang="en-US" sz="2800" dirty="0"/>
          </a:p>
          <a:p>
            <a:pPr marL="457200" lvl="0" indent="-457200">
              <a:buNone/>
            </a:pPr>
            <a:r>
              <a:rPr lang="en-US" sz="2800" dirty="0"/>
              <a:t>   Environmental Impact</a:t>
            </a:r>
          </a:p>
          <a:p>
            <a:pPr marL="457200" lvl="0" indent="-457200">
              <a:buNone/>
            </a:pPr>
            <a:endParaRPr lang="en-US" sz="2800" dirty="0"/>
          </a:p>
          <a:p>
            <a:pPr marL="457200" lvl="0" indent="-457200">
              <a:buNone/>
            </a:pPr>
            <a:r>
              <a:rPr lang="en-US" sz="2800" dirty="0"/>
              <a:t>   Sustainability.</a:t>
            </a:r>
          </a:p>
          <a:p>
            <a:pPr marL="457200" lvl="0" indent="-457200">
              <a:buNone/>
            </a:pPr>
            <a:endParaRPr lang="en-US" sz="2800" dirty="0"/>
          </a:p>
          <a:p>
            <a:pPr marL="457200" lvl="0" indent="-457200">
              <a:buNone/>
            </a:pPr>
            <a:r>
              <a:rPr lang="en-US" sz="2800" dirty="0"/>
              <a:t>   Intangibles-  </a:t>
            </a:r>
            <a:r>
              <a:rPr lang="en-US" sz="2800" dirty="0" err="1"/>
              <a:t>Patents,Value</a:t>
            </a:r>
            <a:r>
              <a:rPr lang="en-US" sz="2800" dirty="0"/>
              <a:t> </a:t>
            </a:r>
            <a:r>
              <a:rPr lang="en-US" sz="2800" dirty="0" err="1"/>
              <a:t>addition,Market</a:t>
            </a:r>
            <a:r>
              <a:rPr lang="en-US" sz="2800" dirty="0"/>
              <a:t> Reputation.  </a:t>
            </a:r>
          </a:p>
          <a:p>
            <a:pPr marL="457200" lvl="0" indent="-457200">
              <a:buNone/>
            </a:pPr>
            <a:endParaRPr lang="en-US" sz="2800" dirty="0"/>
          </a:p>
          <a:p>
            <a:pPr marL="457200" lvl="0" indent="-457200">
              <a:buNone/>
            </a:pPr>
            <a:r>
              <a:rPr lang="en-US" sz="2800" dirty="0"/>
              <a:t>   Opportunity cost.</a:t>
            </a:r>
          </a:p>
          <a:p>
            <a:pPr marL="457200" lvl="0" indent="-457200">
              <a:buNone/>
            </a:pPr>
            <a:endParaRPr lang="en-US" sz="2800" dirty="0"/>
          </a:p>
          <a:p>
            <a:pPr marL="457200" lvl="0" indent="-457200">
              <a:buNone/>
            </a:pPr>
            <a:endParaRPr lang="en-US" sz="2800" dirty="0"/>
          </a:p>
          <a:p>
            <a:pPr marL="457200" lvl="0" indent="-457200">
              <a:buNone/>
            </a:pPr>
            <a:r>
              <a:rPr lang="en-US" sz="2800" dirty="0"/>
              <a:t> </a:t>
            </a:r>
          </a:p>
          <a:p>
            <a:pPr marL="457200" lvl="0" indent="-457200">
              <a:buNone/>
            </a:pPr>
            <a:r>
              <a:rPr lang="en-US" sz="2800" dirty="0"/>
              <a:t>  </a:t>
            </a:r>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58079406"/>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15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153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153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solidFill>
                  <a:schemeClr val="bg1"/>
                </a:solidFill>
                <a:latin typeface="Calibri" pitchFamily="34" charset="0"/>
              </a:rPr>
              <a:t>ACCOUNTING SYSTEMS</a:t>
            </a: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pPr marL="457200" lvl="0" indent="-457200">
              <a:buNone/>
            </a:pPr>
            <a:endParaRPr lang="en-US" sz="2800" b="1" dirty="0"/>
          </a:p>
          <a:p>
            <a:pPr marL="457200" lvl="0" indent="-457200">
              <a:buNone/>
            </a:pPr>
            <a:r>
              <a:rPr lang="en-US" sz="2800" b="1" dirty="0"/>
              <a:t>Tracking Expenditure</a:t>
            </a:r>
          </a:p>
          <a:p>
            <a:pPr marL="457200" lvl="0" indent="-457200">
              <a:buNone/>
            </a:pPr>
            <a:r>
              <a:rPr lang="en-US" sz="2800" b="1" dirty="0"/>
              <a:t>Single Entry </a:t>
            </a:r>
          </a:p>
          <a:p>
            <a:pPr marL="457200" lvl="0" indent="-457200">
              <a:buNone/>
            </a:pPr>
            <a:r>
              <a:rPr lang="en-US" sz="2800" b="1" dirty="0"/>
              <a:t>Double entry</a:t>
            </a:r>
          </a:p>
          <a:p>
            <a:pPr marL="457200" lvl="0" indent="-457200">
              <a:buNone/>
            </a:pPr>
            <a:r>
              <a:rPr lang="en-US" sz="2800" b="1" dirty="0"/>
              <a:t>Manual ( Redundant)</a:t>
            </a:r>
          </a:p>
          <a:p>
            <a:pPr marL="457200" lvl="0" indent="-457200">
              <a:buNone/>
            </a:pPr>
            <a:r>
              <a:rPr lang="en-US" sz="2800" b="1" dirty="0" err="1"/>
              <a:t>Computerised</a:t>
            </a:r>
            <a:r>
              <a:rPr lang="en-US" sz="2800" b="1" dirty="0"/>
              <a:t>.</a:t>
            </a:r>
          </a:p>
          <a:p>
            <a:pPr marL="457200" lvl="0" indent="-457200">
              <a:buNone/>
            </a:pPr>
            <a:r>
              <a:rPr lang="en-US" sz="2800" b="1" dirty="0"/>
              <a:t>Companywide Software.  </a:t>
            </a:r>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58079406"/>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15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153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153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solidFill>
                  <a:schemeClr val="bg1"/>
                </a:solidFill>
                <a:latin typeface="Calibri" pitchFamily="34" charset="0"/>
              </a:rPr>
              <a:t>STEP COSTING DIAGRAM</a:t>
            </a: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pPr marL="457200" lvl="0" indent="-457200">
              <a:buNone/>
            </a:pPr>
            <a:endParaRPr lang="en-US" sz="2000" b="1" dirty="0"/>
          </a:p>
          <a:p>
            <a:pPr marL="457200" lvl="0" indent="-45720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58079406"/>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Project Planning</a:t>
            </a:r>
          </a:p>
        </p:txBody>
      </p:sp>
      <p:pic>
        <p:nvPicPr>
          <p:cNvPr id="7" name="Picture 6"/>
          <p:cNvPicPr>
            <a:picLocks noChangeAspect="1"/>
          </p:cNvPicPr>
          <p:nvPr/>
        </p:nvPicPr>
        <p:blipFill>
          <a:blip r:embed="rId3"/>
          <a:stretch>
            <a:fillRect/>
          </a:stretch>
        </p:blipFill>
        <p:spPr>
          <a:xfrm>
            <a:off x="2250360" y="2514600"/>
            <a:ext cx="4977172" cy="3324727"/>
          </a:xfrm>
          <a:prstGeom prst="rect">
            <a:avLst/>
          </a:prstGeom>
        </p:spPr>
      </p:pic>
      <p:pic>
        <p:nvPicPr>
          <p:cNvPr id="4" name="Picture 3">
            <a:extLst>
              <a:ext uri="{FF2B5EF4-FFF2-40B4-BE49-F238E27FC236}">
                <a16:creationId xmlns:a16="http://schemas.microsoft.com/office/drawing/2014/main" id="{B3FB08C8-C6AA-4C64-913C-CA13AC1E6D60}"/>
              </a:ext>
            </a:extLst>
          </p:cNvPr>
          <p:cNvPicPr>
            <a:picLocks noChangeAspect="1"/>
          </p:cNvPicPr>
          <p:nvPr/>
        </p:nvPicPr>
        <p:blipFill>
          <a:blip r:embed="rId3"/>
          <a:stretch>
            <a:fillRect/>
          </a:stretch>
        </p:blipFill>
        <p:spPr>
          <a:xfrm>
            <a:off x="2148089" y="2432116"/>
            <a:ext cx="5100653" cy="3407212"/>
          </a:xfrm>
          <a:prstGeom prst="rect">
            <a:avLst/>
          </a:prstGeom>
        </p:spPr>
      </p:pic>
    </p:spTree>
    <p:extLst>
      <p:ext uri="{BB962C8B-B14F-4D97-AF65-F5344CB8AC3E}">
        <p14:creationId xmlns:p14="http://schemas.microsoft.com/office/powerpoint/2010/main" val="264258597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28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288"/>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28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solidFill>
                  <a:schemeClr val="bg1"/>
                </a:solidFill>
                <a:latin typeface="Calibri" pitchFamily="34" charset="0"/>
              </a:rPr>
              <a:t>CONTROLLING EXPENDITURE</a:t>
            </a: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r>
              <a:rPr lang="en-US" b="1" u="sng" dirty="0"/>
              <a:t>Monitoring  Expenditure:</a:t>
            </a:r>
          </a:p>
          <a:p>
            <a:pPr marL="457200" lvl="0" indent="-457200">
              <a:buAutoNum type="arabicPeriod"/>
            </a:pPr>
            <a:r>
              <a:rPr lang="en-US" sz="2400" dirty="0"/>
              <a:t>Bar chart of Expenditure and activity</a:t>
            </a:r>
          </a:p>
          <a:p>
            <a:pPr marL="457200" lvl="0" indent="-457200">
              <a:buAutoNum type="arabicPeriod"/>
            </a:pPr>
            <a:r>
              <a:rPr lang="en-US" sz="2400" dirty="0"/>
              <a:t>Review of costs if required</a:t>
            </a:r>
          </a:p>
          <a:p>
            <a:pPr marL="457200" lvl="0" indent="-457200">
              <a:buAutoNum type="arabicPeriod"/>
            </a:pPr>
            <a:r>
              <a:rPr lang="en-US" sz="2400" dirty="0"/>
              <a:t>Prepare statements for accounts &amp; Loan  disbursal</a:t>
            </a:r>
          </a:p>
          <a:p>
            <a:pPr marL="457200" lvl="0" indent="-457200">
              <a:buAutoNum type="arabicPeriod"/>
            </a:pPr>
            <a:r>
              <a:rPr lang="en-US" sz="2400" dirty="0"/>
              <a:t>Control over runs beyond contingencies</a:t>
            </a:r>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18229290"/>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15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153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153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solidFill>
                  <a:schemeClr val="bg1"/>
                </a:solidFill>
                <a:latin typeface="Calibri" pitchFamily="34" charset="0"/>
              </a:rPr>
              <a:t>QUALITY SYSTEMS</a:t>
            </a: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pPr marL="457200" lvl="0" indent="-457200">
              <a:buNone/>
            </a:pPr>
            <a:endParaRPr lang="en-US" b="1" dirty="0"/>
          </a:p>
          <a:p>
            <a:pPr marL="457200" lvl="0" indent="-457200">
              <a:buNone/>
            </a:pPr>
            <a:r>
              <a:rPr lang="en-US" b="1" dirty="0"/>
              <a:t>    </a:t>
            </a:r>
          </a:p>
          <a:p>
            <a:pPr marL="457200" lvl="0" indent="-457200">
              <a:buNone/>
            </a:pPr>
            <a:r>
              <a:rPr lang="en-US" b="1"/>
              <a:t>     A </a:t>
            </a:r>
            <a:r>
              <a:rPr lang="en-US" b="1" dirty="0"/>
              <a:t>SYSTEM IS A GROUP OF INTERACTING OR INTERRELATED ELEMENTS THAT ACT ACCORDING TOA SET OF RULES TO FORM A </a:t>
            </a:r>
            <a:r>
              <a:rPr lang="en-US" b="1"/>
              <a:t>UNIFIED WHOLE.</a:t>
            </a:r>
            <a:endParaRPr lang="en-US" b="1" dirty="0"/>
          </a:p>
          <a:p>
            <a:pPr marL="457200" lvl="0" indent="-457200">
              <a:buNone/>
            </a:pPr>
            <a:endParaRPr lang="en-US" sz="18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58079406"/>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15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153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153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solidFill>
                  <a:schemeClr val="bg1"/>
                </a:solidFill>
                <a:latin typeface="Calibri" pitchFamily="34" charset="0"/>
              </a:rPr>
              <a:t>QUALITY</a:t>
            </a: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pPr marL="0" lvl="0" indent="0">
              <a:buNone/>
            </a:pPr>
            <a:endParaRPr lang="en-US" sz="2800" b="1" dirty="0"/>
          </a:p>
          <a:p>
            <a:pPr marL="0" lvl="0" indent="0">
              <a:buNone/>
            </a:pPr>
            <a:r>
              <a:rPr lang="en-US" sz="2800" b="1" dirty="0"/>
              <a:t>QUALITY IS NOT THE RESPOSNSIBILITY OF A PARTICULAR SET OF PERSONNEL KNOWN AS QC OR QA</a:t>
            </a:r>
          </a:p>
          <a:p>
            <a:pPr marL="0" lvl="0" indent="0">
              <a:buNone/>
            </a:pPr>
            <a:r>
              <a:rPr lang="en-US" sz="2800" b="1" dirty="0"/>
              <a:t>BUT</a:t>
            </a:r>
          </a:p>
          <a:p>
            <a:pPr marL="0" lvl="0" indent="0">
              <a:buNone/>
            </a:pPr>
            <a:r>
              <a:rPr lang="en-US" sz="2800" b="1" dirty="0"/>
              <a:t>A RESULT OF THE ENTIRE ORGANISATION FOLLOWING THE STIPULATED SYSTEM.</a:t>
            </a:r>
          </a:p>
          <a:p>
            <a:pPr marL="0" lvl="0" indent="0">
              <a:buNone/>
            </a:pPr>
            <a:endParaRPr lang="en-US" sz="2800" b="1" dirty="0"/>
          </a:p>
          <a:p>
            <a:pPr marL="0" lvl="0" indent="0">
              <a:buNone/>
            </a:pPr>
            <a:endParaRPr lang="en-US" sz="2800" b="1" dirty="0"/>
          </a:p>
          <a:p>
            <a:pPr marL="0" lvl="0" indent="0">
              <a:buNone/>
            </a:pPr>
            <a:endParaRPr lang="en-US" sz="2800" b="1" dirty="0"/>
          </a:p>
          <a:p>
            <a:pPr marL="0" lvl="0" indent="0">
              <a:buNone/>
            </a:pPr>
            <a:endParaRPr lang="en-US" sz="2800" b="1" dirty="0"/>
          </a:p>
          <a:p>
            <a:pPr marL="0" lvl="0" indent="0">
              <a:buNone/>
            </a:pPr>
            <a:endParaRPr lang="en-US" sz="2800" b="1" dirty="0"/>
          </a:p>
          <a:p>
            <a:pPr marL="0" lvl="0" indent="0">
              <a:buNone/>
            </a:pPr>
            <a:endParaRPr lang="en-US" sz="2800" b="1" dirty="0"/>
          </a:p>
          <a:p>
            <a:pPr marL="0" lvl="0" indent="0">
              <a:buNone/>
            </a:pPr>
            <a:endParaRPr lang="en-US" sz="2800" b="1" dirty="0"/>
          </a:p>
          <a:p>
            <a:pPr marL="0" lvl="0" indent="0">
              <a:buNone/>
            </a:pPr>
            <a:endParaRPr lang="en-US" sz="2800" b="1" dirty="0"/>
          </a:p>
          <a:p>
            <a:pPr marL="0" lvl="0" indent="0">
              <a:buNone/>
            </a:pPr>
            <a:endParaRPr lang="en-US" sz="2800" b="1" dirty="0"/>
          </a:p>
          <a:p>
            <a:pPr marL="0" lvl="0" indent="0">
              <a:buNone/>
            </a:pPr>
            <a:endParaRPr lang="en-US" sz="2800" b="1" dirty="0"/>
          </a:p>
          <a:p>
            <a:pPr marL="0" lvl="0" indent="0">
              <a:buNone/>
            </a:pPr>
            <a:endParaRPr lang="en-US" sz="2800" b="1" dirty="0"/>
          </a:p>
          <a:p>
            <a:pPr marL="0" lvl="0" indent="0">
              <a:buNone/>
            </a:pPr>
            <a:endParaRPr lang="en-US" sz="2800" b="1" dirty="0"/>
          </a:p>
          <a:p>
            <a:pPr marL="0" lvl="0" indent="0">
              <a:buNone/>
            </a:pPr>
            <a:endParaRPr lang="en-US" sz="2800" b="1" dirty="0"/>
          </a:p>
          <a:p>
            <a:pPr marL="0" lvl="0" indent="0">
              <a:buNone/>
            </a:pPr>
            <a:endParaRPr lang="en-US" sz="2800" b="1" dirty="0"/>
          </a:p>
          <a:p>
            <a:pPr marL="0" lvl="0" indent="0">
              <a:buNone/>
            </a:pPr>
            <a:endParaRPr lang="en-US" sz="2800" b="1" dirty="0"/>
          </a:p>
          <a:p>
            <a:pPr marL="0" lvl="0" indent="0">
              <a:buNone/>
            </a:pPr>
            <a:endParaRPr lang="en-US" sz="2800" b="1" dirty="0"/>
          </a:p>
          <a:p>
            <a:pPr marL="0" lvl="0" indent="0">
              <a:buNone/>
            </a:pPr>
            <a:endParaRPr lang="en-US" sz="2800" b="1" dirty="0"/>
          </a:p>
          <a:p>
            <a:pPr marL="0" lvl="0" indent="0">
              <a:buNone/>
            </a:pPr>
            <a:endParaRPr lang="en-US" sz="2800" b="1" dirty="0"/>
          </a:p>
          <a:p>
            <a:pPr marL="0" lvl="0" indent="0">
              <a:buNone/>
            </a:pPr>
            <a:endParaRPr lang="en-US" sz="2800" b="1" dirty="0"/>
          </a:p>
          <a:p>
            <a:pPr marL="0" lvl="0" indent="0">
              <a:buNone/>
            </a:pPr>
            <a:endParaRPr lang="en-US" sz="2800" b="1" dirty="0"/>
          </a:p>
          <a:p>
            <a:pPr marL="0" lvl="0" indent="0">
              <a:buNone/>
            </a:pPr>
            <a:endParaRPr lang="en-US" sz="2800" b="1" dirty="0"/>
          </a:p>
          <a:p>
            <a:pPr marL="0" lvl="0" indent="0">
              <a:buNone/>
            </a:pPr>
            <a:endParaRPr lang="en-US" sz="2800" b="1" dirty="0"/>
          </a:p>
          <a:p>
            <a:pPr marL="0" lvl="0" indent="0">
              <a:buNone/>
            </a:pPr>
            <a:endParaRPr lang="en-US" sz="2800" b="1" dirty="0"/>
          </a:p>
          <a:p>
            <a:pPr marL="0" indent="0">
              <a:buNone/>
            </a:pPr>
            <a:endParaRPr lang="en-IN" sz="2800"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58079406"/>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15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153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153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solidFill>
                  <a:schemeClr val="bg1"/>
                </a:solidFill>
              </a:rPr>
              <a:t>QUALITY SYSTEMS</a:t>
            </a:r>
            <a:endParaRPr lang="en-US" sz="2800" b="1" dirty="0">
              <a:solidFill>
                <a:schemeClr val="bg1"/>
              </a:solidFill>
              <a:latin typeface="Calibri" pitchFamily="34" charset="0"/>
            </a:endParaRP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lnSpcReduction="10000"/>
          </a:bodyPr>
          <a:lstStyle/>
          <a:p>
            <a:pPr marL="457200" lvl="0" indent="-457200">
              <a:buNone/>
            </a:pPr>
            <a:endParaRPr lang="en-US" sz="2800" b="1" dirty="0"/>
          </a:p>
          <a:p>
            <a:pPr marL="457200" lvl="0" indent="-457200">
              <a:buNone/>
            </a:pPr>
            <a:r>
              <a:rPr lang="en-US" sz="2800" b="1" dirty="0"/>
              <a:t>ANY QUALITY SYSTEM </a:t>
            </a:r>
          </a:p>
          <a:p>
            <a:pPr marL="457200" lvl="0" indent="-457200">
              <a:buNone/>
            </a:pPr>
            <a:r>
              <a:rPr lang="en-US" sz="2800" b="1" dirty="0"/>
              <a:t>  ISO 14000 OR SIMILAR REQUIRES.</a:t>
            </a:r>
          </a:p>
          <a:p>
            <a:pPr marL="457200" lvl="0" indent="-457200">
              <a:buNone/>
            </a:pPr>
            <a:endParaRPr lang="en-US" sz="2800" b="1" dirty="0"/>
          </a:p>
          <a:p>
            <a:pPr marL="457200" lvl="0" indent="-457200">
              <a:buNone/>
            </a:pPr>
            <a:r>
              <a:rPr lang="en-US" sz="2800" b="1" dirty="0"/>
              <a:t>DEFINATION OF INPUTS</a:t>
            </a:r>
          </a:p>
          <a:p>
            <a:pPr marL="457200" lvl="0" indent="-457200">
              <a:buNone/>
            </a:pPr>
            <a:r>
              <a:rPr lang="en-US" sz="2800" b="1" dirty="0"/>
              <a:t>PROCESS</a:t>
            </a:r>
          </a:p>
          <a:p>
            <a:pPr marL="457200" lvl="0" indent="-457200">
              <a:buNone/>
            </a:pPr>
            <a:r>
              <a:rPr lang="en-US" sz="2800" b="1" dirty="0"/>
              <a:t>OUTPUT</a:t>
            </a:r>
          </a:p>
          <a:p>
            <a:pPr marL="457200" lvl="0" indent="-457200">
              <a:buNone/>
            </a:pPr>
            <a:r>
              <a:rPr lang="en-US" sz="2800" b="1" dirty="0"/>
              <a:t>AND</a:t>
            </a:r>
          </a:p>
          <a:p>
            <a:pPr marL="457200" lvl="0" indent="-457200">
              <a:buNone/>
            </a:pPr>
            <a:r>
              <a:rPr lang="en-US" sz="2800" b="1" dirty="0"/>
              <a:t>FEEDBACK  </a:t>
            </a:r>
          </a:p>
          <a:p>
            <a:pPr marL="457200" lvl="0" indent="-45720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58079406"/>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26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26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268"/>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endParaRPr lang="en-US" sz="2800" b="1" dirty="0">
              <a:solidFill>
                <a:schemeClr val="bg1"/>
              </a:solidFill>
              <a:latin typeface="Calibri" pitchFamily="34" charset="0"/>
            </a:endParaRP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r>
              <a:rPr lang="en-US" b="1" u="sng" dirty="0"/>
              <a:t>Control of inputs:</a:t>
            </a:r>
          </a:p>
          <a:p>
            <a:pPr marL="457200" indent="-457200">
              <a:buFont typeface="+mj-lt"/>
              <a:buAutoNum type="arabicPeriod"/>
            </a:pPr>
            <a:r>
              <a:rPr lang="en-US" sz="2400" dirty="0"/>
              <a:t> Process ,Log sheets, control tests. R.M Specification, operation </a:t>
            </a:r>
          </a:p>
          <a:p>
            <a:pPr marL="0" indent="0">
              <a:buNone/>
            </a:pPr>
            <a:r>
              <a:rPr lang="en-US" sz="2400" dirty="0"/>
              <a:t>        manual</a:t>
            </a:r>
          </a:p>
          <a:p>
            <a:pPr marL="457200" indent="-457200">
              <a:buFont typeface="+mj-lt"/>
              <a:buAutoNum type="arabicPeriod"/>
            </a:pPr>
            <a:r>
              <a:rPr lang="en-US" sz="2400" dirty="0"/>
              <a:t> Equipment, Manpower skilled &amp; semiskilled</a:t>
            </a:r>
          </a:p>
          <a:p>
            <a:pPr marL="457200" indent="-457200">
              <a:buFont typeface="+mj-lt"/>
              <a:buAutoNum type="arabicPeriod"/>
            </a:pPr>
            <a:r>
              <a:rPr lang="en-US" sz="2400" dirty="0"/>
              <a:t>Targets- yearly, Monthly, Daily</a:t>
            </a:r>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304674136"/>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15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153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153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t>OPERATIONS</a:t>
            </a:r>
            <a:endParaRPr lang="en-US" sz="2800" b="1" dirty="0">
              <a:solidFill>
                <a:schemeClr val="bg1"/>
              </a:solidFill>
              <a:latin typeface="Calibri" pitchFamily="34" charset="0"/>
            </a:endParaRP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r>
              <a:rPr lang="en-US" b="1" u="sng" dirty="0"/>
              <a:t>Control of process:</a:t>
            </a:r>
            <a:endParaRPr lang="en-US" sz="2000" b="1" dirty="0"/>
          </a:p>
          <a:p>
            <a:pPr marL="457200" lvl="0" indent="-457200">
              <a:buNone/>
            </a:pPr>
            <a:r>
              <a:rPr lang="en-US" sz="2400" dirty="0"/>
              <a:t>       Carry out process as per S.O.P</a:t>
            </a:r>
          </a:p>
          <a:p>
            <a:pPr marL="457200" lvl="0" indent="-457200">
              <a:buNone/>
            </a:pPr>
            <a:r>
              <a:rPr lang="en-US" sz="2400" dirty="0"/>
              <a:t>       Annual plan-Monthly plan-weekly plan-Daily Plan-Hourly Plan-  What needs to be done now?</a:t>
            </a:r>
          </a:p>
          <a:p>
            <a:pPr marL="457200" lvl="0" indent="-457200">
              <a:buNone/>
            </a:pPr>
            <a:r>
              <a:rPr lang="en-US" sz="2400" dirty="0"/>
              <a:t>       Define immediate action</a:t>
            </a:r>
          </a:p>
          <a:p>
            <a:pPr marL="457200" lvl="0" indent="-457200">
              <a:buNone/>
            </a:pPr>
            <a:r>
              <a:rPr lang="en-US" sz="2400" dirty="0"/>
              <a:t>       Device own monitoring systems and plan personal schedule</a:t>
            </a:r>
          </a:p>
          <a:p>
            <a:r>
              <a:rPr lang="en-US" sz="2800" u="sng" dirty="0"/>
              <a:t> Verify :</a:t>
            </a:r>
          </a:p>
          <a:p>
            <a:pPr marL="457200" lvl="0" indent="-457200">
              <a:buNone/>
            </a:pPr>
            <a:r>
              <a:rPr lang="en-US" sz="2000" dirty="0"/>
              <a:t>           Daily reports</a:t>
            </a:r>
          </a:p>
          <a:p>
            <a:pPr marL="457200" lvl="0" indent="-457200">
              <a:buNone/>
            </a:pPr>
            <a:r>
              <a:rPr lang="en-US" sz="2000" dirty="0"/>
              <a:t>           Log sheet</a:t>
            </a:r>
          </a:p>
          <a:p>
            <a:pPr marL="457200" lvl="0" indent="-457200">
              <a:buNone/>
            </a:pPr>
            <a:r>
              <a:rPr lang="en-US" sz="2000" dirty="0"/>
              <a:t>           Batch sheets</a:t>
            </a:r>
          </a:p>
          <a:p>
            <a:pPr marL="457200" lvl="0" indent="-457200">
              <a:buNone/>
            </a:pPr>
            <a:endParaRPr lang="en-US" sz="2000"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58079406"/>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15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153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153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t>OPERATIONS</a:t>
            </a:r>
            <a:endParaRPr lang="en-US" sz="2800" b="1" dirty="0">
              <a:solidFill>
                <a:schemeClr val="bg1"/>
              </a:solidFill>
              <a:latin typeface="Calibri" pitchFamily="34" charset="0"/>
            </a:endParaRP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r>
              <a:rPr lang="en-US" b="1" u="sng" dirty="0"/>
              <a:t>Monitor Output:</a:t>
            </a:r>
            <a:endParaRPr lang="en-US" sz="2000" b="1" dirty="0"/>
          </a:p>
          <a:p>
            <a:r>
              <a:rPr lang="en-US" sz="2400" dirty="0"/>
              <a:t>Remember Monitor Not Control</a:t>
            </a:r>
          </a:p>
          <a:p>
            <a:r>
              <a:rPr lang="en-US" sz="2400" dirty="0"/>
              <a:t>Output Quality is a result of  me meticulous follow up of S.O.P</a:t>
            </a:r>
          </a:p>
          <a:p>
            <a:r>
              <a:rPr lang="en-US" sz="2400" dirty="0"/>
              <a:t>Prepare Statistical records</a:t>
            </a:r>
          </a:p>
          <a:p>
            <a:r>
              <a:rPr lang="en-US" sz="2400" dirty="0"/>
              <a:t>Use of  fuzzy logic</a:t>
            </a:r>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58079406"/>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24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24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24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t>OPERATIONS</a:t>
            </a:r>
            <a:endParaRPr lang="en-US" sz="2800" b="1" dirty="0">
              <a:solidFill>
                <a:schemeClr val="bg1"/>
              </a:solidFill>
              <a:latin typeface="Calibri" pitchFamily="34" charset="0"/>
            </a:endParaRP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r>
              <a:rPr lang="en-US" b="1" u="sng" dirty="0"/>
              <a:t>Safety :</a:t>
            </a:r>
            <a:endParaRPr lang="en-US" b="1" u="sng" dirty="0">
              <a:solidFill>
                <a:schemeClr val="bg1"/>
              </a:solidFill>
              <a:latin typeface="Calibri" pitchFamily="34" charset="0"/>
            </a:endParaRPr>
          </a:p>
          <a:p>
            <a:r>
              <a:rPr lang="en-US" sz="2400" dirty="0"/>
              <a:t>People – Beware of daredevils &amp; alarmists</a:t>
            </a:r>
          </a:p>
          <a:p>
            <a:r>
              <a:rPr lang="en-US" sz="2400" dirty="0"/>
              <a:t>Environment</a:t>
            </a:r>
          </a:p>
          <a:p>
            <a:r>
              <a:rPr lang="en-US" sz="2400" dirty="0"/>
              <a:t>Equipment</a:t>
            </a:r>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870079588"/>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15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153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153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t>OPERATIONS</a:t>
            </a:r>
            <a:endParaRPr lang="en-US" sz="2800" b="1" dirty="0">
              <a:solidFill>
                <a:schemeClr val="bg1"/>
              </a:solidFill>
              <a:latin typeface="Calibri" pitchFamily="34" charset="0"/>
            </a:endParaRP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r>
              <a:rPr lang="en-US" b="1" u="sng" dirty="0"/>
              <a:t>Reports:</a:t>
            </a:r>
            <a:endParaRPr lang="en-US" sz="2000" b="1" dirty="0"/>
          </a:p>
          <a:p>
            <a:pPr marL="457200" lvl="0" indent="-457200">
              <a:buFont typeface="+mj-lt"/>
              <a:buAutoNum type="arabicPeriod"/>
            </a:pPr>
            <a:r>
              <a:rPr lang="en-US" sz="2400" dirty="0"/>
              <a:t>Daily, weekly, monthly, annual reports are written at Appropriate levels of hierarchy</a:t>
            </a:r>
          </a:p>
          <a:p>
            <a:pPr marL="457200" lvl="0" indent="-457200">
              <a:buFont typeface="+mj-lt"/>
              <a:buAutoNum type="arabicPeriod"/>
            </a:pPr>
            <a:r>
              <a:rPr lang="en-US" sz="2400" dirty="0"/>
              <a:t>Should contain financial numbers</a:t>
            </a:r>
          </a:p>
          <a:p>
            <a:pPr marL="457200" lvl="0" indent="-457200">
              <a:buFont typeface="+mj-lt"/>
              <a:buAutoNum type="arabicPeriod"/>
            </a:pPr>
            <a:r>
              <a:rPr lang="en-US" sz="2400" dirty="0"/>
              <a:t>Should contain safety record</a:t>
            </a:r>
          </a:p>
          <a:p>
            <a:pPr marL="457200" lvl="0" indent="-457200">
              <a:buFont typeface="+mj-lt"/>
              <a:buAutoNum type="arabicPeriod"/>
            </a:pPr>
            <a:r>
              <a:rPr lang="en-US" sz="2400" dirty="0"/>
              <a:t>Should contain reviews</a:t>
            </a:r>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58079406"/>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23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23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238"/>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t>OPERATIONS</a:t>
            </a:r>
            <a:endParaRPr lang="en-US" sz="2800" b="1" dirty="0">
              <a:solidFill>
                <a:schemeClr val="bg1"/>
              </a:solidFill>
              <a:latin typeface="Calibri" pitchFamily="34" charset="0"/>
            </a:endParaRP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r>
              <a:rPr lang="en-US" b="1" u="sng" dirty="0"/>
              <a:t>Interactions:</a:t>
            </a:r>
          </a:p>
          <a:p>
            <a:pPr marL="457200" lvl="0" indent="-457200">
              <a:buNone/>
            </a:pPr>
            <a:r>
              <a:rPr lang="en-US" sz="2800" dirty="0"/>
              <a:t>1. Purchase : </a:t>
            </a:r>
          </a:p>
          <a:p>
            <a:pPr marL="457200" lvl="0" indent="-457200">
              <a:buNone/>
            </a:pPr>
            <a:r>
              <a:rPr lang="en-US" sz="2400" dirty="0"/>
              <a:t>      To decide stock levels, Decide Availability &amp; shortage and fluctuation in prices</a:t>
            </a:r>
            <a:endParaRPr lang="en-US" sz="2400" b="1" dirty="0"/>
          </a:p>
          <a:p>
            <a:pPr marL="457200" lvl="0" indent="-457200">
              <a:buNone/>
            </a:pPr>
            <a:r>
              <a:rPr lang="en-US" sz="2800" dirty="0"/>
              <a:t>2. Maintenance :</a:t>
            </a:r>
          </a:p>
          <a:p>
            <a:pPr marL="457200" lvl="0" indent="-457200">
              <a:buNone/>
            </a:pPr>
            <a:r>
              <a:rPr lang="en-US" sz="2400" dirty="0"/>
              <a:t>      To decide availability of manpower &amp; equipment</a:t>
            </a:r>
          </a:p>
          <a:p>
            <a:pPr marL="457200" lvl="0" indent="-457200">
              <a:buNone/>
            </a:pPr>
            <a:endParaRPr lang="en-US" sz="2400" b="1" dirty="0"/>
          </a:p>
          <a:p>
            <a:pPr marL="457200" lvl="0" indent="-457200">
              <a:buNone/>
            </a:pPr>
            <a:endParaRPr lang="en-US" sz="2400" b="1" dirty="0"/>
          </a:p>
          <a:p>
            <a:pPr marL="457200" lvl="0" indent="-457200">
              <a:buNone/>
            </a:pPr>
            <a:endParaRPr lang="en-US" sz="24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57858190"/>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15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153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153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t>OPERATIONS</a:t>
            </a:r>
            <a:endParaRPr lang="en-US" sz="2800" b="1" dirty="0">
              <a:solidFill>
                <a:schemeClr val="bg1"/>
              </a:solidFill>
              <a:latin typeface="Calibri" pitchFamily="34" charset="0"/>
            </a:endParaRP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r>
              <a:rPr lang="en-US" b="1" u="sng" dirty="0"/>
              <a:t>Control of Effluents : </a:t>
            </a:r>
          </a:p>
          <a:p>
            <a:pPr marL="457200" lvl="0" indent="-457200">
              <a:buAutoNum type="arabicPeriod"/>
            </a:pPr>
            <a:r>
              <a:rPr lang="en-US" sz="2400" dirty="0"/>
              <a:t>Segregation</a:t>
            </a:r>
          </a:p>
          <a:p>
            <a:pPr marL="457200" lvl="0" indent="-457200">
              <a:buAutoNum type="arabicPeriod"/>
            </a:pPr>
            <a:r>
              <a:rPr lang="en-US" sz="2400" dirty="0"/>
              <a:t>Chemical treatment</a:t>
            </a:r>
          </a:p>
          <a:p>
            <a:pPr marL="457200" lvl="0" indent="-457200">
              <a:buAutoNum type="arabicPeriod"/>
            </a:pPr>
            <a:r>
              <a:rPr lang="en-US" sz="2400" dirty="0"/>
              <a:t>Biological treatment</a:t>
            </a:r>
          </a:p>
          <a:p>
            <a:pPr marL="457200" lvl="0" indent="-457200">
              <a:buAutoNum type="arabicPeriod"/>
            </a:pPr>
            <a:r>
              <a:rPr lang="en-US" sz="2400" dirty="0"/>
              <a:t>Post treatment</a:t>
            </a:r>
            <a:endParaRPr lang="en-US" sz="2400" b="1" dirty="0"/>
          </a:p>
          <a:p>
            <a:pPr marL="457200" lvl="0" indent="-457200">
              <a:buFont typeface="+mj-lt"/>
              <a:buAutoNum type="arabicPeriod"/>
            </a:pPr>
            <a:endParaRPr lang="en-US" sz="2000"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58079406"/>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2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21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220"/>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t>OPERATIONS</a:t>
            </a:r>
            <a:endParaRPr lang="en-US" sz="2800" b="1" dirty="0">
              <a:solidFill>
                <a:schemeClr val="bg1"/>
              </a:solidFill>
              <a:latin typeface="Calibri" pitchFamily="34" charset="0"/>
            </a:endParaRP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r>
              <a:rPr lang="en-US" b="1" u="sng" dirty="0"/>
              <a:t>Control of Costs: </a:t>
            </a:r>
          </a:p>
          <a:p>
            <a:pPr marL="457200" lvl="0" indent="-457200">
              <a:buFont typeface="+mj-lt"/>
              <a:buAutoNum type="arabicPeriod"/>
            </a:pPr>
            <a:r>
              <a:rPr lang="en-US" sz="2400" dirty="0"/>
              <a:t>Raw Material</a:t>
            </a:r>
          </a:p>
          <a:p>
            <a:pPr marL="457200" lvl="0" indent="-457200">
              <a:buFont typeface="+mj-lt"/>
              <a:buAutoNum type="arabicPeriod"/>
            </a:pPr>
            <a:r>
              <a:rPr lang="en-US" sz="2400" dirty="0"/>
              <a:t>Utilities</a:t>
            </a:r>
          </a:p>
          <a:p>
            <a:pPr marL="457200" lvl="0" indent="-457200">
              <a:buFont typeface="+mj-lt"/>
              <a:buAutoNum type="arabicPeriod"/>
            </a:pPr>
            <a:r>
              <a:rPr lang="en-US" sz="2400" dirty="0"/>
              <a:t>Maintenance</a:t>
            </a:r>
          </a:p>
          <a:p>
            <a:pPr marL="457200" indent="-457200">
              <a:buFont typeface="+mj-lt"/>
              <a:buAutoNum type="arabicPeriod"/>
            </a:pPr>
            <a:r>
              <a:rPr lang="en-US" sz="2400" dirty="0"/>
              <a:t>Comparison and preparing and revising norms </a:t>
            </a:r>
          </a:p>
          <a:p>
            <a:pPr marL="457200" lvl="0" indent="-457200">
              <a:buFont typeface="+mj-lt"/>
              <a:buAutoNum type="arabicPeriod"/>
            </a:pPr>
            <a:endParaRPr lang="en-US" sz="2000"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735993427"/>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15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153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153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t>OPERATIONS</a:t>
            </a:r>
            <a:endParaRPr lang="en-US" sz="2800" b="1" dirty="0">
              <a:solidFill>
                <a:schemeClr val="bg1"/>
              </a:solidFill>
              <a:latin typeface="Calibri" pitchFamily="34" charset="0"/>
            </a:endParaRP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r>
              <a:rPr lang="en-US" b="1" u="sng" dirty="0"/>
              <a:t>Statutory Requirements: </a:t>
            </a:r>
          </a:p>
          <a:p>
            <a:pPr marL="457200" lvl="0" indent="-457200">
              <a:buAutoNum type="arabicPeriod"/>
            </a:pPr>
            <a:r>
              <a:rPr lang="en-US" sz="2400" dirty="0"/>
              <a:t>Excise</a:t>
            </a:r>
          </a:p>
          <a:p>
            <a:pPr marL="457200" lvl="0" indent="-457200">
              <a:buAutoNum type="arabicPeriod"/>
            </a:pPr>
            <a:r>
              <a:rPr lang="en-US" sz="2400" dirty="0"/>
              <a:t>Sales tax</a:t>
            </a:r>
          </a:p>
          <a:p>
            <a:pPr marL="457200" lvl="0" indent="-457200">
              <a:buAutoNum type="arabicPeriod"/>
            </a:pPr>
            <a:r>
              <a:rPr lang="en-US" sz="2400" dirty="0"/>
              <a:t>Director industrial health &amp; Safety</a:t>
            </a:r>
          </a:p>
          <a:p>
            <a:pPr marL="457200" lvl="0" indent="-457200">
              <a:buAutoNum type="arabicPeriod"/>
            </a:pPr>
            <a:r>
              <a:rPr lang="en-US" sz="2400" dirty="0"/>
              <a:t>Effluent control board</a:t>
            </a:r>
          </a:p>
          <a:p>
            <a:pPr marL="457200" lvl="0" indent="-457200">
              <a:buAutoNum type="arabicPeriod"/>
            </a:pPr>
            <a:r>
              <a:rPr lang="en-US" sz="2400" dirty="0"/>
              <a:t>Labor Departments</a:t>
            </a:r>
          </a:p>
          <a:p>
            <a:pPr marL="0" lvl="0" indent="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58079406"/>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2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213"/>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21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t>OPERATIONS</a:t>
            </a:r>
            <a:endParaRPr lang="en-US" sz="2800" b="1" dirty="0">
              <a:solidFill>
                <a:schemeClr val="bg1"/>
              </a:solidFill>
              <a:latin typeface="Calibri" pitchFamily="34" charset="0"/>
            </a:endParaRP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r>
              <a:rPr lang="en-US" b="1" u="sng" dirty="0"/>
              <a:t>Working capital Requirement: </a:t>
            </a:r>
          </a:p>
          <a:p>
            <a:pPr lvl="0">
              <a:buFont typeface="Wingdings" panose="05000000000000000000" pitchFamily="2" charset="2"/>
              <a:buChar char="Ø"/>
            </a:pPr>
            <a:r>
              <a:rPr lang="en-US" sz="2400" dirty="0"/>
              <a:t>Define &amp; Control</a:t>
            </a:r>
          </a:p>
          <a:p>
            <a:pPr marL="0" lvl="0" indent="0">
              <a:buNone/>
            </a:pPr>
            <a:r>
              <a:rPr lang="en-US" sz="2400" dirty="0"/>
              <a:t>	Finished Goods Stocks</a:t>
            </a:r>
          </a:p>
          <a:p>
            <a:pPr marL="0" lvl="0" indent="0">
              <a:buNone/>
            </a:pPr>
            <a:r>
              <a:rPr lang="en-US" sz="2400" dirty="0"/>
              <a:t>	Raw material stocks</a:t>
            </a:r>
          </a:p>
          <a:p>
            <a:pPr marL="0" lvl="0" indent="0">
              <a:buNone/>
            </a:pPr>
            <a:r>
              <a:rPr lang="en-US" sz="2400" dirty="0"/>
              <a:t>	Goods in process &amp; thereby define working capital</a:t>
            </a:r>
          </a:p>
          <a:p>
            <a:pPr marL="0" lvl="0" indent="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592386874"/>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15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153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153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t>OPERATIONS</a:t>
            </a:r>
            <a:endParaRPr lang="en-US" sz="2800" b="1" dirty="0">
              <a:solidFill>
                <a:schemeClr val="bg1"/>
              </a:solidFill>
              <a:latin typeface="Calibri" pitchFamily="34" charset="0"/>
            </a:endParaRP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r>
              <a:rPr lang="en-US" b="1" u="sng" dirty="0"/>
              <a:t>Improvement in process: </a:t>
            </a:r>
            <a:endParaRPr lang="en-US" sz="2000" b="1" dirty="0"/>
          </a:p>
          <a:p>
            <a:pPr marL="0" lvl="0" indent="0">
              <a:buNone/>
            </a:pPr>
            <a:r>
              <a:rPr lang="en-US" sz="2400" dirty="0"/>
              <a:t>	Adequate data</a:t>
            </a:r>
          </a:p>
          <a:p>
            <a:pPr marL="0" lvl="0" indent="0">
              <a:buNone/>
            </a:pPr>
            <a:r>
              <a:rPr lang="en-US" sz="2400" dirty="0"/>
              <a:t>	Statistical analysis</a:t>
            </a:r>
          </a:p>
          <a:p>
            <a:pPr marL="0" lvl="0" indent="0">
              <a:buNone/>
            </a:pPr>
            <a:r>
              <a:rPr lang="en-US" sz="2400" dirty="0"/>
              <a:t>	Interaction with design ,R&amp;D</a:t>
            </a:r>
          </a:p>
          <a:p>
            <a:pPr marL="0" lvl="0" indent="0">
              <a:buNone/>
            </a:pPr>
            <a:r>
              <a:rPr lang="en-US" sz="2400" dirty="0"/>
              <a:t>	Define changes &amp; authorization</a:t>
            </a:r>
            <a:endParaRPr lang="en-US" sz="2400" b="1" dirty="0"/>
          </a:p>
          <a:p>
            <a:pPr marL="457200" lvl="0" indent="-457200">
              <a:buNone/>
            </a:pPr>
            <a:endParaRPr lang="en-US" sz="2000" b="1" dirty="0"/>
          </a:p>
          <a:p>
            <a:pPr marL="0" lvl="0" indent="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58079406"/>
      </p:ext>
    </p:extLst>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20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20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20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t>OPERATIONS</a:t>
            </a:r>
            <a:endParaRPr lang="en-US" sz="2800" b="1" dirty="0">
              <a:solidFill>
                <a:schemeClr val="bg1"/>
              </a:solidFill>
              <a:latin typeface="Calibri" pitchFamily="34" charset="0"/>
            </a:endParaRP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r>
              <a:rPr lang="en-US" b="1" u="sng" dirty="0"/>
              <a:t>ISO Applicability: </a:t>
            </a:r>
          </a:p>
          <a:p>
            <a:pPr marL="457200" lvl="0" indent="-457200">
              <a:buAutoNum type="arabicPeriod"/>
            </a:pPr>
            <a:r>
              <a:rPr lang="en-US" sz="2400" dirty="0"/>
              <a:t>Inputs</a:t>
            </a:r>
          </a:p>
          <a:p>
            <a:pPr marL="457200" lvl="0" indent="-457200">
              <a:buAutoNum type="arabicPeriod"/>
            </a:pPr>
            <a:r>
              <a:rPr lang="en-US" sz="2400" dirty="0"/>
              <a:t>Process</a:t>
            </a:r>
          </a:p>
          <a:p>
            <a:pPr marL="457200" lvl="0" indent="-457200">
              <a:buAutoNum type="arabicPeriod"/>
            </a:pPr>
            <a:r>
              <a:rPr lang="en-US" sz="2400" dirty="0"/>
              <a:t>Outputs</a:t>
            </a:r>
          </a:p>
          <a:p>
            <a:pPr marL="457200" lvl="0" indent="-457200">
              <a:buAutoNum type="arabicPeriod"/>
            </a:pPr>
            <a:r>
              <a:rPr lang="en-US" sz="2400" dirty="0"/>
              <a:t>Importance can not be understated</a:t>
            </a:r>
          </a:p>
          <a:p>
            <a:pPr marL="457200" lvl="0" indent="-457200">
              <a:buNone/>
            </a:pPr>
            <a:endParaRPr lang="en-US" sz="2000" b="1" dirty="0"/>
          </a:p>
          <a:p>
            <a:pPr marL="0" lvl="0" indent="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848040298"/>
      </p:ext>
    </p:extLst>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15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153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153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t>MARKETING</a:t>
            </a:r>
            <a:endParaRPr lang="en-US" sz="2800" b="1" dirty="0">
              <a:solidFill>
                <a:schemeClr val="bg1"/>
              </a:solidFill>
              <a:latin typeface="Calibri" pitchFamily="34" charset="0"/>
            </a:endParaRP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r>
              <a:rPr lang="en-US" b="1" u="sng" dirty="0"/>
              <a:t>Marketing: </a:t>
            </a:r>
          </a:p>
          <a:p>
            <a:endParaRPr lang="en-US" sz="2000" b="1" dirty="0"/>
          </a:p>
          <a:p>
            <a:pPr>
              <a:buFont typeface="Wingdings" panose="05000000000000000000" pitchFamily="2" charset="2"/>
              <a:buChar char="Ø"/>
            </a:pPr>
            <a:r>
              <a:rPr lang="en-US" sz="2400" dirty="0"/>
              <a:t>Some misconception </a:t>
            </a:r>
          </a:p>
          <a:p>
            <a:pPr>
              <a:buFont typeface="Wingdings" panose="05000000000000000000" pitchFamily="2" charset="2"/>
              <a:buChar char="Ø"/>
            </a:pPr>
            <a:r>
              <a:rPr lang="en-US" sz="2400" dirty="0"/>
              <a:t>Marketing and Sales</a:t>
            </a:r>
          </a:p>
          <a:p>
            <a:pPr>
              <a:buFont typeface="Wingdings" panose="05000000000000000000" pitchFamily="2" charset="2"/>
              <a:buChar char="Ø"/>
            </a:pPr>
            <a:r>
              <a:rPr lang="en-US" sz="2400" dirty="0"/>
              <a:t>Customer base</a:t>
            </a:r>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58079406"/>
      </p:ext>
    </p:extLst>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18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18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190"/>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t>MARKETING</a:t>
            </a:r>
            <a:endParaRPr lang="en-US" sz="2800" b="1" dirty="0">
              <a:solidFill>
                <a:schemeClr val="bg1"/>
              </a:solidFill>
              <a:latin typeface="Calibri" pitchFamily="34" charset="0"/>
            </a:endParaRP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r>
              <a:rPr lang="en-US" b="1" u="sng" dirty="0"/>
              <a:t>Plans for Marketing: </a:t>
            </a:r>
          </a:p>
          <a:p>
            <a:pPr marL="457200" lvl="0" indent="-457200">
              <a:buAutoNum type="arabicPeriod"/>
            </a:pPr>
            <a:r>
              <a:rPr lang="en-US" sz="2400" dirty="0"/>
              <a:t>Immediate ( </a:t>
            </a:r>
            <a:r>
              <a:rPr lang="en-US" sz="2400" dirty="0" err="1"/>
              <a:t>Upto</a:t>
            </a:r>
            <a:r>
              <a:rPr lang="en-US" sz="2400" dirty="0"/>
              <a:t> 3 Months)</a:t>
            </a:r>
          </a:p>
          <a:p>
            <a:pPr marL="457200" lvl="0" indent="-457200">
              <a:buAutoNum type="arabicPeriod"/>
            </a:pPr>
            <a:r>
              <a:rPr lang="en-US" sz="2400" dirty="0"/>
              <a:t>Short term (1 year)</a:t>
            </a:r>
          </a:p>
          <a:p>
            <a:pPr marL="457200" lvl="0" indent="-457200">
              <a:buAutoNum type="arabicPeriod"/>
            </a:pPr>
            <a:r>
              <a:rPr lang="en-US" sz="2400" dirty="0"/>
              <a:t>Long term ( 3-5 years)</a:t>
            </a:r>
          </a:p>
          <a:p>
            <a:pPr marL="457200" lvl="0" indent="-457200">
              <a:buAutoNum type="arabicPeriod"/>
            </a:pPr>
            <a:r>
              <a:rPr lang="en-US" sz="2400" dirty="0"/>
              <a:t>Plan should include tonnages as well as revenges &amp; budgets</a:t>
            </a:r>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69292177"/>
      </p:ext>
    </p:extLst>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15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153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153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t>MARKETING</a:t>
            </a:r>
            <a:endParaRPr lang="en-US" sz="2800" b="1" dirty="0">
              <a:solidFill>
                <a:schemeClr val="bg1"/>
              </a:solidFill>
              <a:latin typeface="Calibri" pitchFamily="34" charset="0"/>
            </a:endParaRP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r>
              <a:rPr lang="en-US" b="1" u="sng" dirty="0"/>
              <a:t>Information: </a:t>
            </a:r>
            <a:endParaRPr lang="en-US" sz="2000" b="1" dirty="0"/>
          </a:p>
          <a:p>
            <a:pPr marL="457200" lvl="0" indent="-457200">
              <a:buNone/>
            </a:pPr>
            <a:r>
              <a:rPr lang="en-US" sz="2800" dirty="0"/>
              <a:t>Products &amp; Services</a:t>
            </a:r>
          </a:p>
          <a:p>
            <a:pPr marL="457200" lvl="0" indent="-457200">
              <a:buAutoNum type="arabicPeriod"/>
            </a:pPr>
            <a:r>
              <a:rPr lang="en-US" sz="2400" dirty="0"/>
              <a:t>Uses</a:t>
            </a:r>
          </a:p>
          <a:p>
            <a:pPr marL="457200" lvl="0" indent="-457200">
              <a:buAutoNum type="arabicPeriod"/>
            </a:pPr>
            <a:r>
              <a:rPr lang="en-US" sz="2400" dirty="0"/>
              <a:t>Specifications</a:t>
            </a:r>
          </a:p>
          <a:p>
            <a:pPr marL="457200" lvl="0" indent="-457200">
              <a:buAutoNum type="arabicPeriod"/>
            </a:pPr>
            <a:r>
              <a:rPr lang="en-US" sz="2400" dirty="0"/>
              <a:t>Availability</a:t>
            </a:r>
          </a:p>
          <a:p>
            <a:pPr marL="457200" lvl="0" indent="-457200">
              <a:buAutoNum type="arabicPeriod"/>
            </a:pPr>
            <a:r>
              <a:rPr lang="en-US" sz="2400" dirty="0"/>
              <a:t>Packaging</a:t>
            </a:r>
          </a:p>
          <a:p>
            <a:pPr marL="457200" lvl="0" indent="-457200">
              <a:buAutoNum type="arabicPeriod"/>
            </a:pPr>
            <a:r>
              <a:rPr lang="en-US" sz="2400" dirty="0"/>
              <a:t>Regulatory issues</a:t>
            </a:r>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58079406"/>
      </p:ext>
    </p:extLst>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17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17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17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t>MARKETING</a:t>
            </a:r>
            <a:endParaRPr lang="en-US" sz="2800" b="1" dirty="0">
              <a:solidFill>
                <a:schemeClr val="bg1"/>
              </a:solidFill>
              <a:latin typeface="Calibri" pitchFamily="34" charset="0"/>
            </a:endParaRP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r>
              <a:rPr lang="en-US" b="1" u="sng" dirty="0"/>
              <a:t>Pricing: </a:t>
            </a:r>
          </a:p>
          <a:p>
            <a:pPr marL="457200" lvl="0" indent="-457200">
              <a:buNone/>
            </a:pPr>
            <a:r>
              <a:rPr lang="en-US" sz="2800" dirty="0"/>
              <a:t>Based on</a:t>
            </a:r>
          </a:p>
          <a:p>
            <a:pPr marL="0" lvl="0" indent="0">
              <a:buNone/>
            </a:pPr>
            <a:r>
              <a:rPr lang="en-US" sz="2400" dirty="0"/>
              <a:t>	Opportunity</a:t>
            </a:r>
          </a:p>
          <a:p>
            <a:pPr marL="0" lvl="0" indent="0">
              <a:buNone/>
            </a:pPr>
            <a:r>
              <a:rPr lang="en-US" sz="2400" dirty="0"/>
              <a:t>	Cost Based</a:t>
            </a:r>
          </a:p>
          <a:p>
            <a:pPr marL="0" lvl="0" indent="0">
              <a:buNone/>
            </a:pPr>
            <a:r>
              <a:rPr lang="en-US" sz="2400" dirty="0"/>
              <a:t>	Distress sale</a:t>
            </a:r>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192280440"/>
      </p:ext>
    </p:extLst>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15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153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153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t>MARKETING</a:t>
            </a:r>
            <a:endParaRPr lang="en-US" sz="2800" b="1" dirty="0">
              <a:solidFill>
                <a:schemeClr val="bg1"/>
              </a:solidFill>
              <a:latin typeface="Calibri" pitchFamily="34" charset="0"/>
            </a:endParaRP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lnSpcReduction="10000"/>
          </a:bodyPr>
          <a:lstStyle/>
          <a:p>
            <a:r>
              <a:rPr lang="en-US" b="1" u="sng" dirty="0"/>
              <a:t>Customers &amp; Competitor</a:t>
            </a:r>
            <a:endParaRPr lang="en-US" sz="2000" b="1" dirty="0"/>
          </a:p>
          <a:p>
            <a:pPr marL="457200" lvl="0" indent="-457200">
              <a:buAutoNum type="arabicPeriod"/>
            </a:pPr>
            <a:r>
              <a:rPr lang="en-US" sz="2800" dirty="0"/>
              <a:t>Know your customers</a:t>
            </a:r>
          </a:p>
          <a:p>
            <a:pPr marL="457200" lvl="0" indent="-457200">
              <a:buNone/>
            </a:pPr>
            <a:r>
              <a:rPr lang="en-US" sz="2000" dirty="0"/>
              <a:t>  		</a:t>
            </a:r>
            <a:r>
              <a:rPr lang="en-US" sz="2400" dirty="0"/>
              <a:t>Policies</a:t>
            </a:r>
          </a:p>
          <a:p>
            <a:pPr marL="457200" lvl="0" indent="-457200">
              <a:buNone/>
            </a:pPr>
            <a:r>
              <a:rPr lang="en-US" sz="2400" dirty="0"/>
              <a:t>		Difficulties</a:t>
            </a:r>
          </a:p>
          <a:p>
            <a:pPr marL="457200" lvl="0" indent="-457200">
              <a:buNone/>
            </a:pPr>
            <a:r>
              <a:rPr lang="en-US" sz="2400" dirty="0"/>
              <a:t>		Requirements</a:t>
            </a:r>
          </a:p>
          <a:p>
            <a:pPr marL="457200" lvl="0" indent="-457200">
              <a:buAutoNum type="arabicPeriod" startAt="2"/>
            </a:pPr>
            <a:r>
              <a:rPr lang="en-US" sz="2800" dirty="0"/>
              <a:t>Competitor</a:t>
            </a:r>
          </a:p>
          <a:p>
            <a:pPr marL="457200" lvl="0" indent="-457200">
              <a:buNone/>
            </a:pPr>
            <a:r>
              <a:rPr lang="en-US" sz="2000" dirty="0"/>
              <a:t>		</a:t>
            </a:r>
            <a:r>
              <a:rPr lang="en-US" sz="2400" dirty="0"/>
              <a:t>Products</a:t>
            </a:r>
          </a:p>
          <a:p>
            <a:pPr marL="457200" lvl="0" indent="-457200">
              <a:buNone/>
            </a:pPr>
            <a:r>
              <a:rPr lang="en-US" sz="2400" dirty="0"/>
              <a:t>		Pricing</a:t>
            </a:r>
          </a:p>
          <a:p>
            <a:pPr marL="457200" lvl="0" indent="-457200">
              <a:buNone/>
            </a:pPr>
            <a:r>
              <a:rPr lang="en-US" sz="2400" dirty="0"/>
              <a:t>		Strength &amp; weakness</a:t>
            </a:r>
          </a:p>
          <a:p>
            <a:pPr marL="457200" lvl="0" indent="-457200">
              <a:buNone/>
            </a:pPr>
            <a:r>
              <a:rPr lang="en-US" sz="2400" dirty="0"/>
              <a:t>		Practices.</a:t>
            </a:r>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58079406"/>
      </p:ext>
    </p:extLst>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15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153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153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t>MARKETING</a:t>
            </a:r>
            <a:endParaRPr lang="en-US" sz="2800" b="1" dirty="0">
              <a:solidFill>
                <a:schemeClr val="bg1"/>
              </a:solidFill>
              <a:latin typeface="Calibri" pitchFamily="34" charset="0"/>
            </a:endParaRP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r>
              <a:rPr lang="en-US" b="1" u="sng" dirty="0"/>
              <a:t>Interactions:</a:t>
            </a:r>
            <a:endParaRPr lang="en-US" sz="2000" b="1" dirty="0"/>
          </a:p>
          <a:p>
            <a:pPr marL="0" lvl="0" indent="0">
              <a:buNone/>
            </a:pPr>
            <a:r>
              <a:rPr lang="en-US" sz="2400" dirty="0"/>
              <a:t>	R &amp; D for new products</a:t>
            </a:r>
          </a:p>
          <a:p>
            <a:pPr marL="0" lvl="0" indent="0">
              <a:buNone/>
            </a:pPr>
            <a:r>
              <a:rPr lang="en-US" sz="2400" dirty="0"/>
              <a:t>	Operations for plans/stocks</a:t>
            </a:r>
          </a:p>
          <a:p>
            <a:pPr marL="0" lvl="0" indent="0">
              <a:buNone/>
            </a:pPr>
            <a:r>
              <a:rPr lang="en-US" sz="2400" dirty="0"/>
              <a:t>	Sales for logistics</a:t>
            </a:r>
            <a:endParaRPr lang="en-US" sz="24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58079406"/>
      </p:ext>
    </p:extLst>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14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150"/>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15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t>MARKETING</a:t>
            </a:r>
            <a:endParaRPr lang="en-US" sz="2800" b="1" dirty="0">
              <a:solidFill>
                <a:schemeClr val="bg1"/>
              </a:solidFill>
              <a:latin typeface="Calibri" pitchFamily="34" charset="0"/>
            </a:endParaRP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r>
              <a:rPr lang="en-US" b="1" u="sng" dirty="0"/>
              <a:t>Information Gathering:</a:t>
            </a:r>
          </a:p>
          <a:p>
            <a:pPr marL="0" lvl="0" indent="0">
              <a:buNone/>
            </a:pPr>
            <a:r>
              <a:rPr lang="en-US" sz="2400" dirty="0"/>
              <a:t>	Library best source</a:t>
            </a:r>
          </a:p>
          <a:p>
            <a:pPr marL="0" lvl="0" indent="0">
              <a:buNone/>
            </a:pPr>
            <a:r>
              <a:rPr lang="en-US" sz="2400" dirty="0"/>
              <a:t>	Trade fares</a:t>
            </a:r>
          </a:p>
          <a:p>
            <a:pPr marL="0" lvl="0" indent="0">
              <a:buNone/>
            </a:pPr>
            <a:r>
              <a:rPr lang="en-US" sz="2400" dirty="0"/>
              <a:t>	Internal meetings</a:t>
            </a:r>
          </a:p>
          <a:p>
            <a:pPr marL="0" lvl="0" indent="0">
              <a:buNone/>
            </a:pPr>
            <a:r>
              <a:rPr lang="en-US" sz="2400" dirty="0"/>
              <a:t>	Academic institutions</a:t>
            </a:r>
          </a:p>
          <a:p>
            <a:pPr marL="0" lvl="0" indent="0">
              <a:buNone/>
            </a:pPr>
            <a:r>
              <a:rPr lang="en-US" sz="2400" dirty="0"/>
              <a:t>	Develop own networking</a:t>
            </a:r>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409506014"/>
      </p:ext>
    </p:extLst>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15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153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153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r>
              <a:rPr lang="en-US" sz="2800" b="1" dirty="0">
                <a:solidFill>
                  <a:schemeClr val="bg1"/>
                </a:solidFill>
                <a:latin typeface="Calibri" pitchFamily="34" charset="0"/>
              </a:rPr>
              <a:t>MARKETING</a:t>
            </a: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r>
              <a:rPr lang="en-US" b="1" u="sng" dirty="0"/>
              <a:t> Remember</a:t>
            </a:r>
            <a:endParaRPr lang="en-US" sz="2000" b="1" dirty="0"/>
          </a:p>
          <a:p>
            <a:pPr marL="457200" lvl="0" indent="-457200">
              <a:buNone/>
            </a:pPr>
            <a:r>
              <a:rPr lang="en-US" sz="2800" dirty="0"/>
              <a:t>You are </a:t>
            </a:r>
          </a:p>
          <a:p>
            <a:pPr marL="0" lvl="0" indent="0">
              <a:buNone/>
            </a:pPr>
            <a:r>
              <a:rPr lang="en-US" sz="2400" dirty="0"/>
              <a:t>	Face of the company</a:t>
            </a:r>
          </a:p>
          <a:p>
            <a:pPr marL="0" lvl="0" indent="0">
              <a:buNone/>
            </a:pPr>
            <a:r>
              <a:rPr lang="en-US" sz="2400" dirty="0"/>
              <a:t>	Control your Budget &amp; overheads</a:t>
            </a:r>
          </a:p>
          <a:p>
            <a:pPr marL="0" lvl="0" indent="0">
              <a:buNone/>
            </a:pPr>
            <a:r>
              <a:rPr lang="en-US" sz="2400" dirty="0"/>
              <a:t>	Do not show off</a:t>
            </a:r>
          </a:p>
          <a:p>
            <a:pPr marL="0" lvl="0" indent="0">
              <a:buNone/>
            </a:pPr>
            <a:r>
              <a:rPr lang="en-US" sz="2400" dirty="0"/>
              <a:t>	Do not underwrite other Depts./personal</a:t>
            </a:r>
          </a:p>
          <a:p>
            <a:pPr marL="0" lvl="0" indent="0">
              <a:buNone/>
            </a:pPr>
            <a:endParaRPr lang="en-US" sz="2000" b="1" dirty="0"/>
          </a:p>
          <a:p>
            <a:pPr marL="457200" lvl="0" indent="-457200">
              <a:buAutoNum type="arabicPeriod"/>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58079406"/>
      </p:ext>
    </p:extLst>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15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153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153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pPr marL="457200" lvl="0" indent="-457200">
              <a:buNone/>
            </a:pPr>
            <a:r>
              <a:rPr lang="en-US" sz="2800" b="1" dirty="0"/>
              <a:t>MARKETING</a:t>
            </a: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r>
              <a:rPr lang="en-US" b="1" u="sng" dirty="0"/>
              <a:t>Inputs :</a:t>
            </a:r>
          </a:p>
          <a:p>
            <a:pPr marL="0" indent="0">
              <a:buNone/>
            </a:pPr>
            <a:r>
              <a:rPr lang="en-US" sz="2400" dirty="0"/>
              <a:t>	Production plan</a:t>
            </a:r>
          </a:p>
          <a:p>
            <a:pPr marL="0" indent="0">
              <a:buNone/>
            </a:pPr>
            <a:r>
              <a:rPr lang="en-US" sz="2400" dirty="0"/>
              <a:t>	Product information / produces</a:t>
            </a:r>
          </a:p>
          <a:p>
            <a:pPr marL="0" indent="0">
              <a:buNone/>
            </a:pPr>
            <a:r>
              <a:rPr lang="en-US" sz="2400" dirty="0"/>
              <a:t>	Pricing Guidelines</a:t>
            </a:r>
          </a:p>
          <a:p>
            <a:pPr marL="0" indent="0">
              <a:buNone/>
            </a:pPr>
            <a:r>
              <a:rPr lang="en-US" sz="2400" dirty="0"/>
              <a:t>	Customer details</a:t>
            </a:r>
            <a:endParaRPr lang="en-US" sz="2000" b="1" dirty="0"/>
          </a:p>
          <a:p>
            <a:r>
              <a:rPr lang="en-US" b="1" u="sng" dirty="0"/>
              <a:t>Outputs:</a:t>
            </a:r>
          </a:p>
          <a:p>
            <a:pPr marL="0" lvl="0" indent="0">
              <a:buNone/>
            </a:pPr>
            <a:r>
              <a:rPr lang="en-US" sz="2400" dirty="0"/>
              <a:t>	Marketing plan</a:t>
            </a:r>
          </a:p>
          <a:p>
            <a:pPr marL="0" lvl="0" indent="0">
              <a:buNone/>
            </a:pPr>
            <a:r>
              <a:rPr lang="en-US" sz="2400" dirty="0"/>
              <a:t>	Review addition of customers</a:t>
            </a:r>
          </a:p>
          <a:p>
            <a:pPr marL="0" lvl="0" indent="0">
              <a:buNone/>
            </a:pPr>
            <a:r>
              <a:rPr lang="en-US" sz="2400" dirty="0"/>
              <a:t>	Increase in sales , revenue</a:t>
            </a:r>
          </a:p>
          <a:p>
            <a:pPr marL="457200" lvl="0" indent="-457200">
              <a:buNone/>
            </a:pPr>
            <a:endParaRPr lang="en-US" sz="2000" b="1" dirty="0"/>
          </a:p>
          <a:p>
            <a:pPr marL="457200" lvl="0" indent="-457200">
              <a:buNone/>
            </a:pPr>
            <a:endParaRPr lang="en-US" sz="2000" b="1" dirty="0"/>
          </a:p>
          <a:p>
            <a:pPr marL="457200" lvl="0" indent="-457200">
              <a:buAutoNum type="arabicPeriod"/>
            </a:pPr>
            <a:endParaRPr lang="en-US" sz="2000" b="1" dirty="0"/>
          </a:p>
          <a:p>
            <a:pPr marL="457200" lvl="0" indent="-457200">
              <a:buAutoNum type="arabicPeriod"/>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58079406"/>
      </p:ext>
    </p:extLst>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15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153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153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pPr marL="457200" lvl="0" indent="-457200">
              <a:buNone/>
            </a:pPr>
            <a:r>
              <a:rPr lang="en-US" sz="2800" b="1" dirty="0"/>
              <a:t>CAREER CHOICE</a:t>
            </a: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pPr marL="457200" lvl="0" indent="-457200">
              <a:buNone/>
            </a:pPr>
            <a:endParaRPr lang="en-US" sz="2000" b="1" dirty="0"/>
          </a:p>
          <a:p>
            <a:r>
              <a:rPr lang="en-US" sz="2400" dirty="0"/>
              <a:t>It is normal to be uncertain</a:t>
            </a:r>
          </a:p>
          <a:p>
            <a:r>
              <a:rPr lang="en-US" sz="2400" dirty="0"/>
              <a:t>Do not follow the crowd</a:t>
            </a:r>
          </a:p>
          <a:p>
            <a:r>
              <a:rPr lang="en-US" sz="2400" dirty="0"/>
              <a:t>Is the interest in lighter studies genuine</a:t>
            </a:r>
          </a:p>
          <a:p>
            <a:r>
              <a:rPr lang="en-US" sz="2400" dirty="0"/>
              <a:t>It is never too late to change</a:t>
            </a:r>
          </a:p>
          <a:p>
            <a:r>
              <a:rPr lang="en-US" sz="2400" dirty="0"/>
              <a:t>Higher studies ? In which held, Job? In which field</a:t>
            </a:r>
          </a:p>
          <a:p>
            <a:pPr marL="457200" lvl="0" indent="-457200">
              <a:buNone/>
            </a:pPr>
            <a:endParaRPr lang="en-US" sz="2000" b="1" dirty="0"/>
          </a:p>
          <a:p>
            <a:pPr marL="457200" lvl="0" indent="-457200">
              <a:buNone/>
            </a:pPr>
            <a:endParaRPr lang="en-US" sz="2000" b="1" dirty="0"/>
          </a:p>
          <a:p>
            <a:pPr marL="457200" lvl="0" indent="-457200">
              <a:buAutoNum type="arabicPeriod"/>
            </a:pPr>
            <a:endParaRPr lang="en-US" sz="2000" b="1" dirty="0"/>
          </a:p>
          <a:p>
            <a:pPr marL="457200" lvl="0" indent="-457200">
              <a:buAutoNum type="arabicPeriod"/>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58079406"/>
      </p:ext>
    </p:extLst>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76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76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76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pPr marL="457200" lvl="0" indent="-457200">
              <a:buNone/>
            </a:pPr>
            <a:r>
              <a:rPr lang="en-US" sz="2800" b="1" dirty="0"/>
              <a:t>WRITING AN SOP</a:t>
            </a: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pPr marL="457200" lvl="0" indent="-457200">
              <a:buNone/>
            </a:pPr>
            <a:endParaRPr lang="en-US" sz="2000" b="1" dirty="0"/>
          </a:p>
          <a:p>
            <a:r>
              <a:rPr lang="en-US" sz="2400" dirty="0"/>
              <a:t>Be Honest &amp; Realistic</a:t>
            </a:r>
          </a:p>
          <a:p>
            <a:r>
              <a:rPr lang="en-US" sz="2400" dirty="0"/>
              <a:t>State what you feel not What you should feel</a:t>
            </a:r>
          </a:p>
          <a:p>
            <a:r>
              <a:rPr lang="en-US" sz="2400" dirty="0"/>
              <a:t>A little uncertainty is not bad</a:t>
            </a:r>
          </a:p>
          <a:p>
            <a:r>
              <a:rPr lang="en-US" sz="2400" dirty="0"/>
              <a:t>State what you intend to achieve through higher education </a:t>
            </a:r>
          </a:p>
          <a:p>
            <a:r>
              <a:rPr lang="en-US" sz="2400" dirty="0"/>
              <a:t>Use understand language and informal narrative </a:t>
            </a:r>
            <a:endParaRPr lang="en-US" sz="2000" b="1" dirty="0"/>
          </a:p>
          <a:p>
            <a:pPr marL="0" lvl="0" indent="0">
              <a:buNone/>
            </a:pPr>
            <a:endParaRPr lang="en-US" sz="2000" b="1" dirty="0"/>
          </a:p>
          <a:p>
            <a:pPr marL="457200" lvl="0" indent="-457200">
              <a:buAutoNum type="arabicPeriod"/>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975429668"/>
      </p:ext>
    </p:extLst>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75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75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75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pPr marL="457200" lvl="0" indent="-457200">
              <a:buNone/>
            </a:pPr>
            <a:endParaRPr lang="en-US" sz="2800" b="1" dirty="0"/>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r>
              <a:rPr lang="en-US" b="1" u="sng" dirty="0"/>
              <a:t>Appearing for an interview : </a:t>
            </a:r>
            <a:endParaRPr lang="en-US" sz="2000" b="1" u="sng" dirty="0"/>
          </a:p>
          <a:p>
            <a:pPr marL="457200" indent="-457200">
              <a:buFont typeface="+mj-lt"/>
              <a:buAutoNum type="arabicPeriod"/>
            </a:pPr>
            <a:r>
              <a:rPr lang="en-US" sz="2400" dirty="0"/>
              <a:t>Get information about company &amp; its product </a:t>
            </a:r>
          </a:p>
          <a:p>
            <a:pPr marL="457200" indent="-457200">
              <a:buFont typeface="+mj-lt"/>
              <a:buAutoNum type="arabicPeriod"/>
            </a:pPr>
            <a:r>
              <a:rPr lang="en-US" sz="2400" dirty="0"/>
              <a:t>For R&amp; D be ready with some thoughts for the organization</a:t>
            </a:r>
          </a:p>
          <a:p>
            <a:pPr marL="457200" indent="-457200">
              <a:buFont typeface="+mj-lt"/>
              <a:buAutoNum type="arabicPeriod"/>
            </a:pPr>
            <a:r>
              <a:rPr lang="en-US" sz="2400" dirty="0"/>
              <a:t>Define what you think you will be required to do &amp; contribute </a:t>
            </a:r>
          </a:p>
          <a:p>
            <a:pPr marL="457200" indent="-457200">
              <a:buFont typeface="+mj-lt"/>
              <a:buAutoNum type="arabicPeriod"/>
            </a:pPr>
            <a:r>
              <a:rPr lang="en-US" sz="2400" dirty="0"/>
              <a:t>Do not ask too many queries about locations and transfers</a:t>
            </a:r>
          </a:p>
          <a:p>
            <a:pPr marL="457200" indent="-457200">
              <a:buFont typeface="+mj-lt"/>
              <a:buAutoNum type="arabicPeriod"/>
            </a:pPr>
            <a:r>
              <a:rPr lang="en-US" sz="2400" dirty="0"/>
              <a:t>Do not be worried about slightly lower salary</a:t>
            </a:r>
          </a:p>
          <a:p>
            <a:pPr marL="457200" indent="-457200">
              <a:buFont typeface="+mj-lt"/>
              <a:buAutoNum type="arabicPeriod"/>
            </a:pPr>
            <a:r>
              <a:rPr lang="en-US" sz="2400" dirty="0"/>
              <a:t>Ask questions</a:t>
            </a:r>
          </a:p>
          <a:p>
            <a:pPr marL="0" indent="0">
              <a:buNone/>
            </a:pPr>
            <a:endParaRPr lang="en-US" sz="2000" dirty="0"/>
          </a:p>
          <a:p>
            <a:pPr marL="457200" lvl="0" indent="-457200">
              <a:buNone/>
            </a:pPr>
            <a:endParaRPr lang="en-US" sz="2000" b="1" dirty="0"/>
          </a:p>
          <a:p>
            <a:pPr marL="457200" lvl="0" indent="-457200">
              <a:buAutoNum type="arabicPeriod"/>
            </a:pPr>
            <a:endParaRPr lang="en-US" sz="2000" b="1" dirty="0"/>
          </a:p>
          <a:p>
            <a:pPr marL="457200" lvl="0" indent="-457200">
              <a:buAutoNum type="arabicPeriod"/>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193500049"/>
      </p:ext>
    </p:extLst>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1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11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112"/>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pPr marL="457200" lvl="0" indent="-457200">
              <a:buNone/>
            </a:pPr>
            <a:endParaRPr lang="en-US" sz="2800" b="1" dirty="0"/>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r>
              <a:rPr lang="en-US" b="1" u="sng" dirty="0"/>
              <a:t>Some Soft skills:</a:t>
            </a:r>
          </a:p>
          <a:p>
            <a:pPr marL="457200" indent="-457200">
              <a:buAutoNum type="arabicPeriod"/>
            </a:pPr>
            <a:r>
              <a:rPr lang="en-US" sz="2800" dirty="0"/>
              <a:t>Motivation- Maslow's theory</a:t>
            </a:r>
          </a:p>
          <a:p>
            <a:pPr marL="457200" indent="-457200">
              <a:buAutoNum type="arabicPeriod"/>
            </a:pPr>
            <a:r>
              <a:rPr lang="en-US" sz="2800" dirty="0"/>
              <a:t>Communication- Johari window</a:t>
            </a:r>
          </a:p>
          <a:p>
            <a:pPr marL="457200" indent="-457200">
              <a:buAutoNum type="arabicPeriod"/>
            </a:pPr>
            <a:r>
              <a:rPr lang="en-US" sz="2800" dirty="0"/>
              <a:t>Leadership –styles</a:t>
            </a:r>
          </a:p>
          <a:p>
            <a:pPr marL="457200" indent="-457200">
              <a:buAutoNum type="arabicPeriod"/>
            </a:pPr>
            <a:r>
              <a:rPr lang="en-US" sz="2800" dirty="0"/>
              <a:t>Getting along with people –How ? ,  Why?</a:t>
            </a:r>
          </a:p>
          <a:p>
            <a:pPr marL="457200" indent="-457200">
              <a:buAutoNum type="arabicPeriod"/>
            </a:pPr>
            <a:r>
              <a:rPr lang="en-US" sz="2800" dirty="0"/>
              <a:t>Recognizing Oneself</a:t>
            </a:r>
          </a:p>
          <a:p>
            <a:pPr marL="0" indent="0">
              <a:buNone/>
            </a:pPr>
            <a:endParaRPr lang="en-US" sz="2000" dirty="0"/>
          </a:p>
          <a:p>
            <a:pPr marL="457200" lvl="0" indent="-457200">
              <a:buNone/>
            </a:pPr>
            <a:endParaRPr lang="en-US" sz="2000" b="1" dirty="0"/>
          </a:p>
          <a:p>
            <a:pPr marL="457200" lvl="0" indent="-457200">
              <a:buAutoNum type="arabicPeriod"/>
            </a:pPr>
            <a:endParaRPr lang="en-US" sz="2000" b="1" dirty="0"/>
          </a:p>
          <a:p>
            <a:pPr marL="457200" lvl="0" indent="-457200">
              <a:buAutoNum type="arabicPeriod"/>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594066819"/>
      </p:ext>
    </p:extLst>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75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75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760"/>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pPr marL="457200" lvl="0" indent="-457200">
              <a:buNone/>
            </a:pPr>
            <a:r>
              <a:rPr lang="en-US" sz="2800" b="1" dirty="0"/>
              <a:t>TOXICITY</a:t>
            </a: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r>
              <a:rPr lang="en-US" sz="2400" dirty="0"/>
              <a:t>Toxicity of chemicals</a:t>
            </a:r>
          </a:p>
          <a:p>
            <a:r>
              <a:rPr lang="en-US" sz="2400" dirty="0"/>
              <a:t>Concept of selective toxicity</a:t>
            </a:r>
          </a:p>
          <a:p>
            <a:r>
              <a:rPr lang="en-US" sz="3000" u="sng" dirty="0"/>
              <a:t>Types of Toxicity </a:t>
            </a:r>
          </a:p>
          <a:p>
            <a:pPr marL="457200" indent="-457200">
              <a:buFont typeface="+mj-lt"/>
              <a:buAutoNum type="arabicPeriod"/>
            </a:pPr>
            <a:r>
              <a:rPr lang="en-US" sz="2000" dirty="0"/>
              <a:t>Oral</a:t>
            </a:r>
          </a:p>
          <a:p>
            <a:pPr marL="457200" indent="-457200">
              <a:buFont typeface="+mj-lt"/>
              <a:buAutoNum type="arabicPeriod"/>
            </a:pPr>
            <a:r>
              <a:rPr lang="en-US" sz="2000" dirty="0"/>
              <a:t>Inhalation</a:t>
            </a:r>
          </a:p>
          <a:p>
            <a:pPr marL="457200" indent="-457200">
              <a:buFont typeface="+mj-lt"/>
              <a:buAutoNum type="arabicPeriod"/>
            </a:pPr>
            <a:r>
              <a:rPr lang="en-US" sz="2000" dirty="0"/>
              <a:t>Dermal</a:t>
            </a:r>
          </a:p>
          <a:p>
            <a:pPr marL="457200" indent="-457200">
              <a:buFont typeface="+mj-lt"/>
              <a:buAutoNum type="arabicPeriod"/>
            </a:pPr>
            <a:r>
              <a:rPr lang="en-US" sz="2000" dirty="0"/>
              <a:t>Neurotoxicity</a:t>
            </a:r>
          </a:p>
          <a:p>
            <a:pPr marL="457200" indent="-457200">
              <a:buFont typeface="+mj-lt"/>
              <a:buAutoNum type="arabicPeriod"/>
            </a:pPr>
            <a:r>
              <a:rPr lang="en-US" sz="2000" dirty="0"/>
              <a:t>Carcinogens</a:t>
            </a:r>
          </a:p>
          <a:p>
            <a:pPr marL="457200" indent="-457200">
              <a:buFont typeface="+mj-lt"/>
              <a:buAutoNum type="arabicPeriod"/>
            </a:pPr>
            <a:r>
              <a:rPr lang="en-US" sz="2000" dirty="0"/>
              <a:t>Teratogenicity</a:t>
            </a:r>
          </a:p>
          <a:p>
            <a:pPr marL="0" lvl="0" indent="0">
              <a:buNone/>
            </a:pPr>
            <a:endParaRPr lang="en-US" sz="2000" b="1" dirty="0"/>
          </a:p>
          <a:p>
            <a:pPr marL="457200" lvl="0" indent="-457200">
              <a:buAutoNum type="arabicPeriod"/>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981864457"/>
      </p:ext>
    </p:extLst>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10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10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10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pPr marL="457200" lvl="0" indent="-457200">
              <a:buNone/>
            </a:pPr>
            <a:r>
              <a:rPr lang="en-US" sz="2800" b="1" dirty="0"/>
              <a:t>TOXICITY</a:t>
            </a: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pPr marL="457200" indent="-457200">
              <a:buNone/>
            </a:pPr>
            <a:r>
              <a:rPr lang="en-US" b="1" u="sng" dirty="0"/>
              <a:t>TOXICITY : </a:t>
            </a:r>
          </a:p>
          <a:p>
            <a:r>
              <a:rPr lang="en-US" sz="2400" dirty="0"/>
              <a:t>Acute &amp; Subacute toxicity</a:t>
            </a:r>
          </a:p>
          <a:p>
            <a:r>
              <a:rPr lang="en-US" sz="2400" dirty="0"/>
              <a:t>Impact of the above in working life</a:t>
            </a:r>
          </a:p>
          <a:p>
            <a:pPr marL="0" lvl="0" indent="0">
              <a:buNone/>
            </a:pPr>
            <a:endParaRPr lang="en-US" sz="2000" b="1" dirty="0"/>
          </a:p>
          <a:p>
            <a:pPr marL="457200" lvl="0" indent="-457200">
              <a:buAutoNum type="arabicPeriod"/>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848675722"/>
      </p:ext>
    </p:extLst>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7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738"/>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73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pPr marL="457200" lvl="0" indent="-457200">
              <a:buNone/>
            </a:pPr>
            <a:r>
              <a:rPr lang="en-US" sz="2800" b="1" dirty="0"/>
              <a:t>TOXICITY</a:t>
            </a:r>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fontScale="92500" lnSpcReduction="10000"/>
          </a:bodyPr>
          <a:lstStyle/>
          <a:p>
            <a:r>
              <a:rPr lang="en-US" b="1" u="sng" dirty="0"/>
              <a:t>Toxicity  Of Chemicals:</a:t>
            </a:r>
          </a:p>
          <a:p>
            <a:pPr lvl="0">
              <a:buFont typeface="Wingdings" panose="05000000000000000000" pitchFamily="2" charset="2"/>
              <a:buChar char="Ø"/>
            </a:pPr>
            <a:r>
              <a:rPr lang="en-US" sz="2000" dirty="0"/>
              <a:t>Relation between </a:t>
            </a:r>
          </a:p>
          <a:p>
            <a:pPr marL="0" indent="0">
              <a:buNone/>
            </a:pPr>
            <a:r>
              <a:rPr lang="en-US" sz="2000" dirty="0"/>
              <a:t>	Toxicity &amp; physical properties</a:t>
            </a:r>
          </a:p>
          <a:p>
            <a:pPr marL="0" indent="0">
              <a:buNone/>
            </a:pPr>
            <a:r>
              <a:rPr lang="en-US" sz="2000" dirty="0"/>
              <a:t>	Toxicity &amp; </a:t>
            </a:r>
            <a:r>
              <a:rPr lang="en-US" sz="2000" dirty="0" err="1"/>
              <a:t>Corrosivity</a:t>
            </a:r>
            <a:endParaRPr lang="en-US" sz="2000" dirty="0"/>
          </a:p>
          <a:p>
            <a:pPr marL="0" indent="0">
              <a:buNone/>
            </a:pPr>
            <a:r>
              <a:rPr lang="en-US" sz="2000" dirty="0"/>
              <a:t>	General Antidotes</a:t>
            </a:r>
          </a:p>
          <a:p>
            <a:pPr marL="0" indent="0">
              <a:buNone/>
            </a:pPr>
            <a:r>
              <a:rPr lang="en-US" sz="2000" dirty="0"/>
              <a:t>	Flammability flash point &amp; its impact on chemical process</a:t>
            </a:r>
          </a:p>
          <a:p>
            <a:pPr lvl="0">
              <a:buFont typeface="Wingdings" panose="05000000000000000000" pitchFamily="2" charset="2"/>
              <a:buChar char="Ø"/>
            </a:pPr>
            <a:r>
              <a:rPr lang="en-US" sz="2000" dirty="0"/>
              <a:t>Residues and Persistence –Why both are important</a:t>
            </a:r>
          </a:p>
          <a:p>
            <a:pPr lvl="0">
              <a:buFont typeface="Wingdings" panose="05000000000000000000" pitchFamily="2" charset="2"/>
              <a:buChar char="Ø"/>
            </a:pPr>
            <a:r>
              <a:rPr lang="en-US" sz="2000" dirty="0"/>
              <a:t>Metabolism in human body’</a:t>
            </a:r>
          </a:p>
          <a:p>
            <a:pPr lvl="0">
              <a:buFont typeface="Wingdings" panose="05000000000000000000" pitchFamily="2" charset="2"/>
              <a:buChar char="Ø"/>
            </a:pPr>
            <a:r>
              <a:rPr lang="en-US" sz="2000" dirty="0"/>
              <a:t>Aquatic toxicity and toxicity to honey bees</a:t>
            </a:r>
          </a:p>
          <a:p>
            <a:pPr lvl="0">
              <a:buFont typeface="Wingdings" panose="05000000000000000000" pitchFamily="2" charset="2"/>
              <a:buChar char="Ø"/>
            </a:pPr>
            <a:r>
              <a:rPr lang="en-US" sz="2000" dirty="0"/>
              <a:t>Long term precautions in chemical industry</a:t>
            </a:r>
          </a:p>
          <a:p>
            <a:pPr marL="0" lvl="0" indent="0">
              <a:buNone/>
            </a:pPr>
            <a:r>
              <a:rPr lang="en-US" sz="2000" dirty="0"/>
              <a:t>	Do not be afraid &amp;Do not be a daredevil</a:t>
            </a:r>
          </a:p>
          <a:p>
            <a:pPr marL="0" indent="0">
              <a:buNone/>
            </a:pPr>
            <a:r>
              <a:rPr lang="en-US" sz="2000" dirty="0"/>
              <a:t>	Trust your instinct</a:t>
            </a:r>
          </a:p>
          <a:p>
            <a:pPr marL="0" indent="0">
              <a:buNone/>
            </a:pPr>
            <a:r>
              <a:rPr lang="en-US" sz="2000" dirty="0"/>
              <a:t>	Take simple precautions</a:t>
            </a:r>
          </a:p>
          <a:p>
            <a:pPr marL="0" lvl="0" indent="0">
              <a:buNone/>
            </a:pPr>
            <a:endParaRPr lang="en-US" sz="2000" b="1" dirty="0"/>
          </a:p>
          <a:p>
            <a:pPr marL="0" lvl="0" indent="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724173805"/>
      </p:ext>
    </p:extLst>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7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720"/>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72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pPr marL="457200" lvl="0" indent="-457200">
              <a:buNone/>
            </a:pPr>
            <a:r>
              <a:rPr lang="en-US" sz="2800" b="1"/>
              <a:t>TOXICITY</a:t>
            </a:r>
            <a:endParaRPr lang="en-US" sz="2800" b="1" dirty="0"/>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pPr marL="0" indent="0">
              <a:buNone/>
            </a:pPr>
            <a:r>
              <a:rPr lang="en-US" b="1" u="sng" dirty="0"/>
              <a:t>Methods of Disposal of toxic chemicals:</a:t>
            </a:r>
          </a:p>
          <a:p>
            <a:pPr marL="457200" lvl="0" indent="-457200">
              <a:buFont typeface="+mj-lt"/>
              <a:buAutoNum type="arabicPeriod"/>
            </a:pPr>
            <a:r>
              <a:rPr lang="en-US" sz="2000" dirty="0"/>
              <a:t>Transportation </a:t>
            </a:r>
          </a:p>
          <a:p>
            <a:pPr marL="457200" lvl="0" indent="-457200">
              <a:buFont typeface="+mj-lt"/>
              <a:buAutoNum type="arabicPeriod"/>
            </a:pPr>
            <a:r>
              <a:rPr lang="en-US" sz="2000" dirty="0"/>
              <a:t>Storage</a:t>
            </a:r>
          </a:p>
          <a:p>
            <a:pPr marL="457200" lvl="0" indent="-457200">
              <a:buFont typeface="+mj-lt"/>
              <a:buAutoNum type="arabicPeriod"/>
            </a:pPr>
            <a:r>
              <a:rPr lang="en-US" sz="2000" dirty="0"/>
              <a:t>Handling</a:t>
            </a:r>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845446737"/>
      </p:ext>
    </p:extLst>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457200"/>
        </p:xfrm>
        <a:graphic>
          <a:graphicData uri="http://schemas.openxmlformats.org/presentationml/2006/ole">
            <mc:AlternateContent xmlns:mc="http://schemas.openxmlformats.org/markup-compatibility/2006">
              <mc:Choice xmlns:v="urn:schemas-microsoft-com:vml" Requires="v">
                <p:oleObj name="Image" r:id="rId3" imgW="2488889" imgH="634697" progId="">
                  <p:embed/>
                </p:oleObj>
              </mc:Choice>
              <mc:Fallback>
                <p:oleObj name="Image" r:id="rId3" imgW="2488889" imgH="634697" progId="">
                  <p:embed/>
                  <p:pic>
                    <p:nvPicPr>
                      <p:cNvPr id="0" name="Picture 79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0" y="6426200"/>
            <a:ext cx="2438400" cy="431800"/>
          </a:xfrm>
          <a:prstGeom prst="rect">
            <a:avLst/>
          </a:prstGeom>
          <a:noFill/>
          <a:ln w="9525">
            <a:noFill/>
            <a:miter lim="800000"/>
            <a:headEnd/>
            <a:tailEnd/>
          </a:ln>
        </p:spPr>
        <p:txBody>
          <a:bodyPr anchor="ctr"/>
          <a:lstStyle/>
          <a:p>
            <a:pPr algn="ctr"/>
            <a:r>
              <a:rPr lang="en-US" sz="1400" b="1" dirty="0">
                <a:solidFill>
                  <a:schemeClr val="tx2"/>
                </a:solidFill>
                <a:latin typeface="Calibri" pitchFamily="34" charset="0"/>
              </a:rPr>
              <a:t>© ULTRA CONSERVE PVT. LTD.</a:t>
            </a:r>
          </a:p>
        </p:txBody>
      </p:sp>
      <p:graphicFrame>
        <p:nvGraphicFramePr>
          <p:cNvPr id="1027" name="Object 5"/>
          <p:cNvGraphicFramePr>
            <a:graphicFrameLocks/>
          </p:cNvGraphicFramePr>
          <p:nvPr/>
        </p:nvGraphicFramePr>
        <p:xfrm>
          <a:off x="0" y="6354763"/>
          <a:ext cx="9144000" cy="46037"/>
        </p:xfrm>
        <a:graphic>
          <a:graphicData uri="http://schemas.openxmlformats.org/presentationml/2006/ole">
            <mc:AlternateContent xmlns:mc="http://schemas.openxmlformats.org/markup-compatibility/2006">
              <mc:Choice xmlns:v="urn:schemas-microsoft-com:vml" Requires="v">
                <p:oleObj name="Image" r:id="rId5" imgW="698413" imgH="3009524" progId="">
                  <p:embed/>
                </p:oleObj>
              </mc:Choice>
              <mc:Fallback>
                <p:oleObj name="Image" r:id="rId5" imgW="698413" imgH="3009524" progId="">
                  <p:embed/>
                  <p:pic>
                    <p:nvPicPr>
                      <p:cNvPr id="0" name="Picture 798"/>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354763"/>
                        <a:ext cx="91440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6"/>
          <p:cNvGraphicFramePr>
            <a:graphicFrameLocks/>
          </p:cNvGraphicFramePr>
          <p:nvPr/>
        </p:nvGraphicFramePr>
        <p:xfrm>
          <a:off x="0" y="1219200"/>
          <a:ext cx="9144000" cy="46038"/>
        </p:xfrm>
        <a:graphic>
          <a:graphicData uri="http://schemas.openxmlformats.org/presentationml/2006/ole">
            <mc:AlternateContent xmlns:mc="http://schemas.openxmlformats.org/markup-compatibility/2006">
              <mc:Choice xmlns:v="urn:schemas-microsoft-com:vml" Requires="v">
                <p:oleObj name="Image" r:id="rId7" imgW="698413" imgH="3009524" progId="">
                  <p:embed/>
                </p:oleObj>
              </mc:Choice>
              <mc:Fallback>
                <p:oleObj name="Image" r:id="rId7" imgW="698413" imgH="3009524" progId="">
                  <p:embed/>
                  <p:pic>
                    <p:nvPicPr>
                      <p:cNvPr id="0" name="Picture 79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219200"/>
                        <a:ext cx="914400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AutoShape 7"/>
          <p:cNvSpPr>
            <a:spLocks noChangeArrowheads="1"/>
          </p:cNvSpPr>
          <p:nvPr/>
        </p:nvSpPr>
        <p:spPr bwMode="auto">
          <a:xfrm>
            <a:off x="-38100" y="685800"/>
            <a:ext cx="4826124" cy="569913"/>
          </a:xfrm>
          <a:prstGeom prst="roundRect">
            <a:avLst>
              <a:gd name="adj" fmla="val 9375"/>
            </a:avLst>
          </a:prstGeom>
          <a:solidFill>
            <a:srgbClr val="89B719"/>
          </a:solidFill>
          <a:ln w="9525">
            <a:noFill/>
            <a:round/>
            <a:headEnd/>
            <a:tailEnd/>
          </a:ln>
        </p:spPr>
        <p:txBody>
          <a:bodyPr wrap="none" anchor="ctr"/>
          <a:lstStyle/>
          <a:p>
            <a:pPr marL="457200" lvl="0" indent="-457200">
              <a:buNone/>
            </a:pPr>
            <a:endParaRPr lang="en-US" sz="2800" b="1" dirty="0"/>
          </a:p>
        </p:txBody>
      </p:sp>
      <p:sp>
        <p:nvSpPr>
          <p:cNvPr id="1034" name="AutoShape 12"/>
          <p:cNvSpPr>
            <a:spLocks noChangeArrowheads="1"/>
          </p:cNvSpPr>
          <p:nvPr/>
        </p:nvSpPr>
        <p:spPr bwMode="auto">
          <a:xfrm>
            <a:off x="25400" y="88900"/>
            <a:ext cx="1079500" cy="215900"/>
          </a:xfrm>
          <a:prstGeom prst="roundRect">
            <a:avLst>
              <a:gd name="adj" fmla="val 9375"/>
            </a:avLst>
          </a:prstGeom>
          <a:noFill/>
          <a:ln w="9525">
            <a:noFill/>
            <a:round/>
            <a:headEnd/>
            <a:tailEnd/>
          </a:ln>
        </p:spPr>
        <p:txBody>
          <a:bodyPr wrap="none" anchor="ctr"/>
          <a:lstStyle/>
          <a:p>
            <a:endParaRPr lang="en-US" sz="1200" b="1" dirty="0">
              <a:solidFill>
                <a:schemeClr val="bg1"/>
              </a:solidFill>
              <a:latin typeface="Calibri" pitchFamily="34" charset="0"/>
            </a:endParaRPr>
          </a:p>
        </p:txBody>
      </p:sp>
      <p:sp>
        <p:nvSpPr>
          <p:cNvPr id="4" name="Content Placeholder 3"/>
          <p:cNvSpPr>
            <a:spLocks noGrp="1"/>
          </p:cNvSpPr>
          <p:nvPr>
            <p:ph idx="1"/>
          </p:nvPr>
        </p:nvSpPr>
        <p:spPr>
          <a:xfrm>
            <a:off x="25400" y="1600200"/>
            <a:ext cx="9042400" cy="4525963"/>
          </a:xfrm>
        </p:spPr>
        <p:txBody>
          <a:bodyPr>
            <a:normAutofit/>
          </a:bodyPr>
          <a:lstStyle/>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AutoNum type="arabicPeriod"/>
            </a:pPr>
            <a:endParaRPr lang="en-US" sz="2000" b="1" dirty="0"/>
          </a:p>
          <a:p>
            <a:pPr marL="457200" lvl="0" indent="-457200">
              <a:buAutoNum type="arabicPeriod"/>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457200" lvl="0" indent="-45720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lvl="0" indent="0">
              <a:buNone/>
            </a:pPr>
            <a:endParaRPr lang="en-US" sz="2000" b="1" dirty="0"/>
          </a:p>
          <a:p>
            <a:pPr marL="0" indent="0">
              <a:buNone/>
            </a:pPr>
            <a:endParaRPr lang="en-IN" dirty="0"/>
          </a:p>
        </p:txBody>
      </p:sp>
      <p:pic>
        <p:nvPicPr>
          <p:cNvPr id="11" name="Picture 10" descr="C:\Users\Admin\Downloads\Alumni Logo New.tif"/>
          <p:cNvPicPr/>
          <p:nvPr/>
        </p:nvPicPr>
        <p:blipFill>
          <a:blip r:embed="rId8">
            <a:lum bright="3000" contrast="27000"/>
          </a:blip>
          <a:stretch>
            <a:fillRect/>
          </a:stretch>
        </p:blipFill>
        <p:spPr bwMode="auto">
          <a:xfrm>
            <a:off x="8229600" y="457200"/>
            <a:ext cx="694425" cy="694808"/>
          </a:xfrm>
          <a:prstGeom prst="rect">
            <a:avLst/>
          </a:prstGeom>
          <a:solidFill>
            <a:srgbClr val="FFFF00"/>
          </a:solidFill>
          <a:ln>
            <a:noFill/>
          </a:ln>
          <a:effectLst>
            <a:outerShdw blurRad="50800" dist="38100" dir="2700000" algn="tl" rotWithShape="0">
              <a:prstClr val="black">
                <a:alpha val="40000"/>
              </a:prstClr>
            </a:outerShdw>
          </a:effectLst>
        </p:spPr>
      </p:pic>
      <p:sp>
        <p:nvSpPr>
          <p:cNvPr id="2" name="Rectangle 1"/>
          <p:cNvSpPr/>
          <p:nvPr/>
        </p:nvSpPr>
        <p:spPr>
          <a:xfrm>
            <a:off x="609600" y="2590800"/>
            <a:ext cx="7874305" cy="1107996"/>
          </a:xfrm>
          <a:prstGeom prst="rect">
            <a:avLst/>
          </a:prstGeom>
        </p:spPr>
        <p:txBody>
          <a:bodyPr wrap="square">
            <a:spAutoFit/>
          </a:bodyPr>
          <a:lstStyle/>
          <a:p>
            <a:pPr algn="ctr"/>
            <a:r>
              <a:rPr lang="en-US" sz="6600" b="1" dirty="0"/>
              <a:t>!! THANK YOU !!</a:t>
            </a:r>
            <a:endParaRPr lang="en-US" sz="6600" dirty="0"/>
          </a:p>
        </p:txBody>
      </p:sp>
    </p:spTree>
    <p:extLst>
      <p:ext uri="{BB962C8B-B14F-4D97-AF65-F5344CB8AC3E}">
        <p14:creationId xmlns:p14="http://schemas.microsoft.com/office/powerpoint/2010/main" val="3787893929"/>
      </p:ext>
    </p:extLst>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4796</TotalTime>
  <Words>2374</Words>
  <Application>Microsoft Office PowerPoint</Application>
  <PresentationFormat>On-screen Show (4:3)</PresentationFormat>
  <Paragraphs>2352</Paragraphs>
  <Slides>87</Slides>
  <Notes>69</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87</vt:i4>
      </vt:variant>
    </vt:vector>
  </HeadingPairs>
  <TitlesOfParts>
    <vt:vector size="93" baseType="lpstr">
      <vt:lpstr>Aptos</vt:lpstr>
      <vt:lpstr>Arial</vt:lpstr>
      <vt:lpstr>Calibri</vt:lpstr>
      <vt:lpstr>Wingdings</vt:lpstr>
      <vt:lpstr>Office Theme</vt:lpstr>
      <vt:lpstr>Image</vt:lpstr>
      <vt:lpstr>PowerPoint Presentation</vt:lpstr>
      <vt:lpstr>PowerPoint Presentation</vt:lpstr>
      <vt:lpstr>PowerPoint Presentation</vt:lpstr>
      <vt:lpstr>PowerPoint Presentation</vt:lpstr>
      <vt:lpstr>PowerPoint Presentation</vt:lpstr>
      <vt:lpstr>TYPES OF SFTRUCTURES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Balance Sheet</vt:lpstr>
      <vt:lpstr>PowerPoint Presentation</vt:lpstr>
      <vt:lpstr>PowerPoint Presentation</vt:lpstr>
      <vt:lpstr>PowerPoint Presentation</vt:lpstr>
      <vt:lpstr>PowerPoint Presentation</vt:lpstr>
      <vt:lpstr>P&amp;L Statement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Project Planning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Toshiba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S.N.Mahajan;Tanmayee Gajra</dc:creator>
  <cp:lastModifiedBy>Devansh Sanghavi</cp:lastModifiedBy>
  <cp:revision>1028</cp:revision>
  <dcterms:created xsi:type="dcterms:W3CDTF">2013-05-11T06:45:47Z</dcterms:created>
  <dcterms:modified xsi:type="dcterms:W3CDTF">2026-01-29T10:22:37Z</dcterms:modified>
</cp:coreProperties>
</file>