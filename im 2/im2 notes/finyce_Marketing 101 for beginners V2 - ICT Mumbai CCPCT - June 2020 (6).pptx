
<file path=[Content_Types].xml><?xml version="1.0" encoding="utf-8"?>
<Types xmlns="http://schemas.openxmlformats.org/package/2006/content-types">
  <Default ContentType="image/jpeg" Extension="jpg"/>
  <Default ContentType="image/tiff" Extension="tiff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34111-A295-487D-B048-FC97896BCD4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70D36-2A7B-43A4-A894-44D54A96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13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Disclaimer: All pictures are shamelessly copied from the internet.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70D36-2A7B-43A4-A894-44D54A9631D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02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03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46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9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99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7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9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1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34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8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C5D-E97A-4AD8-9AC2-982CF6BA1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D5B76-4B40-455C-87B0-0912BDB22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279EA-896D-48CF-8CEC-F19052AA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AEA59-BA3B-4958-9D45-9E8A4845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68D5-5B9E-4C0B-A5DE-FC4EC19F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1501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EFB4-AF3A-4859-BBE0-2AA58AB4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9AF3D-1EE5-4DC5-950F-16FDF24E9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54154-9242-4A5A-94F0-00FBB2E3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7BE2-3B46-4DFA-932C-22B3162B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0394-9625-4658-9F60-3B7FC39C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288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191B-E6A2-4FBF-8955-337312F9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EECF0-AFF1-4345-B1A9-67969D66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41D2-2416-4B22-A7FF-AE387292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ACC1-05AA-4005-BBDC-56AA88FC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74DB-6960-4E44-8A58-7E3D1D1A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48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0285-EF16-441E-938F-CDA29499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8A5-2274-46D0-A2CA-095A2AF8F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F973F-8695-491C-ACD6-CCC209683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71DC8-C22D-4789-A3BA-9C969D0D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3D13F-F8A2-4317-B8FD-24E469EB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6635B-D44D-472B-9BCC-523B2285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454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6902-5278-476A-9085-773DF19B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B531B-DE21-4B19-B0B2-E1BFA0E3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82082-6B5A-4B56-B46D-64843589D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2A308-8C90-4B26-A612-837B708CF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9F9AE-0BA8-46C8-B44F-C33741FD6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B8FA8-7261-48D2-979A-24A2DE2A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7DD75D-D08C-438A-8DED-4E8EEBB9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7934D-5C08-4CB3-9F57-6D2DED18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08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0944-0C19-40EB-A046-CF9CE9EE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872CA-5C72-4727-8626-970C954E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B1C61-DA05-4E34-8534-476CC6AD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1ACBA-AB38-460E-890F-EDA24051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396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0909A-12F5-4612-AB3B-4CF8029E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3BE3E-4D68-4453-B9EF-717F0888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D517-E7CD-4411-BF58-A07F92A1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661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22FF-ADD9-4B42-9214-5EEA2425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7167B-41F4-4677-9092-489DE4E67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4E0F6-E85E-4213-8A9C-B5630710C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6D973-F6E4-400B-8B18-02644259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2B16A-0D0F-4F1D-B616-61A2A3F0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A6EF4-1B8B-484A-B643-CB691CD9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939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BB8D-A8C3-45EE-AD71-6F63BBAB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E9368-ED6D-413C-89D3-FC54EF766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99061-432D-41FD-9858-9B751644E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3D63F-80A3-4B47-8904-1F5E691C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C1C51-59DC-4481-AD0F-33E9FE86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981EF-3CFE-4267-959D-B7BBEBF5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571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56D5-C846-480D-951F-176AF880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217B7-04B1-4004-8BF6-8E7F47D58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DB300-8878-4172-9267-8306C605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CEE5-65F6-4B16-A9E4-83742940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60CCA-886D-444F-9839-0687E52E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8298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C9C03-8387-4F98-A337-8D9869C1D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F851E-CF7D-4BBA-97CA-9F8D691B1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F855C-B8D2-424B-A8FE-5D16DB89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FEEB-61E3-4540-AFC7-A2923C6D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46CA7-7726-4D90-A47E-96ED8F33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90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1746D-C943-4DEE-AA55-2C282B74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21D8-ED14-4124-A461-5B0285FE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CC413-34B7-47CA-B715-C454160C8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57489-4671-4A5B-8E68-F0774E142BEB}" type="datetimeFigureOut">
              <a:rPr lang="en-IN" smtClean="0"/>
              <a:t>27-06-2020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CD560-104E-44E8-83D8-B1C17ACB5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4FA54-6DE4-4D7F-8E94-5DE0F7CD1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C4B07-33B3-46F2-BA1D-209945A5A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tif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tif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tif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tif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3.tif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3.tif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tif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tif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3.tif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3.tif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E9BC-64F9-42D3-A777-F7F78D6971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Marketing 101 for Beginners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C3017-5C0C-4FD2-AA32-D81455090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5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6A8C-C310-4461-9C9A-83E86016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Marketing mix - The 4Ps of Marketing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BF7E99-E7BA-4620-AD3D-E5FD947EA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9" y="1739796"/>
            <a:ext cx="7603235" cy="4753079"/>
          </a:xfrm>
        </p:spPr>
      </p:pic>
    </p:spTree>
    <p:extLst>
      <p:ext uri="{BB962C8B-B14F-4D97-AF65-F5344CB8AC3E}">
        <p14:creationId xmlns:p14="http://schemas.microsoft.com/office/powerpoint/2010/main" val="126385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8BE0-D21B-4F52-9C27-29FDD4DA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map of cars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69CB7-825F-41A9-B040-D23DD903B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183" y="1814804"/>
            <a:ext cx="6072808" cy="4803039"/>
          </a:xfrm>
        </p:spPr>
      </p:pic>
    </p:spTree>
    <p:extLst>
      <p:ext uri="{BB962C8B-B14F-4D97-AF65-F5344CB8AC3E}">
        <p14:creationId xmlns:p14="http://schemas.microsoft.com/office/powerpoint/2010/main" val="355639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B450-8C7A-4342-9857-C68B5D6F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map of cars</a:t>
            </a:r>
            <a:endParaRPr lang="en-IN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752E1F9-7080-4E09-9E27-5AC83B001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232" y="1690688"/>
            <a:ext cx="7227846" cy="4997183"/>
          </a:xfrm>
        </p:spPr>
      </p:pic>
    </p:spTree>
    <p:extLst>
      <p:ext uri="{BB962C8B-B14F-4D97-AF65-F5344CB8AC3E}">
        <p14:creationId xmlns:p14="http://schemas.microsoft.com/office/powerpoint/2010/main" val="24001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0613-F342-4C45-8224-B069250F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map of beer brands</a:t>
            </a:r>
            <a:endParaRPr lang="en-IN" dirty="0"/>
          </a:p>
        </p:txBody>
      </p:sp>
      <p:pic>
        <p:nvPicPr>
          <p:cNvPr id="5" name="Content Placeholder 4" descr="A picture containing refrigerator, food&#10;&#10;Description automatically generated">
            <a:extLst>
              <a:ext uri="{FF2B5EF4-FFF2-40B4-BE49-F238E27FC236}">
                <a16:creationId xmlns:a16="http://schemas.microsoft.com/office/drawing/2014/main" id="{E925AAF7-74E8-44CB-8A80-73E5EE58A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136" y="1825625"/>
            <a:ext cx="6174464" cy="4635688"/>
          </a:xfrm>
        </p:spPr>
      </p:pic>
    </p:spTree>
    <p:extLst>
      <p:ext uri="{BB962C8B-B14F-4D97-AF65-F5344CB8AC3E}">
        <p14:creationId xmlns:p14="http://schemas.microsoft.com/office/powerpoint/2010/main" val="49719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0613-F342-4C45-8224-B069250F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map of beer brands</a:t>
            </a:r>
            <a:endParaRPr lang="en-IN" dirty="0"/>
          </a:p>
        </p:txBody>
      </p:sp>
      <p:pic>
        <p:nvPicPr>
          <p:cNvPr id="7" name="Content Placeholder 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7EF2C333-467F-4020-A5AD-9F4DED680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671" y="1477754"/>
            <a:ext cx="6686828" cy="5015121"/>
          </a:xfrm>
        </p:spPr>
      </p:pic>
    </p:spTree>
    <p:extLst>
      <p:ext uri="{BB962C8B-B14F-4D97-AF65-F5344CB8AC3E}">
        <p14:creationId xmlns:p14="http://schemas.microsoft.com/office/powerpoint/2010/main" val="92229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8327-8828-46E4-BDC9-5E2D3B57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map of Micromax and Samsung</a:t>
            </a:r>
            <a:endParaRPr lang="en-IN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AB50E3-BE6A-4D82-A0D4-7FE0C191B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583" y="1730742"/>
            <a:ext cx="6489713" cy="4884731"/>
          </a:xfrm>
        </p:spPr>
      </p:pic>
    </p:spTree>
    <p:extLst>
      <p:ext uri="{BB962C8B-B14F-4D97-AF65-F5344CB8AC3E}">
        <p14:creationId xmlns:p14="http://schemas.microsoft.com/office/powerpoint/2010/main" val="161008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1D98-CB72-4C87-8A4D-2EE5D454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of an iPhone 7 - example</a:t>
            </a:r>
            <a:endParaRPr lang="en-IN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7B01E03-EDCD-490F-91AE-BE5D10BFA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300" y="1916194"/>
            <a:ext cx="7862369" cy="4504483"/>
          </a:xfrm>
        </p:spPr>
      </p:pic>
    </p:spTree>
    <p:extLst>
      <p:ext uri="{BB962C8B-B14F-4D97-AF65-F5344CB8AC3E}">
        <p14:creationId xmlns:p14="http://schemas.microsoft.com/office/powerpoint/2010/main" val="773045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1D98-CB72-4C87-8A4D-2EE5D454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STP is useful for all customer needs!</a:t>
            </a:r>
            <a:endParaRPr lang="en-IN" dirty="0"/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8B4E2C57-B41E-4C33-8997-76C305003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548" y="1690688"/>
            <a:ext cx="4949686" cy="4854501"/>
          </a:xfrm>
        </p:spPr>
      </p:pic>
    </p:spTree>
    <p:extLst>
      <p:ext uri="{BB962C8B-B14F-4D97-AF65-F5344CB8AC3E}">
        <p14:creationId xmlns:p14="http://schemas.microsoft.com/office/powerpoint/2010/main" val="201741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1D98-CB72-4C87-8A4D-2EE5D454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Mix for Services – The 7Ps of Marketing</a:t>
            </a:r>
            <a:endParaRPr lang="en-IN" dirty="0"/>
          </a:p>
        </p:txBody>
      </p:sp>
      <p:pic>
        <p:nvPicPr>
          <p:cNvPr id="5" name="Content Placeholder 4" descr="A close up of a device&#10;&#10;Description automatically generated">
            <a:extLst>
              <a:ext uri="{FF2B5EF4-FFF2-40B4-BE49-F238E27FC236}">
                <a16:creationId xmlns:a16="http://schemas.microsoft.com/office/drawing/2014/main" id="{14BAAC12-5DDC-4CB9-84BF-763BB102F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417" y="1825625"/>
            <a:ext cx="6521165" cy="4667250"/>
          </a:xfrm>
        </p:spPr>
      </p:pic>
    </p:spTree>
    <p:extLst>
      <p:ext uri="{BB962C8B-B14F-4D97-AF65-F5344CB8AC3E}">
        <p14:creationId xmlns:p14="http://schemas.microsoft.com/office/powerpoint/2010/main" val="3564319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1D98-CB72-4C87-8A4D-2EE5D454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917" y="768350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Assignment time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49F2D-86F0-440B-B73C-72DD81D9F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8434" name="Picture 2" descr="2019 third digoo carnival] digoo dg-tbk 4 inches twin bell alarm ...">
            <a:extLst>
              <a:ext uri="{FF2B5EF4-FFF2-40B4-BE49-F238E27FC236}">
                <a16:creationId xmlns:a16="http://schemas.microsoft.com/office/drawing/2014/main" id="{B504923E-E2FE-49DD-8476-1643F09FA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958" y="189077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21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1D98-CB72-4C87-8A4D-2EE5D454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book assignment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0D93-73B7-47F3-91DB-D0579DB06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launch of Copper Sulphate (commercial) / PVP (Povidone)</a:t>
            </a:r>
          </a:p>
          <a:p>
            <a:r>
              <a:rPr lang="en-US" dirty="0"/>
              <a:t>Marketing campaign for ICT / Manzar</a:t>
            </a:r>
          </a:p>
          <a:p>
            <a:pPr marL="0" indent="0">
              <a:buNone/>
            </a:pPr>
            <a:r>
              <a:rPr lang="en-IN" dirty="0"/>
              <a:t>Hint: Use 7Ps for ICT / Manzar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8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Marketing: 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Some misconceptions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Marketing and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Customer base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9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0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1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What is Marketing?: </a:t>
            </a:r>
          </a:p>
          <a:p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r>
              <a:rPr lang="en-US" sz="2000" b="1" dirty="0"/>
              <a:t>Why is marketing needed?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357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3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4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Misconception 1: Marketing is for people who like to talk and talk and talk…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Place for genuine character and genuine efforts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Misconception 2: Marketing is for people who don’t like the technical stuff…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Marketing is for people with passion or purpose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810287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2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3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Misconception 3: Marketing people don’t do much…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True that marketing has relatively less reporting tasks and more measure of freedom, nature of work is less clearly defined and hence your goals are that much more daunting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3234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6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7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Difference between Sales and Marketing: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r>
              <a:rPr lang="en-US" sz="2000" b="1" dirty="0"/>
              <a:t>Air force-army example, P&amp;G vs ITC example, Cong vs BJP example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053359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3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4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5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Categories of marketing: B2B vs B2C vs B2I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r>
              <a:rPr lang="en-US" sz="2000" b="1" dirty="0"/>
              <a:t>Examples of each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341843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Plans for Marketing: </a:t>
            </a:r>
          </a:p>
          <a:p>
            <a:pPr marL="457200" indent="-457200">
              <a:buAutoNum type="arabicPeriod"/>
            </a:pPr>
            <a:r>
              <a:rPr lang="en-US" sz="2400" dirty="0"/>
              <a:t>Immediate (</a:t>
            </a:r>
            <a:r>
              <a:rPr lang="en-US" sz="2400" dirty="0" err="1"/>
              <a:t>Upto</a:t>
            </a:r>
            <a:r>
              <a:rPr lang="en-US" sz="2400" dirty="0"/>
              <a:t> 3 Months): Operational market share improvement plans in a region or product</a:t>
            </a:r>
          </a:p>
          <a:p>
            <a:pPr marL="457200" indent="-457200">
              <a:buAutoNum type="arabicPeriod"/>
            </a:pPr>
            <a:r>
              <a:rPr lang="en-US" sz="2400" dirty="0"/>
              <a:t>Short term (1 year): Tactical plans to dominate a category or segment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/>
              <a:t>Long term (3-5 years): Strategic positioning, brand launch plans, etc.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Plan should include tonnages as well as revenues &amp; budgets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217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0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indent="-457200"/>
            <a:r>
              <a:rPr lang="en-US" sz="2800" b="1" dirty="0"/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Inputs :</a:t>
            </a:r>
          </a:p>
          <a:p>
            <a:pPr marL="0" indent="0">
              <a:buNone/>
            </a:pPr>
            <a:r>
              <a:rPr lang="en-US" sz="2400" dirty="0"/>
              <a:t>	Production plan</a:t>
            </a:r>
          </a:p>
          <a:p>
            <a:pPr marL="0" indent="0">
              <a:buNone/>
            </a:pPr>
            <a:r>
              <a:rPr lang="en-US" sz="2400" dirty="0"/>
              <a:t>	Product information / produces</a:t>
            </a:r>
          </a:p>
          <a:p>
            <a:pPr marL="0" indent="0">
              <a:buNone/>
            </a:pPr>
            <a:r>
              <a:rPr lang="en-US" sz="2400" dirty="0"/>
              <a:t>	Pricing Guidelines</a:t>
            </a:r>
          </a:p>
          <a:p>
            <a:pPr marL="0" indent="0">
              <a:buNone/>
            </a:pPr>
            <a:r>
              <a:rPr lang="en-US" sz="2400" dirty="0"/>
              <a:t>	Customer details</a:t>
            </a:r>
            <a:endParaRPr lang="en-US" sz="2000" b="1" dirty="0"/>
          </a:p>
          <a:p>
            <a:r>
              <a:rPr lang="en-US" b="1" u="sng" dirty="0"/>
              <a:t>Outputs:</a:t>
            </a:r>
          </a:p>
          <a:p>
            <a:pPr marL="0" indent="0">
              <a:buNone/>
            </a:pPr>
            <a:r>
              <a:rPr lang="en-US" sz="2400" dirty="0"/>
              <a:t>	Marketing plan</a:t>
            </a:r>
          </a:p>
          <a:p>
            <a:pPr marL="0" indent="0">
              <a:buNone/>
            </a:pPr>
            <a:r>
              <a:rPr lang="en-US" sz="2400" dirty="0"/>
              <a:t>	Review addition of customers</a:t>
            </a:r>
          </a:p>
          <a:p>
            <a:pPr marL="0" indent="0">
              <a:buNone/>
            </a:pPr>
            <a:r>
              <a:rPr lang="en-US" sz="2400" dirty="0"/>
              <a:t>	Increase in sales , revenue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AutoNum type="arabicPeriod"/>
            </a:pPr>
            <a:endParaRPr lang="en-US" sz="2000" b="1" dirty="0"/>
          </a:p>
          <a:p>
            <a:pPr marL="457200" indent="-457200">
              <a:buAutoNum type="arabicPeriod"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47757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Information: </a:t>
            </a:r>
            <a:endParaRPr lang="en-US" sz="2000" b="1" dirty="0"/>
          </a:p>
          <a:p>
            <a:pPr marL="457200" indent="-457200">
              <a:buNone/>
            </a:pPr>
            <a:r>
              <a:rPr lang="en-US" dirty="0"/>
              <a:t>Products &amp; Services</a:t>
            </a:r>
          </a:p>
          <a:p>
            <a:pPr marL="457200" indent="-457200">
              <a:buAutoNum type="arabicPeriod"/>
            </a:pPr>
            <a:r>
              <a:rPr lang="en-US" sz="2400" dirty="0"/>
              <a:t>Uses</a:t>
            </a:r>
          </a:p>
          <a:p>
            <a:pPr marL="457200" indent="-457200">
              <a:buAutoNum type="arabicPeriod"/>
            </a:pPr>
            <a:r>
              <a:rPr lang="en-US" sz="2400" dirty="0"/>
              <a:t>Specifications</a:t>
            </a:r>
          </a:p>
          <a:p>
            <a:pPr marL="457200" indent="-457200">
              <a:buAutoNum type="arabicPeriod"/>
            </a:pPr>
            <a:r>
              <a:rPr lang="en-US" sz="2400" dirty="0"/>
              <a:t>Availability</a:t>
            </a:r>
          </a:p>
          <a:p>
            <a:pPr marL="457200" indent="-457200">
              <a:buAutoNum type="arabicPeriod"/>
            </a:pPr>
            <a:r>
              <a:rPr lang="en-US" sz="2400" dirty="0"/>
              <a:t>Packaging</a:t>
            </a:r>
          </a:p>
          <a:p>
            <a:pPr marL="457200" indent="-457200">
              <a:buAutoNum type="arabicPeriod"/>
            </a:pPr>
            <a:r>
              <a:rPr lang="en-US" sz="2400" dirty="0"/>
              <a:t>Regulatory issues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032458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3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Customers &amp; Competitor</a:t>
            </a:r>
            <a:endParaRPr lang="en-US" sz="2000" b="1" dirty="0"/>
          </a:p>
          <a:p>
            <a:pPr marL="457200" indent="-457200">
              <a:buAutoNum type="arabicPeriod"/>
            </a:pPr>
            <a:r>
              <a:rPr lang="en-US" dirty="0"/>
              <a:t>Know your customers</a:t>
            </a:r>
          </a:p>
          <a:p>
            <a:pPr marL="457200" indent="-457200">
              <a:buNone/>
            </a:pPr>
            <a:r>
              <a:rPr lang="en-US" sz="2000" dirty="0"/>
              <a:t>  		</a:t>
            </a:r>
            <a:r>
              <a:rPr lang="en-US" sz="2400" dirty="0"/>
              <a:t>Policies</a:t>
            </a:r>
          </a:p>
          <a:p>
            <a:pPr marL="457200" indent="-457200">
              <a:buNone/>
            </a:pPr>
            <a:r>
              <a:rPr lang="en-US" sz="2400" dirty="0"/>
              <a:t>		Difficulties</a:t>
            </a:r>
          </a:p>
          <a:p>
            <a:pPr marL="457200" indent="-457200">
              <a:buNone/>
            </a:pPr>
            <a:r>
              <a:rPr lang="en-US" sz="2400" dirty="0"/>
              <a:t>		Requirements</a:t>
            </a:r>
          </a:p>
          <a:p>
            <a:pPr marL="457200" indent="-457200">
              <a:buAutoNum type="arabicPeriod" startAt="2"/>
            </a:pPr>
            <a:r>
              <a:rPr lang="en-US" dirty="0"/>
              <a:t>Competitor</a:t>
            </a:r>
          </a:p>
          <a:p>
            <a:pPr marL="457200" indent="-457200">
              <a:buNone/>
            </a:pPr>
            <a:r>
              <a:rPr lang="en-US" sz="2000" dirty="0"/>
              <a:t>		</a:t>
            </a:r>
            <a:r>
              <a:rPr lang="en-US" sz="2400" dirty="0"/>
              <a:t>Products</a:t>
            </a:r>
          </a:p>
          <a:p>
            <a:pPr marL="457200" indent="-457200">
              <a:buNone/>
            </a:pPr>
            <a:r>
              <a:rPr lang="en-US" sz="2400" dirty="0"/>
              <a:t>		Pricing</a:t>
            </a:r>
          </a:p>
          <a:p>
            <a:pPr marL="457200" indent="-457200">
              <a:buNone/>
            </a:pPr>
            <a:r>
              <a:rPr lang="en-US" sz="2400" dirty="0"/>
              <a:t>		Strength &amp; weakness</a:t>
            </a:r>
          </a:p>
          <a:p>
            <a:pPr marL="457200" indent="-457200">
              <a:buNone/>
            </a:pPr>
            <a:r>
              <a:rPr lang="en-US" sz="2400" dirty="0"/>
              <a:t>		Practices.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216342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 Gathering:</a:t>
            </a:r>
          </a:p>
          <a:p>
            <a:pPr marL="0" indent="0">
              <a:buNone/>
            </a:pPr>
            <a:r>
              <a:rPr lang="en-US" sz="2400" dirty="0"/>
              <a:t>	Library best source</a:t>
            </a:r>
          </a:p>
          <a:p>
            <a:pPr marL="0" indent="0">
              <a:buNone/>
            </a:pPr>
            <a:r>
              <a:rPr lang="en-US" sz="2400" dirty="0"/>
              <a:t>	Trade fares</a:t>
            </a:r>
          </a:p>
          <a:p>
            <a:pPr marL="0" indent="0">
              <a:buNone/>
            </a:pPr>
            <a:r>
              <a:rPr lang="en-US" sz="2400" dirty="0"/>
              <a:t>	Internal meetings</a:t>
            </a:r>
          </a:p>
          <a:p>
            <a:pPr marL="0" indent="0">
              <a:buNone/>
            </a:pPr>
            <a:r>
              <a:rPr lang="en-US" sz="2400" dirty="0"/>
              <a:t>	Academic institutions</a:t>
            </a:r>
          </a:p>
          <a:p>
            <a:pPr marL="0" indent="0">
              <a:buNone/>
            </a:pPr>
            <a:r>
              <a:rPr lang="en-US" sz="2400" dirty="0"/>
              <a:t>	Develop own networking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950601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7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8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Creating Marketing Plans: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STP</a:t>
            </a: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45265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1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2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3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Creating Marketing Plans: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4P’s and 7P’s of Marketing (include pricing slide)</a:t>
            </a: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122495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9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Pricing: </a:t>
            </a:r>
          </a:p>
          <a:p>
            <a:pPr marL="457200" indent="-457200">
              <a:buNone/>
            </a:pPr>
            <a:r>
              <a:rPr lang="en-US" dirty="0"/>
              <a:t>Based on</a:t>
            </a:r>
          </a:p>
          <a:p>
            <a:pPr marL="0" indent="0">
              <a:buNone/>
            </a:pPr>
            <a:r>
              <a:rPr lang="en-US" sz="2400" dirty="0"/>
              <a:t>	Opportunity</a:t>
            </a:r>
          </a:p>
          <a:p>
            <a:pPr marL="0" indent="0">
              <a:buNone/>
            </a:pPr>
            <a:r>
              <a:rPr lang="en-US" sz="2400" dirty="0"/>
              <a:t>	Cost Based</a:t>
            </a:r>
          </a:p>
          <a:p>
            <a:pPr marL="0" indent="0">
              <a:buNone/>
            </a:pPr>
            <a:r>
              <a:rPr lang="en-US" sz="2400" dirty="0"/>
              <a:t>	Distress sale</a:t>
            </a:r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228044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7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8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Interactions:</a:t>
            </a:r>
            <a:endParaRPr lang="en-US" sz="2000" b="1" dirty="0"/>
          </a:p>
          <a:p>
            <a:pPr marL="0" indent="0">
              <a:buNone/>
            </a:pPr>
            <a:r>
              <a:rPr lang="en-US" sz="2400" dirty="0"/>
              <a:t>	R &amp; D for new products</a:t>
            </a:r>
          </a:p>
          <a:p>
            <a:pPr marL="0" indent="0">
              <a:buNone/>
            </a:pPr>
            <a:r>
              <a:rPr lang="en-US" sz="2400" dirty="0"/>
              <a:t>	Operations for plans/stocks</a:t>
            </a:r>
          </a:p>
          <a:p>
            <a:pPr marL="0" indent="0">
              <a:buNone/>
            </a:pPr>
            <a:r>
              <a:rPr lang="en-US" sz="2400" dirty="0"/>
              <a:t>	Sales for logistics</a:t>
            </a:r>
            <a:endParaRPr lang="en-US" sz="24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982499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2400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5" name="Image" r:id="rId4" imgW="2488889" imgH="634697" progId="">
                  <p:embed/>
                </p:oleObj>
              </mc:Choice>
              <mc:Fallback>
                <p:oleObj name="Image" r:id="rId4" imgW="2488889" imgH="634697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152400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1524000" y="6354764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6" name="Image" r:id="rId6" imgW="698413" imgH="3009524" progId="">
                  <p:embed/>
                </p:oleObj>
              </mc:Choice>
              <mc:Fallback>
                <p:oleObj name="Image" r:id="rId6" imgW="698413" imgH="3009524" progId="">
                  <p:embed/>
                  <p:pic>
                    <p:nvPicPr>
                      <p:cNvPr id="102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54764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152400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" name="Image" r:id="rId8" imgW="698413" imgH="3009524" progId="">
                  <p:embed/>
                </p:oleObj>
              </mc:Choice>
              <mc:Fallback>
                <p:oleObj name="Image" r:id="rId8" imgW="698413" imgH="3009524" progId="">
                  <p:embed/>
                  <p:pic>
                    <p:nvPicPr>
                      <p:cNvPr id="102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1485900" y="68580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1549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9400" y="1600201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 Remember</a:t>
            </a:r>
            <a:endParaRPr lang="en-US" sz="2000" b="1" dirty="0"/>
          </a:p>
          <a:p>
            <a:pPr marL="457200" indent="-457200">
              <a:buNone/>
            </a:pPr>
            <a:r>
              <a:rPr lang="en-US" dirty="0"/>
              <a:t>You are </a:t>
            </a:r>
          </a:p>
          <a:p>
            <a:pPr marL="0" indent="0">
              <a:buNone/>
            </a:pPr>
            <a:r>
              <a:rPr lang="en-US" sz="2400" dirty="0"/>
              <a:t>	Face of the company</a:t>
            </a:r>
          </a:p>
          <a:p>
            <a:pPr marL="0" indent="0">
              <a:buNone/>
            </a:pPr>
            <a:r>
              <a:rPr lang="en-US" sz="2400" dirty="0"/>
              <a:t>	Control your Budget &amp; overheads</a:t>
            </a:r>
          </a:p>
          <a:p>
            <a:pPr marL="0" indent="0">
              <a:buNone/>
            </a:pPr>
            <a:r>
              <a:rPr lang="en-US" sz="2400" dirty="0"/>
              <a:t>	Do not show off</a:t>
            </a:r>
          </a:p>
          <a:p>
            <a:pPr marL="0" indent="0">
              <a:buNone/>
            </a:pPr>
            <a:r>
              <a:rPr lang="en-US" sz="2400" dirty="0"/>
              <a:t>	Do not underwrite other Depts./personal</a:t>
            </a:r>
          </a:p>
          <a:p>
            <a:pPr marL="0" indent="0">
              <a:buNone/>
            </a:pPr>
            <a:endParaRPr lang="en-US" sz="2000" b="1" dirty="0"/>
          </a:p>
          <a:p>
            <a:pPr marL="457200" indent="-457200">
              <a:buAutoNum type="arabicPeriod"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457200" indent="-45720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9">
            <a:lum bright="3000" contrast="27000"/>
          </a:blip>
          <a:stretch>
            <a:fillRect/>
          </a:stretch>
        </p:blipFill>
        <p:spPr bwMode="auto">
          <a:xfrm>
            <a:off x="9753601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26328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