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2"/>
  </p:notesMasterIdLst>
  <p:sldIdLst>
    <p:sldId id="318" r:id="rId2"/>
    <p:sldId id="394" r:id="rId3"/>
    <p:sldId id="334" r:id="rId4"/>
    <p:sldId id="413" r:id="rId5"/>
    <p:sldId id="335" r:id="rId6"/>
    <p:sldId id="440" r:id="rId7"/>
    <p:sldId id="414" r:id="rId8"/>
    <p:sldId id="336" r:id="rId9"/>
    <p:sldId id="415" r:id="rId10"/>
    <p:sldId id="338" r:id="rId11"/>
    <p:sldId id="416" r:id="rId12"/>
    <p:sldId id="396" r:id="rId13"/>
    <p:sldId id="417" r:id="rId14"/>
    <p:sldId id="342" r:id="rId15"/>
    <p:sldId id="418" r:id="rId16"/>
    <p:sldId id="344" r:id="rId17"/>
    <p:sldId id="345" r:id="rId18"/>
    <p:sldId id="346" r:id="rId19"/>
    <p:sldId id="419" r:id="rId20"/>
    <p:sldId id="347" r:id="rId21"/>
    <p:sldId id="348" r:id="rId22"/>
    <p:sldId id="420" r:id="rId23"/>
    <p:sldId id="400" r:id="rId24"/>
    <p:sldId id="401" r:id="rId25"/>
    <p:sldId id="402" r:id="rId26"/>
    <p:sldId id="403" r:id="rId27"/>
    <p:sldId id="404" r:id="rId28"/>
    <p:sldId id="350" r:id="rId29"/>
    <p:sldId id="424" r:id="rId30"/>
    <p:sldId id="356" r:id="rId31"/>
    <p:sldId id="359" r:id="rId32"/>
    <p:sldId id="360" r:id="rId33"/>
    <p:sldId id="362" r:id="rId34"/>
    <p:sldId id="363" r:id="rId35"/>
    <p:sldId id="365" r:id="rId36"/>
    <p:sldId id="272" r:id="rId37"/>
    <p:sldId id="427" r:id="rId38"/>
    <p:sldId id="367" r:id="rId39"/>
    <p:sldId id="368" r:id="rId40"/>
    <p:sldId id="370" r:id="rId41"/>
    <p:sldId id="428" r:id="rId42"/>
    <p:sldId id="372" r:id="rId43"/>
    <p:sldId id="374" r:id="rId44"/>
    <p:sldId id="429" r:id="rId45"/>
    <p:sldId id="376" r:id="rId46"/>
    <p:sldId id="430" r:id="rId47"/>
    <p:sldId id="378" r:id="rId48"/>
    <p:sldId id="431" r:id="rId49"/>
    <p:sldId id="379" r:id="rId50"/>
    <p:sldId id="432" r:id="rId51"/>
    <p:sldId id="382" r:id="rId52"/>
    <p:sldId id="433" r:id="rId53"/>
    <p:sldId id="384" r:id="rId54"/>
    <p:sldId id="434" r:id="rId55"/>
    <p:sldId id="386" r:id="rId56"/>
    <p:sldId id="435" r:id="rId57"/>
    <p:sldId id="388" r:id="rId58"/>
    <p:sldId id="389" r:id="rId59"/>
    <p:sldId id="437" r:id="rId60"/>
    <p:sldId id="391" r:id="rId61"/>
    <p:sldId id="392" r:id="rId62"/>
    <p:sldId id="393" r:id="rId63"/>
    <p:sldId id="406" r:id="rId64"/>
    <p:sldId id="408" r:id="rId65"/>
    <p:sldId id="438" r:id="rId66"/>
    <p:sldId id="407" r:id="rId67"/>
    <p:sldId id="439" r:id="rId68"/>
    <p:sldId id="410" r:id="rId69"/>
    <p:sldId id="412" r:id="rId70"/>
    <p:sldId id="405" r:id="rId7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4" autoAdjust="0"/>
    <p:restoredTop sz="94660"/>
  </p:normalViewPr>
  <p:slideViewPr>
    <p:cSldViewPr>
      <p:cViewPr varScale="1">
        <p:scale>
          <a:sx n="81" d="100"/>
          <a:sy n="81" d="100"/>
        </p:scale>
        <p:origin x="151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60E5EF-B99B-4B58-9AA7-338CBDCB76DF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F2F5CC-A1CC-4A17-A5C6-1ED3E1DC7EA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6171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693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8120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59745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50500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6956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470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20096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503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19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216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31816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9001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78648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96823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64777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684048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29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22189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884FEC4-CBFB-4CAD-B2CA-85631C7049F1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969364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1806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39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9387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93652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256738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976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49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628435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101196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79774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97840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59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8974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61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62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87407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63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472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64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3021785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65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761506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66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0230567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67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736225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68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851394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69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0925440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74A5C68-ED8B-4E71-BE3A-11C1E37CBBED}" type="slidenum">
              <a:rPr lang="en-US"/>
              <a:pPr/>
              <a:t>70</a:t>
            </a:fld>
            <a:endParaRPr lang="en-US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1100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C501F6-1E83-4D72-8FB4-912E87BBA984}" type="datetimeFigureOut">
              <a:rPr lang="en-IN" smtClean="0"/>
              <a:pPr/>
              <a:t>15-01-2026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B9BE36-F3C7-4162-8E4E-A94BEFE5F265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.bin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.bin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.bin"/><Relationship Id="rId7" Type="http://schemas.openxmlformats.org/officeDocument/2006/relationships/oleObject" Target="../embeddings/oleObject12.bin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.bin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.bin"/><Relationship Id="rId7" Type="http://schemas.openxmlformats.org/officeDocument/2006/relationships/oleObject" Target="../embeddings/oleObject18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.bin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1.bin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0.bin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2.bin"/><Relationship Id="rId7" Type="http://schemas.openxmlformats.org/officeDocument/2006/relationships/oleObject" Target="../embeddings/oleObject24.bin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3.bin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5.bin"/><Relationship Id="rId7" Type="http://schemas.openxmlformats.org/officeDocument/2006/relationships/oleObject" Target="../embeddings/oleObject27.bin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9.bin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31.bin"/><Relationship Id="rId7" Type="http://schemas.openxmlformats.org/officeDocument/2006/relationships/oleObject" Target="../embeddings/oleObject33.bin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32.bin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34.bin"/><Relationship Id="rId7" Type="http://schemas.openxmlformats.org/officeDocument/2006/relationships/oleObject" Target="../embeddings/oleObject36.bin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35.bin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37.bin"/><Relationship Id="rId7" Type="http://schemas.openxmlformats.org/officeDocument/2006/relationships/oleObject" Target="../embeddings/oleObject39.bin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38.bin"/><Relationship Id="rId4" Type="http://schemas.openxmlformats.org/officeDocument/2006/relationships/image" Target="../media/image1.png"/><Relationship Id="rId9" Type="http://schemas.openxmlformats.org/officeDocument/2006/relationships/image" Target="../media/image4.jpe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0.bin"/><Relationship Id="rId7" Type="http://schemas.openxmlformats.org/officeDocument/2006/relationships/oleObject" Target="../embeddings/oleObject42.bin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41.bin"/><Relationship Id="rId4" Type="http://schemas.openxmlformats.org/officeDocument/2006/relationships/image" Target="../media/image1.png"/><Relationship Id="rId9" Type="http://schemas.openxmlformats.org/officeDocument/2006/relationships/image" Target="../media/image5.jpe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44.bin"/><Relationship Id="rId4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6.bin"/><Relationship Id="rId7" Type="http://schemas.openxmlformats.org/officeDocument/2006/relationships/oleObject" Target="../embeddings/oleObject48.bin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47.bin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49.bin"/><Relationship Id="rId7" Type="http://schemas.openxmlformats.org/officeDocument/2006/relationships/oleObject" Target="../embeddings/oleObject51.bin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0.bin"/><Relationship Id="rId4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52.bin"/><Relationship Id="rId7" Type="http://schemas.openxmlformats.org/officeDocument/2006/relationships/oleObject" Target="../embeddings/oleObject54.bin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3.bin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55.bin"/><Relationship Id="rId7" Type="http://schemas.openxmlformats.org/officeDocument/2006/relationships/oleObject" Target="../embeddings/oleObject57.bin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6.bin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58.bin"/><Relationship Id="rId7" Type="http://schemas.openxmlformats.org/officeDocument/2006/relationships/oleObject" Target="../embeddings/oleObject60.bin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59.bin"/><Relationship Id="rId4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61.bin"/><Relationship Id="rId7" Type="http://schemas.openxmlformats.org/officeDocument/2006/relationships/oleObject" Target="../embeddings/oleObject63.bin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62.bin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64.bin"/><Relationship Id="rId7" Type="http://schemas.openxmlformats.org/officeDocument/2006/relationships/oleObject" Target="../embeddings/oleObject66.bin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65.bin"/><Relationship Id="rId4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67.bin"/><Relationship Id="rId7" Type="http://schemas.openxmlformats.org/officeDocument/2006/relationships/oleObject" Target="../embeddings/oleObject69.bin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68.bin"/><Relationship Id="rId4" Type="http://schemas.openxmlformats.org/officeDocument/2006/relationships/image" Target="../media/image1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0.bin"/><Relationship Id="rId7" Type="http://schemas.openxmlformats.org/officeDocument/2006/relationships/oleObject" Target="../embeddings/oleObject72.bin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71.bin"/><Relationship Id="rId4" Type="http://schemas.openxmlformats.org/officeDocument/2006/relationships/image" Target="../media/image1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3.bin"/><Relationship Id="rId7" Type="http://schemas.openxmlformats.org/officeDocument/2006/relationships/oleObject" Target="../embeddings/oleObject75.bin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74.bin"/><Relationship Id="rId4" Type="http://schemas.openxmlformats.org/officeDocument/2006/relationships/image" Target="../media/image1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6.bin"/><Relationship Id="rId7" Type="http://schemas.openxmlformats.org/officeDocument/2006/relationships/oleObject" Target="../embeddings/oleObject78.bin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77.bin"/><Relationship Id="rId4" Type="http://schemas.openxmlformats.org/officeDocument/2006/relationships/image" Target="../media/image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79.bin"/><Relationship Id="rId7" Type="http://schemas.openxmlformats.org/officeDocument/2006/relationships/oleObject" Target="../embeddings/oleObject8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0.bin"/><Relationship Id="rId4" Type="http://schemas.openxmlformats.org/officeDocument/2006/relationships/image" Target="../media/image1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82.bin"/><Relationship Id="rId7" Type="http://schemas.openxmlformats.org/officeDocument/2006/relationships/oleObject" Target="../embeddings/oleObject84.bin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3.bin"/><Relationship Id="rId4" Type="http://schemas.openxmlformats.org/officeDocument/2006/relationships/image" Target="../media/image1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85.bin"/><Relationship Id="rId7" Type="http://schemas.openxmlformats.org/officeDocument/2006/relationships/oleObject" Target="../embeddings/oleObject87.bin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6.bin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88.bin"/><Relationship Id="rId7" Type="http://schemas.openxmlformats.org/officeDocument/2006/relationships/oleObject" Target="../embeddings/oleObject90.bin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89.bin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91.bin"/><Relationship Id="rId7" Type="http://schemas.openxmlformats.org/officeDocument/2006/relationships/oleObject" Target="../embeddings/oleObject93.bin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92.bin"/><Relationship Id="rId4" Type="http://schemas.openxmlformats.org/officeDocument/2006/relationships/image" Target="../media/image1.png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94.bin"/><Relationship Id="rId7" Type="http://schemas.openxmlformats.org/officeDocument/2006/relationships/oleObject" Target="../embeddings/oleObject96.bin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95.bin"/><Relationship Id="rId4" Type="http://schemas.openxmlformats.org/officeDocument/2006/relationships/image" Target="../media/image1.pn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97.bin"/><Relationship Id="rId7" Type="http://schemas.openxmlformats.org/officeDocument/2006/relationships/oleObject" Target="../embeddings/oleObject99.bin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98.bin"/><Relationship Id="rId4" Type="http://schemas.openxmlformats.org/officeDocument/2006/relationships/image" Target="../media/image1.pn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0.bin"/><Relationship Id="rId7" Type="http://schemas.openxmlformats.org/officeDocument/2006/relationships/oleObject" Target="../embeddings/oleObject102.bin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01.bin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3.bin"/><Relationship Id="rId7" Type="http://schemas.openxmlformats.org/officeDocument/2006/relationships/oleObject" Target="../embeddings/oleObject105.bin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04.bin"/><Relationship Id="rId4" Type="http://schemas.openxmlformats.org/officeDocument/2006/relationships/image" Target="../media/image1.pn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6.bin"/><Relationship Id="rId7" Type="http://schemas.openxmlformats.org/officeDocument/2006/relationships/oleObject" Target="../embeddings/oleObject108.bin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07.bin"/><Relationship Id="rId4" Type="http://schemas.openxmlformats.org/officeDocument/2006/relationships/image" Target="../media/image1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09.bin"/><Relationship Id="rId7" Type="http://schemas.openxmlformats.org/officeDocument/2006/relationships/oleObject" Target="../embeddings/oleObject111.bin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0.bin"/><Relationship Id="rId4" Type="http://schemas.openxmlformats.org/officeDocument/2006/relationships/image" Target="../media/image1.pn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12.bin"/><Relationship Id="rId7" Type="http://schemas.openxmlformats.org/officeDocument/2006/relationships/oleObject" Target="../embeddings/oleObject114.bin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3.bin"/><Relationship Id="rId4" Type="http://schemas.openxmlformats.org/officeDocument/2006/relationships/image" Target="../media/image1.png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15.bin"/><Relationship Id="rId7" Type="http://schemas.openxmlformats.org/officeDocument/2006/relationships/oleObject" Target="../embeddings/oleObject117.bin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6.bin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18.bin"/><Relationship Id="rId7" Type="http://schemas.openxmlformats.org/officeDocument/2006/relationships/oleObject" Target="../embeddings/oleObject120.bin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19.bin"/><Relationship Id="rId4" Type="http://schemas.openxmlformats.org/officeDocument/2006/relationships/image" Target="../media/image1.png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21.bin"/><Relationship Id="rId7" Type="http://schemas.openxmlformats.org/officeDocument/2006/relationships/oleObject" Target="../embeddings/oleObject123.bin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22.bin"/><Relationship Id="rId4" Type="http://schemas.openxmlformats.org/officeDocument/2006/relationships/image" Target="../media/image1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24.bin"/><Relationship Id="rId7" Type="http://schemas.openxmlformats.org/officeDocument/2006/relationships/oleObject" Target="../embeddings/oleObject126.bin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25.bin"/><Relationship Id="rId4" Type="http://schemas.openxmlformats.org/officeDocument/2006/relationships/image" Target="../media/image1.png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27.bin"/><Relationship Id="rId7" Type="http://schemas.openxmlformats.org/officeDocument/2006/relationships/oleObject" Target="../embeddings/oleObject129.bin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28.bin"/><Relationship Id="rId4" Type="http://schemas.openxmlformats.org/officeDocument/2006/relationships/image" Target="../media/image1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0.bin"/><Relationship Id="rId7" Type="http://schemas.openxmlformats.org/officeDocument/2006/relationships/oleObject" Target="../embeddings/oleObject132.bin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31.bin"/><Relationship Id="rId4" Type="http://schemas.openxmlformats.org/officeDocument/2006/relationships/image" Target="../media/image1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3.bin"/><Relationship Id="rId7" Type="http://schemas.openxmlformats.org/officeDocument/2006/relationships/oleObject" Target="../embeddings/oleObject135.bin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34.bin"/><Relationship Id="rId4" Type="http://schemas.openxmlformats.org/officeDocument/2006/relationships/image" Target="../media/image1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6.bin"/><Relationship Id="rId7" Type="http://schemas.openxmlformats.org/officeDocument/2006/relationships/oleObject" Target="../embeddings/oleObject138.bin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37.bin"/><Relationship Id="rId4" Type="http://schemas.openxmlformats.org/officeDocument/2006/relationships/image" Target="../media/image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39.bin"/><Relationship Id="rId7" Type="http://schemas.openxmlformats.org/officeDocument/2006/relationships/oleObject" Target="../embeddings/oleObject141.bin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0.bin"/><Relationship Id="rId4" Type="http://schemas.openxmlformats.org/officeDocument/2006/relationships/image" Target="../media/image1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42.bin"/><Relationship Id="rId7" Type="http://schemas.openxmlformats.org/officeDocument/2006/relationships/oleObject" Target="../embeddings/oleObject144.bin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3.bin"/><Relationship Id="rId4" Type="http://schemas.openxmlformats.org/officeDocument/2006/relationships/image" Target="../media/image1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45.bin"/><Relationship Id="rId7" Type="http://schemas.openxmlformats.org/officeDocument/2006/relationships/oleObject" Target="../embeddings/oleObject147.bin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6.bin"/><Relationship Id="rId4" Type="http://schemas.openxmlformats.org/officeDocument/2006/relationships/image" Target="../media/image1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48.bin"/><Relationship Id="rId7" Type="http://schemas.openxmlformats.org/officeDocument/2006/relationships/oleObject" Target="../embeddings/oleObject150.bin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49.bin"/><Relationship Id="rId4" Type="http://schemas.openxmlformats.org/officeDocument/2006/relationships/image" Target="../media/image1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51.bin"/><Relationship Id="rId7" Type="http://schemas.openxmlformats.org/officeDocument/2006/relationships/oleObject" Target="../embeddings/oleObject153.bin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52.bin"/><Relationship Id="rId4" Type="http://schemas.openxmlformats.org/officeDocument/2006/relationships/image" Target="../media/image1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54.bin"/><Relationship Id="rId7" Type="http://schemas.openxmlformats.org/officeDocument/2006/relationships/oleObject" Target="../embeddings/oleObject156.bin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55.bin"/><Relationship Id="rId4" Type="http://schemas.openxmlformats.org/officeDocument/2006/relationships/image" Target="../media/image1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57.bin"/><Relationship Id="rId7" Type="http://schemas.openxmlformats.org/officeDocument/2006/relationships/oleObject" Target="../embeddings/oleObject159.bin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58.bin"/><Relationship Id="rId4" Type="http://schemas.openxmlformats.org/officeDocument/2006/relationships/image" Target="../media/image1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0.bin"/><Relationship Id="rId7" Type="http://schemas.openxmlformats.org/officeDocument/2006/relationships/oleObject" Target="../embeddings/oleObject162.bin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61.bin"/><Relationship Id="rId4" Type="http://schemas.openxmlformats.org/officeDocument/2006/relationships/image" Target="../media/image1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3.bin"/><Relationship Id="rId7" Type="http://schemas.openxmlformats.org/officeDocument/2006/relationships/oleObject" Target="../embeddings/oleObject165.bin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64.bin"/><Relationship Id="rId4" Type="http://schemas.openxmlformats.org/officeDocument/2006/relationships/image" Target="../media/image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6.bin"/><Relationship Id="rId7" Type="http://schemas.openxmlformats.org/officeDocument/2006/relationships/oleObject" Target="../embeddings/oleObject168.bin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67.bin"/><Relationship Id="rId4" Type="http://schemas.openxmlformats.org/officeDocument/2006/relationships/image" Target="../media/image1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69.bin"/><Relationship Id="rId7" Type="http://schemas.openxmlformats.org/officeDocument/2006/relationships/oleObject" Target="../embeddings/oleObject171.bin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0.bin"/><Relationship Id="rId4" Type="http://schemas.openxmlformats.org/officeDocument/2006/relationships/image" Target="../media/image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72.bin"/><Relationship Id="rId7" Type="http://schemas.openxmlformats.org/officeDocument/2006/relationships/oleObject" Target="../embeddings/oleObject174.bin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3.bin"/><Relationship Id="rId4" Type="http://schemas.openxmlformats.org/officeDocument/2006/relationships/image" Target="../media/image1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75.bin"/><Relationship Id="rId7" Type="http://schemas.openxmlformats.org/officeDocument/2006/relationships/oleObject" Target="../embeddings/oleObject177.bin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6.bin"/><Relationship Id="rId4" Type="http://schemas.openxmlformats.org/officeDocument/2006/relationships/image" Target="../media/image1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78.bin"/><Relationship Id="rId7" Type="http://schemas.openxmlformats.org/officeDocument/2006/relationships/oleObject" Target="../embeddings/oleObject180.bin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79.bin"/><Relationship Id="rId4" Type="http://schemas.openxmlformats.org/officeDocument/2006/relationships/image" Target="../media/image1.png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81.bin"/><Relationship Id="rId7" Type="http://schemas.openxmlformats.org/officeDocument/2006/relationships/oleObject" Target="../embeddings/oleObject183.bin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82.bin"/><Relationship Id="rId4" Type="http://schemas.openxmlformats.org/officeDocument/2006/relationships/image" Target="../media/image1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84.bin"/><Relationship Id="rId7" Type="http://schemas.openxmlformats.org/officeDocument/2006/relationships/oleObject" Target="../embeddings/oleObject186.bin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85.bin"/><Relationship Id="rId4" Type="http://schemas.openxmlformats.org/officeDocument/2006/relationships/image" Target="../media/image1.png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87.bin"/><Relationship Id="rId7" Type="http://schemas.openxmlformats.org/officeDocument/2006/relationships/oleObject" Target="../embeddings/oleObject189.bin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88.bin"/><Relationship Id="rId4" Type="http://schemas.openxmlformats.org/officeDocument/2006/relationships/image" Target="../media/image1.png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0.bin"/><Relationship Id="rId7" Type="http://schemas.openxmlformats.org/officeDocument/2006/relationships/oleObject" Target="../embeddings/oleObject192.bin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91.bin"/><Relationship Id="rId4" Type="http://schemas.openxmlformats.org/officeDocument/2006/relationships/image" Target="../media/image1.png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3.bin"/><Relationship Id="rId7" Type="http://schemas.openxmlformats.org/officeDocument/2006/relationships/oleObject" Target="../embeddings/oleObject195.bin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94.bin"/><Relationship Id="rId4" Type="http://schemas.openxmlformats.org/officeDocument/2006/relationships/image" Target="../media/image1.png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6.bin"/><Relationship Id="rId7" Type="http://schemas.openxmlformats.org/officeDocument/2006/relationships/oleObject" Target="../embeddings/oleObject198.bin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197.bin"/><Relationship Id="rId4" Type="http://schemas.openxmlformats.org/officeDocument/2006/relationships/image" Target="../media/image1.png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199.bin"/><Relationship Id="rId7" Type="http://schemas.openxmlformats.org/officeDocument/2006/relationships/oleObject" Target="../embeddings/oleObject201.bin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00.bin"/><Relationship Id="rId4" Type="http://schemas.openxmlformats.org/officeDocument/2006/relationships/image" Target="../media/image1.png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tiff"/><Relationship Id="rId3" Type="http://schemas.openxmlformats.org/officeDocument/2006/relationships/oleObject" Target="../embeddings/oleObject202.bin"/><Relationship Id="rId7" Type="http://schemas.openxmlformats.org/officeDocument/2006/relationships/oleObject" Target="../embeddings/oleObject204.bin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oleObject" Target="../embeddings/oleObject203.bin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9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92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92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 algn="ctr">
              <a:buNone/>
            </a:pPr>
            <a:r>
              <a:rPr lang="en-US" sz="6000" b="1" dirty="0"/>
              <a:t>INDUSTRIAL MANAGEMENT PART 2</a:t>
            </a:r>
            <a:endParaRPr lang="en-IN" sz="6000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dirty="0"/>
              <a:t>ORGANISATION.</a:t>
            </a:r>
          </a:p>
          <a:p>
            <a:endParaRPr lang="en-US" b="1" dirty="0"/>
          </a:p>
          <a:p>
            <a:endParaRPr lang="en-US" b="1" dirty="0"/>
          </a:p>
          <a:p>
            <a:r>
              <a:rPr lang="en-US" b="1" dirty="0"/>
              <a:t>SOCIAL UNIT OF PEOPLE SYSTEMATICALLY ARRANGED AND MANAGED TO PURSUE COLLECTIVE GOALS ON CONTUNUING BASIS.</a:t>
            </a: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73342336"/>
      </p:ext>
    </p:ext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STRUCTRE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US" b="1" u="sng" dirty="0"/>
              <a:t>MECHANISTIC</a:t>
            </a:r>
          </a:p>
          <a:p>
            <a:pPr lvl="0"/>
            <a:endParaRPr lang="en-US" b="1" u="sng" dirty="0"/>
          </a:p>
          <a:p>
            <a:pPr lvl="0"/>
            <a:r>
              <a:rPr lang="en-US" b="1" u="sng" dirty="0"/>
              <a:t>ORGANIC</a:t>
            </a:r>
          </a:p>
          <a:p>
            <a:pPr lvl="0"/>
            <a:endParaRPr lang="en-US" sz="2000" b="1" u="sng" dirty="0"/>
          </a:p>
          <a:p>
            <a:pPr marL="0" lvl="0" indent="0" algn="ctr">
              <a:buNone/>
            </a:pPr>
            <a:r>
              <a:rPr lang="en-US" sz="2800" dirty="0"/>
              <a:t>The structure defines position and </a:t>
            </a:r>
            <a:r>
              <a:rPr lang="en-US" sz="2800" dirty="0" err="1"/>
              <a:t>function.The</a:t>
            </a:r>
            <a:r>
              <a:rPr lang="en-US" sz="2800" dirty="0"/>
              <a:t> optimum structure depends on Political, </a:t>
            </a:r>
            <a:r>
              <a:rPr lang="en-US" sz="2800" dirty="0" err="1"/>
              <a:t>Demogrphic,Sociocultural</a:t>
            </a:r>
            <a:r>
              <a:rPr lang="en-US" sz="2800" dirty="0"/>
              <a:t> , </a:t>
            </a:r>
            <a:r>
              <a:rPr lang="en-US" sz="2800" dirty="0" err="1"/>
              <a:t>Economic,Technological,AND</a:t>
            </a:r>
            <a:r>
              <a:rPr lang="en-US" sz="2800" dirty="0"/>
              <a:t> Legal factors. </a:t>
            </a:r>
          </a:p>
          <a:p>
            <a:pPr marL="0" lvl="0" indent="0" algn="ctr">
              <a:buNone/>
            </a:pPr>
            <a:endParaRPr lang="en-US" sz="2800" dirty="0"/>
          </a:p>
          <a:p>
            <a:pPr marL="0" lvl="0" indent="0" algn="ctr">
              <a:buNone/>
            </a:pPr>
            <a:endParaRPr lang="en-US" sz="2800" dirty="0"/>
          </a:p>
          <a:p>
            <a:pPr marL="0" lvl="0" indent="0" algn="ctr">
              <a:buNone/>
            </a:pPr>
            <a:r>
              <a:rPr lang="en-US" sz="2800" dirty="0"/>
              <a:t>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5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53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53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25338" y="656431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MECHANISTIC AND ORGANIC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lvl="0"/>
            <a:r>
              <a:rPr lang="en-US" b="1" u="sng" dirty="0"/>
              <a:t>RIGID, WELL DEFINED,BEUROCRATIC,MULTI LEVEL,PYRAMID,LEAST INTERACTIVE AMONG PEERS.</a:t>
            </a:r>
          </a:p>
          <a:p>
            <a:pPr lvl="0"/>
            <a:endParaRPr lang="en-US" b="1" u="sng" dirty="0"/>
          </a:p>
          <a:p>
            <a:pPr lvl="0"/>
            <a:r>
              <a:rPr lang="en-US" b="1" u="sng"/>
              <a:t>FLEXIBLE, FLAT,INTERACTIVE,MINIMUM DOCUMENTATION,MULTIPLE ROLES,DECENTRALIZED DECISION MAKING.</a:t>
            </a:r>
            <a:endParaRPr lang="en-US" b="1" u="sng" dirty="0"/>
          </a:p>
          <a:p>
            <a:pPr lvl="0"/>
            <a:endParaRPr lang="en-US" b="1" u="sng" dirty="0"/>
          </a:p>
          <a:p>
            <a:pPr lvl="0"/>
            <a:endParaRPr lang="en-US" b="1" u="sng" dirty="0"/>
          </a:p>
          <a:p>
            <a:pPr lvl="0"/>
            <a:endParaRPr lang="en-US" sz="2000" b="1" dirty="0"/>
          </a:p>
          <a:p>
            <a:pPr lvl="0"/>
            <a:endParaRPr lang="en-US" sz="2000" b="1" dirty="0"/>
          </a:p>
          <a:p>
            <a:pPr marL="0" lvl="0" indent="0" algn="ctr">
              <a:buNone/>
            </a:pPr>
            <a:endParaRPr lang="en-US" sz="2800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919231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GREINERS MODEL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lvl="0"/>
            <a:r>
              <a:rPr lang="en-US" sz="3000" b="1" u="sng" dirty="0"/>
              <a:t>ASSUMPTIONS</a:t>
            </a:r>
          </a:p>
          <a:p>
            <a:pPr lvl="0"/>
            <a:endParaRPr lang="en-US" sz="3000" b="1" u="sng" dirty="0"/>
          </a:p>
          <a:p>
            <a:pPr lvl="0"/>
            <a:endParaRPr lang="en-US" sz="3000" b="1" u="sng" dirty="0"/>
          </a:p>
          <a:p>
            <a:pPr marL="457200" lvl="0" indent="-457200">
              <a:buAutoNum type="alphaLcParenR"/>
            </a:pPr>
            <a:r>
              <a:rPr lang="en-US" sz="2400" dirty="0"/>
              <a:t>GROWTH</a:t>
            </a:r>
          </a:p>
          <a:p>
            <a:pPr marL="457200" lvl="0" indent="-457200">
              <a:buAutoNum type="alphaLcParenR"/>
            </a:pPr>
            <a:r>
              <a:rPr lang="en-US" sz="2400" dirty="0"/>
              <a:t>MANAGEMENT STYLE</a:t>
            </a:r>
          </a:p>
          <a:p>
            <a:pPr marL="457200" lvl="0" indent="-457200">
              <a:buAutoNum type="alphaLcParenR"/>
            </a:pPr>
            <a:r>
              <a:rPr lang="en-US" sz="2400" dirty="0"/>
              <a:t>STRUCTURE</a:t>
            </a:r>
          </a:p>
          <a:p>
            <a:pPr marL="457200" lvl="0" indent="-457200">
              <a:buAutoNum type="alphaLcParenR"/>
            </a:pPr>
            <a:r>
              <a:rPr lang="en-US" sz="2400" dirty="0"/>
              <a:t>COORDINATION</a:t>
            </a:r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457200" lvl="0" indent="-457200">
              <a:buAutoNum type="alphaLcParenR"/>
            </a:pPr>
            <a:endParaRPr lang="en-US" sz="2400" dirty="0"/>
          </a:p>
          <a:p>
            <a:pPr marL="0" lv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D7E8-537D-4AE0-8B73-076C2471E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SFTRUCTURES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E2B7D-5628-43C9-BA60-049ED8C0D4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FUNCTIONAL     Manufacturing firms</a:t>
            </a:r>
          </a:p>
          <a:p>
            <a:r>
              <a:rPr lang="en-IN" dirty="0"/>
              <a:t>DIVISIONAL        Multiple markets</a:t>
            </a:r>
          </a:p>
          <a:p>
            <a:r>
              <a:rPr lang="en-IN" dirty="0"/>
              <a:t>MATRIX               Project Based Companies</a:t>
            </a:r>
          </a:p>
          <a:p>
            <a:r>
              <a:rPr lang="en-IN" dirty="0"/>
              <a:t>TEAM BASED      Flexibility Innovation</a:t>
            </a:r>
          </a:p>
          <a:p>
            <a:r>
              <a:rPr lang="en-IN" dirty="0"/>
              <a:t>NETWORK           Outsourcing Companies</a:t>
            </a:r>
          </a:p>
          <a:p>
            <a:r>
              <a:rPr lang="en-IN" dirty="0"/>
              <a:t>HIERARCHIAL      Traditional Stable</a:t>
            </a:r>
          </a:p>
          <a:p>
            <a:r>
              <a:rPr lang="en-IN" dirty="0"/>
              <a:t>FLAT                      Faster </a:t>
            </a:r>
            <a:r>
              <a:rPr lang="en-IN"/>
              <a:t>Decisions Collaborative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41606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5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5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PHASES OF GROWTH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 algn="just">
              <a:buNone/>
            </a:pPr>
            <a:r>
              <a:rPr lang="en-US" sz="2000" dirty="0"/>
              <a:t>GROWTH THROUGH CREATIVITY                                    LEADERSHIP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DIRECTION                                    AUTONOMY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DELEGATION                                  CONTROL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COORDINATION                           RED TAPE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COLLABORATION         INTERNAL GROWTH CRISIS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r>
              <a:rPr lang="en-US" sz="2000" dirty="0"/>
              <a:t>GROWTH THROUGH ALLIANCES                                  IDENTITY CRISIS.</a:t>
            </a:r>
          </a:p>
          <a:p>
            <a:pPr marL="0" lvl="0" indent="0" algn="just">
              <a:buNone/>
            </a:pPr>
            <a:endParaRPr lang="en-US" sz="2000" dirty="0"/>
          </a:p>
          <a:p>
            <a:pPr marL="0" lvl="0" indent="0" algn="just">
              <a:buNone/>
            </a:pPr>
            <a:endParaRPr lang="en-US" sz="2000" dirty="0"/>
          </a:p>
          <a:p>
            <a:pPr marL="45720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62823968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1 CREATIVITY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Flat structure</a:t>
            </a:r>
          </a:p>
          <a:p>
            <a:pPr marL="0" indent="0">
              <a:buNone/>
            </a:pPr>
            <a:r>
              <a:rPr lang="en-US" sz="2400" dirty="0"/>
              <a:t>Small and Informal</a:t>
            </a:r>
          </a:p>
          <a:p>
            <a:pPr marL="0" indent="0">
              <a:buNone/>
            </a:pPr>
            <a:r>
              <a:rPr lang="en-US" sz="2400" dirty="0" err="1"/>
              <a:t>Entreprenurial</a:t>
            </a:r>
            <a:endParaRPr lang="en-US" sz="2400" dirty="0"/>
          </a:p>
          <a:p>
            <a:pPr marL="0" indent="0">
              <a:buNone/>
            </a:pPr>
            <a:r>
              <a:rPr lang="en-US" sz="2400" dirty="0"/>
              <a:t>Loyal employees.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/>
              <a:t>ONE MAN SHOW…Not possible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2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3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2 DIRECTION 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400" b="1" dirty="0"/>
              <a:t>Appoint Functional Managers.</a:t>
            </a:r>
          </a:p>
          <a:p>
            <a:pPr marL="0" lvl="0" indent="0">
              <a:buNone/>
            </a:pPr>
            <a:r>
              <a:rPr lang="en-US" sz="2400" b="1" dirty="0"/>
              <a:t>Create Middle </a:t>
            </a:r>
            <a:r>
              <a:rPr lang="en-US" sz="2400" b="1" dirty="0" err="1"/>
              <a:t>Management,Rules</a:t>
            </a:r>
            <a:r>
              <a:rPr lang="en-US" sz="2400" b="1" dirty="0"/>
              <a:t> procedures are standardized, Central coordination with Entrepreneur</a:t>
            </a:r>
          </a:p>
          <a:p>
            <a:pPr marL="0" lvl="0" indent="0">
              <a:buNone/>
            </a:pPr>
            <a:endParaRPr lang="en-US" sz="2400" b="1" dirty="0"/>
          </a:p>
          <a:p>
            <a:pPr marL="0" lvl="0" indent="0">
              <a:buNone/>
            </a:pPr>
            <a:endParaRPr lang="en-US" sz="2400" b="1" dirty="0"/>
          </a:p>
          <a:p>
            <a:pPr marL="0" lvl="0" indent="0">
              <a:buNone/>
            </a:pPr>
            <a:endParaRPr lang="en-US" sz="2400" b="1" dirty="0"/>
          </a:p>
          <a:p>
            <a:pPr marL="0" lvl="0" indent="0">
              <a:buNone/>
            </a:pPr>
            <a:r>
              <a:rPr lang="en-US" sz="2400" b="1" dirty="0"/>
              <a:t>Autonomy crisis is Born.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9609416"/>
      </p:ext>
    </p:extLst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3 DELEGATION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r>
              <a:rPr lang="en-US" sz="2400" dirty="0"/>
              <a:t>Tactical , Operational objectives by middle managers.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Low intervention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Product Group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Individual Managers</a:t>
            </a:r>
          </a:p>
          <a:p>
            <a:pPr marL="457200" lvl="0" indent="-457200">
              <a:buAutoNum type="arabicPeriod"/>
            </a:pPr>
            <a:endParaRPr lang="en-US" sz="2400" dirty="0"/>
          </a:p>
          <a:p>
            <a:pPr marL="457200" lvl="0" indent="-457200">
              <a:buAutoNum type="arabicPeriod"/>
            </a:pPr>
            <a:endParaRPr lang="en-US" sz="2400" dirty="0"/>
          </a:p>
          <a:p>
            <a:pPr marL="0" lvl="0" indent="0">
              <a:buNone/>
            </a:pPr>
            <a:r>
              <a:rPr lang="en-US" sz="2000" b="1" dirty="0"/>
              <a:t> Co ordination Difficult Divisional managers plot own course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1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1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4 COORDINATION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AutoNum type="arabicPeriod"/>
            </a:pPr>
            <a:r>
              <a:rPr lang="en-US" sz="2400" dirty="0"/>
              <a:t>Staff </a:t>
            </a:r>
            <a:r>
              <a:rPr lang="en-US" sz="2400" dirty="0" err="1"/>
              <a:t>Deparments</a:t>
            </a:r>
            <a:r>
              <a:rPr lang="en-US" sz="2400" dirty="0"/>
              <a:t> Introduced… What are staff and line roles?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Take strong position from Headquarters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Manage Divisional managers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Headquarters All important</a:t>
            </a:r>
          </a:p>
          <a:p>
            <a:pPr marL="457200" lvl="0" indent="-457200">
              <a:buAutoNum type="arabicPeriod"/>
            </a:pPr>
            <a:endParaRPr lang="en-US" sz="2400" b="1" dirty="0"/>
          </a:p>
          <a:p>
            <a:pPr marL="457200" lvl="0" indent="-457200">
              <a:buAutoNum type="arabicPeriod"/>
            </a:pPr>
            <a:endParaRPr lang="en-US" sz="2400" b="1" dirty="0"/>
          </a:p>
          <a:p>
            <a:pPr marL="0" lvl="0" indent="0">
              <a:buNone/>
            </a:pPr>
            <a:r>
              <a:rPr lang="en-US" sz="2400" b="1" dirty="0"/>
              <a:t>   COMPANY INFLEXIBLE RED TAPE ARISES STAFF DEPT TAKE UP TOO      MUCH POWER  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36024615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39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39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39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5 COLLABORATION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AutoNum type="arabicPeriod"/>
            </a:pPr>
            <a:r>
              <a:rPr lang="en-US" sz="2400" dirty="0"/>
              <a:t>Line and Staff </a:t>
            </a:r>
            <a:r>
              <a:rPr lang="en-US" sz="2400" dirty="0" err="1"/>
              <a:t>Deparment</a:t>
            </a:r>
            <a:r>
              <a:rPr lang="en-US" sz="2400" dirty="0"/>
              <a:t> co-ordination</a:t>
            </a:r>
          </a:p>
          <a:p>
            <a:pPr marL="457200" lvl="0" indent="-457200">
              <a:buAutoNum type="arabicPeriod"/>
            </a:pPr>
            <a:r>
              <a:rPr lang="en-US" sz="2400" dirty="0" err="1"/>
              <a:t>Hierachial</a:t>
            </a:r>
            <a:r>
              <a:rPr lang="en-US" sz="2400" dirty="0"/>
              <a:t> forms</a:t>
            </a:r>
          </a:p>
          <a:p>
            <a:pPr marL="457200" lvl="0" indent="-457200">
              <a:buAutoNum type="arabicPeriod"/>
            </a:pPr>
            <a:r>
              <a:rPr lang="en-US" sz="2400"/>
              <a:t>Matrix Structure</a:t>
            </a:r>
            <a:endParaRPr lang="en-US" sz="2400" dirty="0"/>
          </a:p>
          <a:p>
            <a:pPr marL="457200" lvl="0" indent="-457200">
              <a:buAutoNum type="arabicPeriod"/>
            </a:pPr>
            <a:r>
              <a:rPr lang="en-US" sz="2400" dirty="0"/>
              <a:t>Consultation Groups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Meetings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000" b="1" dirty="0"/>
              <a:t>Too many Consultations. Supervision Declines…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5455352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40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40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40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STAGE 6 ALLIANCES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b="1" u="sng" dirty="0"/>
              <a:t>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External alliances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Contacts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Mergers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Extensive Network</a:t>
            </a:r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0" lvl="0" indent="0">
              <a:buNone/>
            </a:pPr>
            <a:r>
              <a:rPr lang="en-US" sz="2000" b="1" dirty="0"/>
              <a:t>  Focus on alliances rather than own </a:t>
            </a:r>
            <a:r>
              <a:rPr lang="en-US" sz="2000" b="1" dirty="0" err="1"/>
              <a:t>business.Other</a:t>
            </a:r>
            <a:r>
              <a:rPr lang="en-US" sz="2000" b="1" dirty="0"/>
              <a:t> businesses take </a:t>
            </a:r>
            <a:r>
              <a:rPr lang="en-US" sz="2000" b="1" dirty="0" err="1"/>
              <a:t>over.Identity</a:t>
            </a:r>
            <a:r>
              <a:rPr lang="en-US" sz="2000" b="1" dirty="0"/>
              <a:t> Crisis.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600306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0742942-8637-429B-A2B5-14E0485D7E90}"/>
              </a:ext>
            </a:extLst>
          </p:cNvPr>
          <p:cNvSpPr txBox="1"/>
          <p:nvPr/>
        </p:nvSpPr>
        <p:spPr>
          <a:xfrm>
            <a:off x="219975" y="596954"/>
            <a:ext cx="13724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200" dirty="0"/>
              <a:t>GRAPH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E80CE0-D618-492A-B6F7-F417F0C754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177409"/>
            <a:ext cx="9042400" cy="5177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8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8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8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GRAPH 2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-38101" y="2025788"/>
            <a:ext cx="11318159" cy="4100375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D76C60F9-2714-495C-8218-A7FBF60778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636" y="1290638"/>
            <a:ext cx="9478164" cy="4772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1541823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ORGANISATIONAL DESIGN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        </a:t>
            </a:r>
            <a:r>
              <a:rPr lang="en-US" sz="2800" b="1" dirty="0"/>
              <a:t>CREATE VALUE FOR FUTURE</a:t>
            </a:r>
          </a:p>
          <a:p>
            <a:pPr marL="0" lvl="0" indent="0">
              <a:buNone/>
            </a:pPr>
            <a:r>
              <a:rPr lang="en-US" sz="2800" b="1" dirty="0"/>
              <a:t>      PEOPLE AT THE CENTRE</a:t>
            </a:r>
          </a:p>
          <a:p>
            <a:pPr marL="0" lvl="0" indent="0">
              <a:buNone/>
            </a:pPr>
            <a:r>
              <a:rPr lang="en-US" sz="2800" b="1" dirty="0"/>
              <a:t>      DESIGN IS LIKE A MAP.  IMPLEMENTATION GPS</a:t>
            </a:r>
          </a:p>
          <a:p>
            <a:pPr marL="0" lvl="0" indent="0">
              <a:buNone/>
            </a:pPr>
            <a:r>
              <a:rPr lang="en-US" sz="2800" b="1" dirty="0"/>
              <a:t>      BUILD RESILIENCE FOR UNKNOWN.</a:t>
            </a:r>
          </a:p>
          <a:p>
            <a:pPr marL="0" lvl="0" indent="0">
              <a:buNone/>
            </a:pPr>
            <a:r>
              <a:rPr lang="en-US" sz="2800" b="1" dirty="0"/>
              <a:t> 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      NO PERFECT MODEL.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 ORGANISATIONAL DESIGN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r>
              <a:rPr lang="en-US" sz="2000" dirty="0"/>
              <a:t>                                                      </a:t>
            </a:r>
          </a:p>
          <a:p>
            <a:pPr marL="457200" lvl="0" indent="-457200">
              <a:buNone/>
            </a:pPr>
            <a:r>
              <a:rPr lang="en-US" sz="2000" b="1" dirty="0"/>
              <a:t>         </a:t>
            </a:r>
            <a:r>
              <a:rPr lang="en-US" b="1" dirty="0"/>
              <a:t>MISSION</a:t>
            </a:r>
          </a:p>
          <a:p>
            <a:pPr marL="457200" lvl="0" indent="-457200">
              <a:buNone/>
            </a:pPr>
            <a:r>
              <a:rPr lang="en-US" sz="2000" b="1" dirty="0"/>
              <a:t>         </a:t>
            </a:r>
            <a:r>
              <a:rPr lang="en-US" b="1" dirty="0"/>
              <a:t>PROCESS</a:t>
            </a:r>
          </a:p>
          <a:p>
            <a:pPr marL="457200" lvl="0" indent="-457200">
              <a:buNone/>
            </a:pPr>
            <a:r>
              <a:rPr lang="en-US" sz="2000" b="1"/>
              <a:t>         </a:t>
            </a:r>
            <a:r>
              <a:rPr lang="en-US" b="1"/>
              <a:t>ROLES</a:t>
            </a:r>
            <a:r>
              <a:rPr lang="en-US" sz="2000" b="1"/>
              <a:t>  </a:t>
            </a:r>
            <a:r>
              <a:rPr lang="en-US" b="1"/>
              <a:t>                                                                          </a:t>
            </a:r>
            <a:r>
              <a:rPr lang="en-US" b="1" dirty="0"/>
              <a:t>STRUCTURE                                          </a:t>
            </a:r>
          </a:p>
          <a:p>
            <a:pPr marL="457200" lvl="0" indent="-457200">
              <a:buNone/>
            </a:pPr>
            <a:r>
              <a:rPr lang="en-US" b="1" dirty="0"/>
              <a:t>     PEOPLE AND PRACTICES</a:t>
            </a:r>
          </a:p>
          <a:p>
            <a:pPr marL="400050" lvl="1" indent="0">
              <a:buNone/>
            </a:pPr>
            <a:endParaRPr lang="en-US" sz="16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Concept of Internal customers.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92500" lnSpcReduction="10000"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000" b="1" dirty="0"/>
              <a:t>   </a:t>
            </a:r>
            <a:r>
              <a:rPr lang="en-US" sz="2400" b="1" dirty="0"/>
              <a:t>Customer is The Focus.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r>
              <a:rPr lang="en-US" sz="2400" b="1" dirty="0"/>
              <a:t>    Research.&gt; Development.&gt; Process Design.&gt; Projects.&gt;</a:t>
            </a:r>
          </a:p>
          <a:p>
            <a:pPr marL="457200" lvl="0" indent="-457200">
              <a:buNone/>
            </a:pPr>
            <a:r>
              <a:rPr lang="en-US" sz="2400" b="1" dirty="0"/>
              <a:t>    Operations.&gt;Marketing.&gt; Final Purchaser.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r>
              <a:rPr lang="en-US" sz="2400" b="1" dirty="0"/>
              <a:t>   Multiple Customers.  Purchase, Finance and accounts, </a:t>
            </a:r>
            <a:r>
              <a:rPr lang="en-US" sz="2400" b="1" dirty="0" err="1"/>
              <a:t>Personnel,Quality</a:t>
            </a:r>
            <a:r>
              <a:rPr lang="en-US" sz="2400" b="1" dirty="0"/>
              <a:t> </a:t>
            </a:r>
          </a:p>
          <a:p>
            <a:pPr marL="457200" lvl="0" indent="-457200">
              <a:buNone/>
            </a:pPr>
            <a:r>
              <a:rPr lang="en-US" sz="2400" b="1" dirty="0"/>
              <a:t>   Assurance, </a:t>
            </a:r>
            <a:r>
              <a:rPr lang="en-US" sz="2400" b="1" dirty="0" err="1"/>
              <a:t>HR,Maintainance</a:t>
            </a:r>
            <a:r>
              <a:rPr lang="en-US" sz="2400" b="1" dirty="0"/>
              <a:t>, Stores, Security, IT services.</a:t>
            </a:r>
          </a:p>
          <a:p>
            <a:pPr marL="457200" lvl="0" indent="-457200">
              <a:buNone/>
            </a:pPr>
            <a:r>
              <a:rPr lang="en-US" sz="2400" b="1" dirty="0"/>
              <a:t>     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r>
              <a:rPr lang="en-US" sz="2400" b="1" dirty="0"/>
              <a:t>       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6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7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Interaction With Others: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R&amp;D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Design &amp; projects.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Operations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Quality assurance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Customer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58399240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Three Major Areas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New Products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Improving Existing products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Service to the customer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6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6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PORTERS VALUE CHAIN MODEL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  </a:t>
            </a:r>
            <a:r>
              <a:rPr lang="en-US" sz="2800" b="1" dirty="0"/>
              <a:t>INTRODUCED IN 1985 BY MICHEL PORTER</a:t>
            </a:r>
          </a:p>
          <a:p>
            <a:pPr marL="0" lvl="0" indent="0">
              <a:buNone/>
            </a:pPr>
            <a:r>
              <a:rPr lang="en-US" sz="2000" b="1" dirty="0"/>
              <a:t>   </a:t>
            </a:r>
          </a:p>
          <a:p>
            <a:pPr marL="0" lvl="0" indent="0">
              <a:buNone/>
            </a:pPr>
            <a:r>
              <a:rPr lang="en-US" sz="2800" b="1" dirty="0"/>
              <a:t>Primary Activities- Directly Develop Product or Services.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Support Activities- To make Primary Activities more Efficient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Strategic Management tool.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71717656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4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VALUE CHAIN ANALYSIS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lang="en-US" sz="2800" b="1" dirty="0"/>
              <a:t> COMPETETION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NEW ENTRANTS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BARGAINING POWER OF CUSTOMERS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BARGAINING POWER OF SUPPLIERS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THREAT OF ALTERNATIVES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80122134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4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VALUE CHAIN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PHYSICAL OR TRADITIONAL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VIRTUAL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STRATEGIC BUSINESS UNIT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GLOBAL 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76068566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4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EXAMPLES OF INDUSTRIES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WALL MART  RELIANCE</a:t>
            </a:r>
          </a:p>
          <a:p>
            <a:pPr marL="457200" lvl="0" indent="-457200">
              <a:buNone/>
            </a:pPr>
            <a:r>
              <a:rPr lang="en-US" sz="2800" b="1" dirty="0"/>
              <a:t>AMAZON</a:t>
            </a:r>
          </a:p>
          <a:p>
            <a:pPr marL="457200" lvl="0" indent="-457200">
              <a:buNone/>
            </a:pPr>
            <a:r>
              <a:rPr lang="en-US" sz="2800" b="1" dirty="0"/>
              <a:t>FEDEX   SPEED POST</a:t>
            </a:r>
          </a:p>
          <a:p>
            <a:pPr marL="457200" lvl="0" indent="-457200">
              <a:buNone/>
            </a:pPr>
            <a:r>
              <a:rPr lang="en-US" sz="2800" b="1" dirty="0"/>
              <a:t>BASF</a:t>
            </a:r>
          </a:p>
          <a:p>
            <a:pPr marL="457200" lvl="0" indent="-457200">
              <a:buNone/>
            </a:pPr>
            <a:r>
              <a:rPr lang="en-US" sz="2800" b="1" dirty="0"/>
              <a:t>CITI BANK    ICICI BANK</a:t>
            </a:r>
          </a:p>
          <a:p>
            <a:pPr marL="457200" lvl="0" indent="-457200">
              <a:buNone/>
            </a:pPr>
            <a:r>
              <a:rPr lang="en-US" sz="2800" b="1" dirty="0"/>
              <a:t>ASIAN PAINTS  PIDILITE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000" b="1" dirty="0"/>
              <a:t>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53078120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3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4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PORTERS GENERIC STRATEGY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800" b="1" dirty="0"/>
              <a:t>LOWER COST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DIFFERANTIATION.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86061684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2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2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2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FINANANCE AND ACCOUNTS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Autofit/>
          </a:bodyPr>
          <a:lstStyle/>
          <a:p>
            <a:r>
              <a:rPr lang="en-US" b="1" u="sng" dirty="0"/>
              <a:t>BUDGET</a:t>
            </a:r>
          </a:p>
          <a:p>
            <a:endParaRPr lang="en-US" b="1" u="sng" dirty="0"/>
          </a:p>
          <a:p>
            <a:r>
              <a:rPr lang="en-US" b="1" dirty="0"/>
              <a:t>DEFICIT BUDGET AND WHAT IT MEANS</a:t>
            </a:r>
          </a:p>
          <a:p>
            <a:endParaRPr lang="en-US" b="1" dirty="0"/>
          </a:p>
          <a:p>
            <a:r>
              <a:rPr lang="en-US" b="1" dirty="0"/>
              <a:t>CAPITAL AND REVENUE EXPENDITURE</a:t>
            </a:r>
          </a:p>
          <a:p>
            <a:endParaRPr lang="en-US" b="1" dirty="0"/>
          </a:p>
          <a:p>
            <a:r>
              <a:rPr lang="en-US" b="1" dirty="0"/>
              <a:t>DEPRECIATION AND INCOME TAX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These compromises might play out differently if the time period or time cycles are affected.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To Sum up there are no specific rules for effects of scale up.</a:t>
            </a:r>
          </a:p>
          <a:p>
            <a:pPr marL="457200" lvl="0" indent="-457200">
              <a:buNone/>
            </a:pPr>
            <a:r>
              <a:rPr lang="en-US" b="1" dirty="0"/>
              <a:t>The judgement of the Engineers and Chemists should be considered for factors affecting scale up</a:t>
            </a:r>
          </a:p>
          <a:p>
            <a:pPr marL="457200" lvl="0" indent="-457200">
              <a:buNone/>
            </a:pPr>
            <a:r>
              <a:rPr lang="en-US" b="1" dirty="0"/>
              <a:t>AND</a:t>
            </a:r>
          </a:p>
          <a:p>
            <a:pPr marL="457200" lvl="0" indent="-457200">
              <a:buNone/>
            </a:pPr>
            <a:r>
              <a:rPr lang="en-US" b="1" dirty="0"/>
              <a:t>All the parameters independently verified through experiments in lab or Pilot Plant</a:t>
            </a:r>
          </a:p>
          <a:p>
            <a:pPr marL="457200" lvl="0" indent="-45720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lvl="0" indent="0">
              <a:buNone/>
            </a:pPr>
            <a:endParaRPr lang="en-US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8668004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FINANCE AND ACCOUNTS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SURPLUS BUDGET</a:t>
            </a:r>
            <a:endParaRPr lang="en-US" sz="2000" b="1" dirty="0"/>
          </a:p>
          <a:p>
            <a:pPr marL="457200" lvl="0" indent="-457200">
              <a:buAutoNum type="arabicPeriod"/>
            </a:pPr>
            <a:r>
              <a:rPr lang="en-US" sz="2800" dirty="0"/>
              <a:t>PROFIT AFTER TAX</a:t>
            </a:r>
          </a:p>
          <a:p>
            <a:pPr marL="457200" lvl="0" indent="-457200">
              <a:buAutoNum type="arabicPeriod"/>
            </a:pPr>
            <a:endParaRPr lang="en-US" sz="2800" dirty="0"/>
          </a:p>
          <a:p>
            <a:pPr marL="457200" lvl="0" indent="-457200">
              <a:buAutoNum type="arabicPeriod"/>
            </a:pPr>
            <a:r>
              <a:rPr lang="en-US" sz="2800" dirty="0"/>
              <a:t>CARRY OVER OR DISDURSAL</a:t>
            </a:r>
          </a:p>
          <a:p>
            <a:pPr marL="457200" lvl="0" indent="-457200">
              <a:buAutoNum type="arabicPeriod"/>
            </a:pPr>
            <a:endParaRPr lang="en-US" sz="2800" dirty="0"/>
          </a:p>
          <a:p>
            <a:pPr marL="457200" lvl="0" indent="-457200">
              <a:buAutoNum type="arabicPeriod"/>
            </a:pPr>
            <a:r>
              <a:rPr lang="en-US" sz="2800" dirty="0"/>
              <a:t>EBIDTA</a:t>
            </a:r>
            <a:endParaRPr lang="en-US" sz="24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3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32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32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INVESTMENT DECISIONS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en-US" sz="2000" b="1" dirty="0"/>
              <a:t>  </a:t>
            </a:r>
          </a:p>
          <a:p>
            <a:pPr marL="0" lvl="0" indent="0">
              <a:buNone/>
            </a:pPr>
            <a:r>
              <a:rPr lang="en-US" sz="2800" b="1" dirty="0"/>
              <a:t>  TECHNICAL EVALUATION.</a:t>
            </a:r>
          </a:p>
          <a:p>
            <a:pPr marL="0" lvl="0" indent="0">
              <a:buNone/>
            </a:pPr>
            <a:r>
              <a:rPr lang="en-US" sz="2800" b="1" dirty="0"/>
              <a:t>  FEASIBILITY</a:t>
            </a:r>
          </a:p>
          <a:p>
            <a:pPr marL="0" lvl="0" indent="0">
              <a:buNone/>
            </a:pPr>
            <a:r>
              <a:rPr lang="en-US" sz="2800" b="1" dirty="0"/>
              <a:t>  ABILITY</a:t>
            </a:r>
          </a:p>
          <a:p>
            <a:pPr marL="0" lvl="0" indent="0">
              <a:buNone/>
            </a:pPr>
            <a:r>
              <a:rPr lang="en-US" sz="2800" b="1" dirty="0"/>
              <a:t>  COMPETETION</a:t>
            </a:r>
          </a:p>
          <a:p>
            <a:pPr marL="0" lvl="0" indent="0">
              <a:buNone/>
            </a:pPr>
            <a:r>
              <a:rPr lang="en-US" sz="2800" b="1" dirty="0"/>
              <a:t>   NOVELTY</a:t>
            </a:r>
          </a:p>
          <a:p>
            <a:pPr marL="0" lvl="0" indent="0">
              <a:buNone/>
            </a:pPr>
            <a:r>
              <a:rPr lang="en-US" sz="2800" b="1" dirty="0"/>
              <a:t>   DIFFERRACIATION OR LOW COST</a:t>
            </a:r>
          </a:p>
          <a:p>
            <a:pPr marL="0" lvl="0" indent="0">
              <a:buNone/>
            </a:pPr>
            <a:r>
              <a:rPr lang="en-US" sz="2800" b="1" dirty="0"/>
              <a:t>   GRASS ROOT OR EXISTING INFRASTRUCTURE</a:t>
            </a:r>
          </a:p>
          <a:p>
            <a:pPr marL="0" lvl="0" indent="0">
              <a:buNone/>
            </a:pPr>
            <a:r>
              <a:rPr lang="en-US" sz="2800" b="1" dirty="0"/>
              <a:t>  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6895764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UNVESTMENT DECISIONS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r>
              <a:rPr lang="en-US" sz="2800" b="1" dirty="0"/>
              <a:t>    LOCATION</a:t>
            </a:r>
          </a:p>
          <a:p>
            <a:pPr marL="0" lvl="0" indent="0">
              <a:buNone/>
            </a:pPr>
            <a:r>
              <a:rPr lang="en-US" sz="2800" b="1" dirty="0"/>
              <a:t>    LAND ACQUISITION</a:t>
            </a:r>
          </a:p>
          <a:p>
            <a:pPr marL="0" lvl="0" indent="0">
              <a:buNone/>
            </a:pPr>
            <a:r>
              <a:rPr lang="en-US" sz="2800" b="1" dirty="0"/>
              <a:t>    OTHER HISTORICAL AND GEOGRAPHICAL FACTORS</a:t>
            </a:r>
          </a:p>
          <a:p>
            <a:pPr marL="0" lvl="0" indent="0">
              <a:buNone/>
            </a:pPr>
            <a:r>
              <a:rPr lang="en-US" sz="2800" b="1" dirty="0"/>
              <a:t>    AVAILIBILITY OF MANPOWER </a:t>
            </a:r>
          </a:p>
          <a:p>
            <a:pPr marL="0" lvl="0" indent="0">
              <a:buNone/>
            </a:pPr>
            <a:r>
              <a:rPr lang="en-US" sz="2800" b="1" dirty="0"/>
              <a:t>    ENVIRONMENTAL CLEARANCE.</a:t>
            </a:r>
          </a:p>
          <a:p>
            <a:pPr marL="0" lvl="0" indent="0">
              <a:buNone/>
            </a:pPr>
            <a:r>
              <a:rPr lang="en-US" sz="2800" b="1" dirty="0"/>
              <a:t>    OTHER RULES AND REGULATIONS.</a:t>
            </a:r>
          </a:p>
          <a:p>
            <a:pPr marL="0" lvl="0" indent="0">
              <a:buNone/>
            </a:pPr>
            <a:r>
              <a:rPr lang="en-US" sz="2800" b="1" dirty="0"/>
              <a:t>    CONSISTENCY WITH COMPANY PHILOSOPHY AND</a:t>
            </a:r>
          </a:p>
          <a:p>
            <a:pPr marL="0" lvl="0" indent="0">
              <a:buNone/>
            </a:pPr>
            <a:r>
              <a:rPr lang="en-US" sz="2800" b="1" dirty="0"/>
              <a:t>    CULTURE      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48192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INVESTMENT DECISIONS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  RETURN ON INVESTMENT</a:t>
            </a:r>
          </a:p>
          <a:p>
            <a:pPr marL="0" lvl="0" indent="0">
              <a:buNone/>
            </a:pPr>
            <a:r>
              <a:rPr lang="en-US" sz="2800" b="1" dirty="0"/>
              <a:t>  AVAILIBILITY OF CASH FLOW.</a:t>
            </a:r>
          </a:p>
          <a:p>
            <a:pPr marL="0" lvl="0" indent="0">
              <a:buNone/>
            </a:pPr>
            <a:r>
              <a:rPr lang="en-US" sz="2800" b="1" dirty="0"/>
              <a:t>  BANKS NBFCs  OR OTHER INSTITUTIONS.</a:t>
            </a:r>
          </a:p>
          <a:p>
            <a:pPr marL="0" lvl="0" indent="0">
              <a:buNone/>
            </a:pPr>
            <a:r>
              <a:rPr lang="en-US" sz="2800" b="1" dirty="0"/>
              <a:t>  BACKWARD AREA BENEFITS</a:t>
            </a:r>
          </a:p>
          <a:p>
            <a:pPr marL="0" lvl="0" indent="0">
              <a:buNone/>
            </a:pPr>
            <a:r>
              <a:rPr lang="en-US" sz="2800" b="1" dirty="0"/>
              <a:t>  TIME FRAME OF  MONEY REQUIREMENT.</a:t>
            </a:r>
          </a:p>
          <a:p>
            <a:pPr marL="0" lvl="0" indent="0">
              <a:buNone/>
            </a:pPr>
            <a:r>
              <a:rPr lang="en-US" sz="2800" b="1" dirty="0"/>
              <a:t>   OPPORTUNITY COST.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PRODUCT LIFE CYCLE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r>
              <a:rPr lang="en-US" sz="2800" b="1" dirty="0"/>
              <a:t> Estimation.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 </a:t>
            </a:r>
            <a:r>
              <a:rPr lang="en-US" sz="2800" b="1" dirty="0" err="1"/>
              <a:t>Competetion</a:t>
            </a:r>
            <a:r>
              <a:rPr lang="en-US" sz="2800" b="1" dirty="0"/>
              <a:t>.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 External factors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 Tie up with prospective customers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 RISK ANALYSIS 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62500" lnSpcReduction="20000"/>
          </a:bodyPr>
          <a:lstStyle/>
          <a:p>
            <a:pPr marL="457200" lvl="0" indent="-457200">
              <a:buNone/>
            </a:pPr>
            <a:endParaRPr lang="en-US" sz="2400" dirty="0"/>
          </a:p>
          <a:p>
            <a:pPr marL="457200" lvl="0" indent="-457200">
              <a:buNone/>
            </a:pPr>
            <a:r>
              <a:rPr lang="en-US" sz="2800" dirty="0"/>
              <a:t>   Evaluate And Quantify.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Do or Die category.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Environmental Impact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Sustainability.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Intangibles-  </a:t>
            </a:r>
            <a:r>
              <a:rPr lang="en-US" sz="2800" dirty="0" err="1"/>
              <a:t>Patents,Value</a:t>
            </a:r>
            <a:r>
              <a:rPr lang="en-US" sz="2800" dirty="0"/>
              <a:t> </a:t>
            </a:r>
            <a:r>
              <a:rPr lang="en-US" sz="2800" dirty="0" err="1"/>
              <a:t>addition,Market</a:t>
            </a:r>
            <a:r>
              <a:rPr lang="en-US" sz="2800" dirty="0"/>
              <a:t> Reputation.  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  Opportunity cost.</a:t>
            </a:r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endParaRPr lang="en-US" sz="2800" dirty="0"/>
          </a:p>
          <a:p>
            <a:pPr marL="457200" lvl="0" indent="-457200">
              <a:buNone/>
            </a:pPr>
            <a:r>
              <a:rPr lang="en-US" sz="2800" dirty="0"/>
              <a:t> </a:t>
            </a:r>
          </a:p>
          <a:p>
            <a:pPr marL="457200" lvl="0" indent="-457200">
              <a:buNone/>
            </a:pPr>
            <a:r>
              <a:rPr lang="en-US" sz="2800" dirty="0"/>
              <a:t> 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ACCOUNTING SYSTEMS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Tracking Expenditure</a:t>
            </a:r>
          </a:p>
          <a:p>
            <a:pPr marL="457200" lvl="0" indent="-457200">
              <a:buNone/>
            </a:pPr>
            <a:r>
              <a:rPr lang="en-US" sz="2800" b="1" dirty="0"/>
              <a:t>Single Entry </a:t>
            </a:r>
          </a:p>
          <a:p>
            <a:pPr marL="457200" lvl="0" indent="-457200">
              <a:buNone/>
            </a:pPr>
            <a:r>
              <a:rPr lang="en-US" sz="2800" b="1" dirty="0"/>
              <a:t>Double entry</a:t>
            </a:r>
          </a:p>
          <a:p>
            <a:pPr marL="457200" lvl="0" indent="-457200">
              <a:buNone/>
            </a:pPr>
            <a:r>
              <a:rPr lang="en-US" sz="2800" b="1" dirty="0"/>
              <a:t>Manual ( Redundant)</a:t>
            </a:r>
          </a:p>
          <a:p>
            <a:pPr marL="457200" lvl="0" indent="-457200">
              <a:buNone/>
            </a:pPr>
            <a:r>
              <a:rPr lang="en-US" sz="2800" b="1" dirty="0" err="1"/>
              <a:t>Computerised</a:t>
            </a:r>
            <a:r>
              <a:rPr lang="en-US" sz="2800" b="1" dirty="0"/>
              <a:t>.</a:t>
            </a:r>
          </a:p>
          <a:p>
            <a:pPr marL="457200" lvl="0" indent="-457200">
              <a:buNone/>
            </a:pPr>
            <a:r>
              <a:rPr lang="en-US" sz="2800" b="1" dirty="0"/>
              <a:t>Companywide Software. 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STEP COSTING DIAGRAM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Planning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0360" y="2514600"/>
            <a:ext cx="4977172" cy="332472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3FB08C8-C6AA-4C64-913C-CA13AC1E6D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8089" y="2432116"/>
            <a:ext cx="5100653" cy="3407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2585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8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8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8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CONTROLLING EXPENDITURE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Monitoring  Expenditure: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Bar chart of Expenditure and activity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Review of costs if required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Prepare statements for accounts &amp; Loan  disbursal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Control over runs beyond contingencies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18229290"/>
      </p:ext>
    </p:extLst>
  </p:cSld>
  <p:clrMapOvr>
    <a:masterClrMapping/>
  </p:clrMapOvr>
  <p:transition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QUALITY SYSTEMS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b="1" dirty="0"/>
          </a:p>
          <a:p>
            <a:pPr marL="457200" lvl="0" indent="-457200">
              <a:buNone/>
            </a:pPr>
            <a:r>
              <a:rPr lang="en-US" b="1" dirty="0"/>
              <a:t>    </a:t>
            </a:r>
          </a:p>
          <a:p>
            <a:pPr marL="457200" lvl="0" indent="-457200">
              <a:buNone/>
            </a:pPr>
            <a:r>
              <a:rPr lang="en-US" b="1"/>
              <a:t>     A </a:t>
            </a:r>
            <a:r>
              <a:rPr lang="en-US" b="1" dirty="0"/>
              <a:t>SYSTEM IS A GROUP OF INTERACTING OR INTERRELATED ELEMENTS THAT ACT ACCORDING TOA SET OF RULES TO FORM A </a:t>
            </a:r>
            <a:r>
              <a:rPr lang="en-US" b="1"/>
              <a:t>UNIFIED WHOLE.</a:t>
            </a:r>
            <a:endParaRPr lang="en-US" b="1" dirty="0"/>
          </a:p>
          <a:p>
            <a:pPr marL="457200" lvl="0" indent="-457200">
              <a:buNone/>
            </a:pPr>
            <a:endParaRPr lang="en-US" sz="18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QUALITY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r>
              <a:rPr lang="en-US" sz="2800" b="1" dirty="0"/>
              <a:t>QUALITY IS NOT THE RESPOSNSIBILITY OF A PARTICULAR SET OF PERSONNEL KNOWN AS QC OR QA</a:t>
            </a:r>
          </a:p>
          <a:p>
            <a:pPr marL="0" lvl="0" indent="0">
              <a:buNone/>
            </a:pPr>
            <a:r>
              <a:rPr lang="en-US" sz="2800" b="1" dirty="0"/>
              <a:t>BUT</a:t>
            </a:r>
          </a:p>
          <a:p>
            <a:pPr marL="0" lvl="0" indent="0">
              <a:buNone/>
            </a:pPr>
            <a:r>
              <a:rPr lang="en-US" sz="2800" b="1" dirty="0"/>
              <a:t>A RESULT OF THE ENTIRE ORGANISATION FOLLOWING THE STIPULATED SYSTEM.</a:t>
            </a:r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lv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IN" sz="2800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</a:rPr>
              <a:t>QUALITY SYSTEMS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lnSpcReduction="10000"/>
          </a:bodyPr>
          <a:lstStyle/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ANY QUALITY SYSTEM </a:t>
            </a:r>
          </a:p>
          <a:p>
            <a:pPr marL="457200" lvl="0" indent="-457200">
              <a:buNone/>
            </a:pPr>
            <a:r>
              <a:rPr lang="en-US" sz="2800" b="1" dirty="0"/>
              <a:t>  ISO 14000 OR SIMILAR REQUIRES.</a:t>
            </a:r>
          </a:p>
          <a:p>
            <a:pPr marL="457200" lvl="0" indent="-457200">
              <a:buNone/>
            </a:pPr>
            <a:endParaRPr lang="en-US" sz="2800" b="1" dirty="0"/>
          </a:p>
          <a:p>
            <a:pPr marL="457200" lvl="0" indent="-457200">
              <a:buNone/>
            </a:pPr>
            <a:r>
              <a:rPr lang="en-US" sz="2800" b="1" dirty="0"/>
              <a:t>DEFINATION OF INPUTS</a:t>
            </a:r>
          </a:p>
          <a:p>
            <a:pPr marL="457200" lvl="0" indent="-457200">
              <a:buNone/>
            </a:pPr>
            <a:r>
              <a:rPr lang="en-US" sz="2800" b="1" dirty="0"/>
              <a:t>PROCESS</a:t>
            </a:r>
          </a:p>
          <a:p>
            <a:pPr marL="457200" lvl="0" indent="-457200">
              <a:buNone/>
            </a:pPr>
            <a:r>
              <a:rPr lang="en-US" sz="2800" b="1" dirty="0"/>
              <a:t>OUTPUT</a:t>
            </a:r>
          </a:p>
          <a:p>
            <a:pPr marL="457200" lvl="0" indent="-457200">
              <a:buNone/>
            </a:pPr>
            <a:r>
              <a:rPr lang="en-US" sz="2800" b="1" dirty="0"/>
              <a:t>AND</a:t>
            </a:r>
          </a:p>
          <a:p>
            <a:pPr marL="457200" lvl="0" indent="-457200">
              <a:buNone/>
            </a:pPr>
            <a:r>
              <a:rPr lang="en-US" sz="2800" b="1" dirty="0"/>
              <a:t>FEEDBACK  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6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6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6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inputs: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 Process ,Log sheets, control tests. R.M Specification, operation </a:t>
            </a:r>
          </a:p>
          <a:p>
            <a:pPr marL="0" indent="0">
              <a:buNone/>
            </a:pPr>
            <a:r>
              <a:rPr lang="en-US" sz="2400" dirty="0"/>
              <a:t>        manual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 Equipment, Manpower skilled &amp; semiskilled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Targets- yearly, Monthly, Daily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4674136"/>
      </p:ext>
    </p:extLst>
  </p:cSld>
  <p:clrMapOvr>
    <a:masterClrMapping/>
  </p:clrMapOvr>
  <p:transition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process:</a:t>
            </a:r>
            <a:endParaRPr lang="en-US" sz="2000" b="1" dirty="0"/>
          </a:p>
          <a:p>
            <a:pPr marL="457200" lvl="0" indent="-457200">
              <a:buNone/>
            </a:pPr>
            <a:r>
              <a:rPr lang="en-US" sz="2400" dirty="0"/>
              <a:t>       Carry out process as per S.O.P</a:t>
            </a:r>
          </a:p>
          <a:p>
            <a:pPr marL="457200" lvl="0" indent="-457200">
              <a:buNone/>
            </a:pPr>
            <a:r>
              <a:rPr lang="en-US" sz="2400" dirty="0"/>
              <a:t>       Annual plan-Monthly plan-weekly plan-Daily Plan-Hourly Plan-  What needs to be done now?</a:t>
            </a:r>
          </a:p>
          <a:p>
            <a:pPr marL="457200" lvl="0" indent="-457200">
              <a:buNone/>
            </a:pPr>
            <a:r>
              <a:rPr lang="en-US" sz="2400" dirty="0"/>
              <a:t>       Define immediate action</a:t>
            </a:r>
          </a:p>
          <a:p>
            <a:pPr marL="457200" lvl="0" indent="-457200">
              <a:buNone/>
            </a:pPr>
            <a:r>
              <a:rPr lang="en-US" sz="2400" dirty="0"/>
              <a:t>       Device own monitoring systems and plan personal schedule</a:t>
            </a:r>
          </a:p>
          <a:p>
            <a:r>
              <a:rPr lang="en-US" sz="2800" u="sng" dirty="0"/>
              <a:t> Verify :</a:t>
            </a:r>
          </a:p>
          <a:p>
            <a:pPr marL="457200" lvl="0" indent="-457200">
              <a:buNone/>
            </a:pPr>
            <a:r>
              <a:rPr lang="en-US" sz="2000" dirty="0"/>
              <a:t>           Daily reports</a:t>
            </a:r>
          </a:p>
          <a:p>
            <a:pPr marL="457200" lvl="0" indent="-457200">
              <a:buNone/>
            </a:pPr>
            <a:r>
              <a:rPr lang="en-US" sz="2000" dirty="0"/>
              <a:t>           Log sheet</a:t>
            </a:r>
          </a:p>
          <a:p>
            <a:pPr marL="457200" lvl="0" indent="-457200">
              <a:buNone/>
            </a:pPr>
            <a:r>
              <a:rPr lang="en-US" sz="2000" dirty="0"/>
              <a:t>           Batch sheets</a:t>
            </a:r>
          </a:p>
          <a:p>
            <a:pPr marL="457200" lvl="0" indent="-457200">
              <a:buNone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Monitor Output:</a:t>
            </a:r>
            <a:endParaRPr lang="en-US" sz="2000" b="1" dirty="0"/>
          </a:p>
          <a:p>
            <a:r>
              <a:rPr lang="en-US" sz="2400" dirty="0"/>
              <a:t>Remember Monitor Not Control</a:t>
            </a:r>
          </a:p>
          <a:p>
            <a:r>
              <a:rPr lang="en-US" sz="2400" dirty="0"/>
              <a:t>Output Quality is a result of  me meticulous follow up of S.O.P</a:t>
            </a:r>
          </a:p>
          <a:p>
            <a:r>
              <a:rPr lang="en-US" sz="2400" dirty="0"/>
              <a:t>Prepare Statistical records</a:t>
            </a:r>
          </a:p>
          <a:p>
            <a:r>
              <a:rPr lang="en-US" sz="2400" dirty="0"/>
              <a:t>Use of  fuzzy logic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4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4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Safety :</a:t>
            </a:r>
            <a:endParaRPr lang="en-US" b="1" u="sng" dirty="0">
              <a:solidFill>
                <a:schemeClr val="bg1"/>
              </a:solidFill>
              <a:latin typeface="Calibri" pitchFamily="34" charset="0"/>
            </a:endParaRPr>
          </a:p>
          <a:p>
            <a:r>
              <a:rPr lang="en-US" sz="2400" dirty="0"/>
              <a:t>People – Beware of daredevils &amp; alarmists</a:t>
            </a:r>
          </a:p>
          <a:p>
            <a:r>
              <a:rPr lang="en-US" sz="2400" dirty="0"/>
              <a:t>Environment</a:t>
            </a:r>
          </a:p>
          <a:p>
            <a:r>
              <a:rPr lang="en-US" sz="2400" dirty="0"/>
              <a:t>Equipment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70079588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Reports:</a:t>
            </a:r>
            <a:endParaRPr lang="en-US" sz="2000" b="1" dirty="0"/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Daily, weekly, monthly, annual reports are written at Appropriate levels of hierarchy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Should contain financial numbers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Should contain safety record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Should contain reviews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3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Interactions:</a:t>
            </a:r>
          </a:p>
          <a:p>
            <a:pPr marL="457200" lvl="0" indent="-457200">
              <a:buNone/>
            </a:pPr>
            <a:r>
              <a:rPr lang="en-US" sz="2800" dirty="0"/>
              <a:t>1. Purchase : </a:t>
            </a:r>
          </a:p>
          <a:p>
            <a:pPr marL="457200" lvl="0" indent="-457200">
              <a:buNone/>
            </a:pPr>
            <a:r>
              <a:rPr lang="en-US" sz="2400" dirty="0"/>
              <a:t>      To decide stock levels, Decide Availability &amp; shortage and fluctuation in prices</a:t>
            </a:r>
            <a:endParaRPr lang="en-US" sz="2400" b="1" dirty="0"/>
          </a:p>
          <a:p>
            <a:pPr marL="457200" lvl="0" indent="-457200">
              <a:buNone/>
            </a:pPr>
            <a:r>
              <a:rPr lang="en-US" sz="2800" dirty="0"/>
              <a:t>2. Maintenance :</a:t>
            </a:r>
          </a:p>
          <a:p>
            <a:pPr marL="457200" lvl="0" indent="-457200">
              <a:buNone/>
            </a:pPr>
            <a:r>
              <a:rPr lang="en-US" sz="2400" dirty="0"/>
              <a:t>      To decide availability of manpower &amp; equipment</a:t>
            </a:r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4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7858190"/>
      </p:ext>
    </p:extLst>
  </p:cSld>
  <p:clrMapOvr>
    <a:masterClrMapping/>
  </p:clrMapOvr>
  <p:transition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Effluents 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Segregation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Chemical treatment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Biological treatment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Post treatment</a:t>
            </a:r>
            <a:endParaRPr lang="en-US" sz="2400" b="1" dirty="0"/>
          </a:p>
          <a:p>
            <a:pPr marL="457200" lvl="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1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2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Control of Costs: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Raw Material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Utilities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400" dirty="0"/>
              <a:t>Maintenance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Comparison and preparing and revising norms </a:t>
            </a:r>
          </a:p>
          <a:p>
            <a:pPr marL="457200" lvl="0" indent="-457200">
              <a:buFont typeface="+mj-lt"/>
              <a:buAutoNum type="arabicPeriod"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993427"/>
      </p:ext>
    </p:extLst>
  </p:cSld>
  <p:clrMapOvr>
    <a:masterClrMapping/>
  </p:clrMapOvr>
  <p:transition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Statutory Requirements: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Excise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Sales tax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Director industrial health &amp; Safety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Effluent control board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Labor Departments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1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1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Working capital Requirement: 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400" dirty="0"/>
              <a:t>Define &amp; Control</a:t>
            </a:r>
          </a:p>
          <a:p>
            <a:pPr marL="0" lvl="0" indent="0">
              <a:buNone/>
            </a:pPr>
            <a:r>
              <a:rPr lang="en-US" sz="2400" dirty="0"/>
              <a:t>	Finished Goods Stocks</a:t>
            </a:r>
          </a:p>
          <a:p>
            <a:pPr marL="0" lvl="0" indent="0">
              <a:buNone/>
            </a:pPr>
            <a:r>
              <a:rPr lang="en-US" sz="2400" dirty="0"/>
              <a:t>	Raw material stocks</a:t>
            </a:r>
          </a:p>
          <a:p>
            <a:pPr marL="0" lvl="0" indent="0">
              <a:buNone/>
            </a:pPr>
            <a:r>
              <a:rPr lang="en-US" sz="2400" dirty="0"/>
              <a:t>	Goods in process &amp; thereby define working capital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2386874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Improvement in process: </a:t>
            </a:r>
            <a:endParaRPr lang="en-US" sz="2000" b="1" dirty="0"/>
          </a:p>
          <a:p>
            <a:pPr marL="0" lvl="0" indent="0">
              <a:buNone/>
            </a:pPr>
            <a:r>
              <a:rPr lang="en-US" sz="2400" dirty="0"/>
              <a:t>	Adequate data</a:t>
            </a:r>
          </a:p>
          <a:p>
            <a:pPr marL="0" lvl="0" indent="0">
              <a:buNone/>
            </a:pPr>
            <a:r>
              <a:rPr lang="en-US" sz="2400" dirty="0"/>
              <a:t>	Statistical analysis</a:t>
            </a:r>
          </a:p>
          <a:p>
            <a:pPr marL="0" lvl="0" indent="0">
              <a:buNone/>
            </a:pPr>
            <a:r>
              <a:rPr lang="en-US" sz="2400" dirty="0"/>
              <a:t>	Interaction with design ,R&amp;D</a:t>
            </a:r>
          </a:p>
          <a:p>
            <a:pPr marL="0" lvl="0" indent="0">
              <a:buNone/>
            </a:pPr>
            <a:r>
              <a:rPr lang="en-US" sz="2400" dirty="0"/>
              <a:t>	Define changes &amp; authorization</a:t>
            </a:r>
            <a:endParaRPr lang="en-US" sz="24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20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20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20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OPERATIONS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ISO Applicability: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Inputs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Process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Outputs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Importance can not be understated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8040298"/>
      </p:ext>
    </p:extLst>
  </p:cSld>
  <p:clrMapOvr>
    <a:masterClrMapping/>
  </p:clrMapOvr>
  <p:transition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Marketing: </a:t>
            </a:r>
          </a:p>
          <a:p>
            <a:endParaRPr lang="en-US" sz="2000" b="1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Some misconception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Marketing and Sales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Customer base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8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8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9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Plans for Marketing: 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Immediate ( </a:t>
            </a:r>
            <a:r>
              <a:rPr lang="en-US" sz="2400" dirty="0" err="1"/>
              <a:t>Upto</a:t>
            </a:r>
            <a:r>
              <a:rPr lang="en-US" sz="2400" dirty="0"/>
              <a:t> 3 Months)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Short term (1 year)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Long term ( 3-5 years)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Plan should include tonnages as well as revenges &amp; budgets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92177"/>
      </p:ext>
    </p:extLst>
  </p:cSld>
  <p:clrMapOvr>
    <a:masterClrMapping/>
  </p:clrMapOvr>
  <p:transition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Information: </a:t>
            </a:r>
            <a:endParaRPr lang="en-US" sz="2000" b="1" dirty="0"/>
          </a:p>
          <a:p>
            <a:pPr marL="457200" lvl="0" indent="-457200">
              <a:buNone/>
            </a:pPr>
            <a:r>
              <a:rPr lang="en-US" sz="2800" dirty="0"/>
              <a:t>Products &amp; Services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Uses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Specifications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Availability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Packaging</a:t>
            </a:r>
          </a:p>
          <a:p>
            <a:pPr marL="457200" lvl="0" indent="-457200">
              <a:buAutoNum type="arabicPeriod"/>
            </a:pPr>
            <a:r>
              <a:rPr lang="en-US" sz="2400" dirty="0"/>
              <a:t>Regulatory issues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74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7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Pricing: </a:t>
            </a:r>
          </a:p>
          <a:p>
            <a:pPr marL="457200" lvl="0" indent="-457200">
              <a:buNone/>
            </a:pPr>
            <a:r>
              <a:rPr lang="en-US" sz="2800" dirty="0"/>
              <a:t>Based on</a:t>
            </a:r>
          </a:p>
          <a:p>
            <a:pPr marL="0" lvl="0" indent="0">
              <a:buNone/>
            </a:pPr>
            <a:r>
              <a:rPr lang="en-US" sz="2400" dirty="0"/>
              <a:t>	Opportunity</a:t>
            </a:r>
          </a:p>
          <a:p>
            <a:pPr marL="0" lvl="0" indent="0">
              <a:buNone/>
            </a:pPr>
            <a:r>
              <a:rPr lang="en-US" sz="2400" dirty="0"/>
              <a:t>	Cost Based</a:t>
            </a:r>
          </a:p>
          <a:p>
            <a:pPr marL="0" lvl="0" indent="0">
              <a:buNone/>
            </a:pPr>
            <a:r>
              <a:rPr lang="en-US" sz="2400" dirty="0"/>
              <a:t>	Distress sale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2280440"/>
      </p:ext>
    </p:extLst>
  </p:cSld>
  <p:clrMapOvr>
    <a:masterClrMapping/>
  </p:clrMapOvr>
  <p:transition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lnSpcReduction="10000"/>
          </a:bodyPr>
          <a:lstStyle/>
          <a:p>
            <a:r>
              <a:rPr lang="en-US" b="1" u="sng" dirty="0"/>
              <a:t>Customers &amp; Competitor</a:t>
            </a:r>
            <a:endParaRPr lang="en-US" sz="2000" b="1" dirty="0"/>
          </a:p>
          <a:p>
            <a:pPr marL="457200" lvl="0" indent="-457200">
              <a:buAutoNum type="arabicPeriod"/>
            </a:pPr>
            <a:r>
              <a:rPr lang="en-US" sz="2800" dirty="0"/>
              <a:t>Know your customers</a:t>
            </a:r>
          </a:p>
          <a:p>
            <a:pPr marL="457200" lvl="0" indent="-457200">
              <a:buNone/>
            </a:pPr>
            <a:r>
              <a:rPr lang="en-US" sz="2000" dirty="0"/>
              <a:t>  		</a:t>
            </a:r>
            <a:r>
              <a:rPr lang="en-US" sz="2400" dirty="0"/>
              <a:t>Policies</a:t>
            </a:r>
          </a:p>
          <a:p>
            <a:pPr marL="457200" lvl="0" indent="-457200">
              <a:buNone/>
            </a:pPr>
            <a:r>
              <a:rPr lang="en-US" sz="2400" dirty="0"/>
              <a:t>		Difficulties</a:t>
            </a:r>
          </a:p>
          <a:p>
            <a:pPr marL="457200" lvl="0" indent="-457200">
              <a:buNone/>
            </a:pPr>
            <a:r>
              <a:rPr lang="en-US" sz="2400" dirty="0"/>
              <a:t>		Requirements</a:t>
            </a:r>
          </a:p>
          <a:p>
            <a:pPr marL="457200" lvl="0" indent="-457200">
              <a:buAutoNum type="arabicPeriod" startAt="2"/>
            </a:pPr>
            <a:r>
              <a:rPr lang="en-US" sz="2800" dirty="0"/>
              <a:t>Competitor</a:t>
            </a:r>
          </a:p>
          <a:p>
            <a:pPr marL="457200" lvl="0" indent="-457200">
              <a:buNone/>
            </a:pPr>
            <a:r>
              <a:rPr lang="en-US" sz="2000" dirty="0"/>
              <a:t>		</a:t>
            </a:r>
            <a:r>
              <a:rPr lang="en-US" sz="2400" dirty="0"/>
              <a:t>Products</a:t>
            </a:r>
          </a:p>
          <a:p>
            <a:pPr marL="457200" lvl="0" indent="-457200">
              <a:buNone/>
            </a:pPr>
            <a:r>
              <a:rPr lang="en-US" sz="2400" dirty="0"/>
              <a:t>		Pricing</a:t>
            </a:r>
          </a:p>
          <a:p>
            <a:pPr marL="457200" lvl="0" indent="-457200">
              <a:buNone/>
            </a:pPr>
            <a:r>
              <a:rPr lang="en-US" sz="2400" dirty="0"/>
              <a:t>		Strength &amp; weakness</a:t>
            </a:r>
          </a:p>
          <a:p>
            <a:pPr marL="457200" lvl="0" indent="-457200">
              <a:buNone/>
            </a:pPr>
            <a:r>
              <a:rPr lang="en-US" sz="2400" dirty="0"/>
              <a:t>		Practices.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Interactions:</a:t>
            </a:r>
            <a:endParaRPr lang="en-US" sz="2000" b="1" dirty="0"/>
          </a:p>
          <a:p>
            <a:pPr marL="0" lvl="0" indent="0">
              <a:buNone/>
            </a:pPr>
            <a:r>
              <a:rPr lang="en-US" sz="2400" dirty="0"/>
              <a:t>	R &amp; D for new products</a:t>
            </a:r>
          </a:p>
          <a:p>
            <a:pPr marL="0" lvl="0" indent="0">
              <a:buNone/>
            </a:pPr>
            <a:r>
              <a:rPr lang="en-US" sz="2400" dirty="0"/>
              <a:t>	Operations for plans/stocks</a:t>
            </a:r>
          </a:p>
          <a:p>
            <a:pPr marL="0" lvl="0" indent="0">
              <a:buNone/>
            </a:pPr>
            <a:r>
              <a:rPr lang="en-US" sz="2400" dirty="0"/>
              <a:t>	Sales for logistics</a:t>
            </a:r>
            <a:endParaRPr lang="en-US" sz="24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/>
              <a:t>MARKETING</a:t>
            </a:r>
            <a:endParaRPr lang="en-US" sz="28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Information Gathering:</a:t>
            </a:r>
          </a:p>
          <a:p>
            <a:pPr marL="0" lvl="0" indent="0">
              <a:buNone/>
            </a:pPr>
            <a:r>
              <a:rPr lang="en-US" sz="2400" dirty="0"/>
              <a:t>	Library best source</a:t>
            </a:r>
          </a:p>
          <a:p>
            <a:pPr marL="0" lvl="0" indent="0">
              <a:buNone/>
            </a:pPr>
            <a:r>
              <a:rPr lang="en-US" sz="2400" dirty="0"/>
              <a:t>	Trade fares</a:t>
            </a:r>
          </a:p>
          <a:p>
            <a:pPr marL="0" lvl="0" indent="0">
              <a:buNone/>
            </a:pPr>
            <a:r>
              <a:rPr lang="en-US" sz="2400" dirty="0"/>
              <a:t>	Internal meetings</a:t>
            </a:r>
          </a:p>
          <a:p>
            <a:pPr marL="0" lvl="0" indent="0">
              <a:buNone/>
            </a:pPr>
            <a:r>
              <a:rPr lang="en-US" sz="2400" dirty="0"/>
              <a:t>	Academic institutions</a:t>
            </a:r>
          </a:p>
          <a:p>
            <a:pPr marL="0" lvl="0" indent="0">
              <a:buNone/>
            </a:pPr>
            <a:r>
              <a:rPr lang="en-US" sz="2400" dirty="0"/>
              <a:t>	Develop own networking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09506014"/>
      </p:ext>
    </p:extLst>
  </p:cSld>
  <p:clrMapOvr>
    <a:masterClrMapping/>
  </p:clrMapOvr>
  <p:transition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r>
              <a:rPr lang="en-US" sz="2800" b="1" dirty="0">
                <a:solidFill>
                  <a:schemeClr val="bg1"/>
                </a:solidFill>
                <a:latin typeface="Calibri" pitchFamily="34" charset="0"/>
              </a:rPr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 Remember</a:t>
            </a:r>
            <a:endParaRPr lang="en-US" sz="2000" b="1" dirty="0"/>
          </a:p>
          <a:p>
            <a:pPr marL="457200" lvl="0" indent="-457200">
              <a:buNone/>
            </a:pPr>
            <a:r>
              <a:rPr lang="en-US" sz="2800" dirty="0"/>
              <a:t>You are </a:t>
            </a:r>
          </a:p>
          <a:p>
            <a:pPr marL="0" lvl="0" indent="0">
              <a:buNone/>
            </a:pPr>
            <a:r>
              <a:rPr lang="en-US" sz="2400" dirty="0"/>
              <a:t>	Face of the company</a:t>
            </a:r>
          </a:p>
          <a:p>
            <a:pPr marL="0" lvl="0" indent="0">
              <a:buNone/>
            </a:pPr>
            <a:r>
              <a:rPr lang="en-US" sz="2400" dirty="0"/>
              <a:t>	Control your Budget &amp; overheads</a:t>
            </a:r>
          </a:p>
          <a:p>
            <a:pPr marL="0" lvl="0" indent="0">
              <a:buNone/>
            </a:pPr>
            <a:r>
              <a:rPr lang="en-US" sz="2400" dirty="0"/>
              <a:t>	Do not show off</a:t>
            </a:r>
          </a:p>
          <a:p>
            <a:pPr marL="0" lvl="0" indent="0">
              <a:buNone/>
            </a:pPr>
            <a:r>
              <a:rPr lang="en-US" sz="2400" dirty="0"/>
              <a:t>	Do not underwrite other Depts./personal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MARKETING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Inputs :</a:t>
            </a:r>
          </a:p>
          <a:p>
            <a:pPr marL="0" indent="0">
              <a:buNone/>
            </a:pPr>
            <a:r>
              <a:rPr lang="en-US" sz="2400" dirty="0"/>
              <a:t>	Production plan</a:t>
            </a:r>
          </a:p>
          <a:p>
            <a:pPr marL="0" indent="0">
              <a:buNone/>
            </a:pPr>
            <a:r>
              <a:rPr lang="en-US" sz="2400" dirty="0"/>
              <a:t>	Product information / produces</a:t>
            </a:r>
          </a:p>
          <a:p>
            <a:pPr marL="0" indent="0">
              <a:buNone/>
            </a:pPr>
            <a:r>
              <a:rPr lang="en-US" sz="2400" dirty="0"/>
              <a:t>	Pricing Guidelines</a:t>
            </a:r>
          </a:p>
          <a:p>
            <a:pPr marL="0" indent="0">
              <a:buNone/>
            </a:pPr>
            <a:r>
              <a:rPr lang="en-US" sz="2400" dirty="0"/>
              <a:t>	Customer details</a:t>
            </a:r>
            <a:endParaRPr lang="en-US" sz="2000" b="1" dirty="0"/>
          </a:p>
          <a:p>
            <a:r>
              <a:rPr lang="en-US" b="1" u="sng" dirty="0"/>
              <a:t>Outputs:</a:t>
            </a:r>
          </a:p>
          <a:p>
            <a:pPr marL="0" lvl="0" indent="0">
              <a:buNone/>
            </a:pPr>
            <a:r>
              <a:rPr lang="en-US" sz="2400" dirty="0"/>
              <a:t>	Marketing plan</a:t>
            </a:r>
          </a:p>
          <a:p>
            <a:pPr marL="0" lvl="0" indent="0">
              <a:buNone/>
            </a:pPr>
            <a:r>
              <a:rPr lang="en-US" sz="2400" dirty="0"/>
              <a:t>	Review addition of customers</a:t>
            </a:r>
          </a:p>
          <a:p>
            <a:pPr marL="0" lvl="0" indent="0">
              <a:buNone/>
            </a:pPr>
            <a:r>
              <a:rPr lang="en-US" sz="2400" dirty="0"/>
              <a:t>	Increase in sales , revenue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5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53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53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CAREER CHOICE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r>
              <a:rPr lang="en-US" sz="2400" dirty="0"/>
              <a:t>It is normal to be uncertain</a:t>
            </a:r>
          </a:p>
          <a:p>
            <a:r>
              <a:rPr lang="en-US" sz="2400" dirty="0"/>
              <a:t>Do not follow the crowd</a:t>
            </a:r>
          </a:p>
          <a:p>
            <a:r>
              <a:rPr lang="en-US" sz="2400" dirty="0"/>
              <a:t>Is the interest in lighter studies genuine</a:t>
            </a:r>
          </a:p>
          <a:p>
            <a:r>
              <a:rPr lang="en-US" sz="2400" dirty="0"/>
              <a:t>It is never too late to change</a:t>
            </a:r>
          </a:p>
          <a:p>
            <a:r>
              <a:rPr lang="en-US" sz="2400" dirty="0"/>
              <a:t>Higher studies ? In which held, Job? In which field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58079406"/>
      </p:ext>
    </p:extLst>
  </p:cSld>
  <p:clrMapOvr>
    <a:masterClrMapping/>
  </p:clrMapOvr>
  <p:transition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6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6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WRITING AN SOP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r>
              <a:rPr lang="en-US" sz="2400" dirty="0"/>
              <a:t>Be Honest &amp; Realistic</a:t>
            </a:r>
          </a:p>
          <a:p>
            <a:r>
              <a:rPr lang="en-US" sz="2400" dirty="0"/>
              <a:t>State what you feel not What you should feel</a:t>
            </a:r>
          </a:p>
          <a:p>
            <a:r>
              <a:rPr lang="en-US" sz="2400" dirty="0"/>
              <a:t>A little uncertainty is not bad</a:t>
            </a:r>
          </a:p>
          <a:p>
            <a:r>
              <a:rPr lang="en-US" sz="2400" dirty="0"/>
              <a:t>State what you intend to achieve through higher education </a:t>
            </a:r>
          </a:p>
          <a:p>
            <a:r>
              <a:rPr lang="en-US" sz="2400" dirty="0"/>
              <a:t>Use understand language and informal narrative </a:t>
            </a: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75429668"/>
      </p:ext>
    </p:extLst>
  </p:cSld>
  <p:clrMapOvr>
    <a:masterClrMapping/>
  </p:clrMapOvr>
  <p:transition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5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57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Appearing for an interview : </a:t>
            </a:r>
            <a:endParaRPr lang="en-US" sz="2000" b="1" u="sng" dirty="0"/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Get information about company &amp; its product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For R&amp; D be ready with some thoughts for the organization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Define what you think you will be required to do &amp; contribute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Do not ask too many queries about locations and transfers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Do not be worried about slightly lower salary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/>
              <a:t>Ask questions</a:t>
            </a:r>
          </a:p>
          <a:p>
            <a:pPr marL="0" indent="0">
              <a:buNone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3500049"/>
      </p:ext>
    </p:extLst>
  </p:cSld>
  <p:clrMapOvr>
    <a:masterClrMapping/>
  </p:clrMapOvr>
  <p:transition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1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1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b="1" u="sng" dirty="0"/>
              <a:t>Some Soft skills:</a:t>
            </a:r>
          </a:p>
          <a:p>
            <a:pPr marL="457200" indent="-457200">
              <a:buAutoNum type="arabicPeriod"/>
            </a:pPr>
            <a:r>
              <a:rPr lang="en-US" sz="2800" dirty="0"/>
              <a:t>Motivation- Maslow's theory</a:t>
            </a:r>
          </a:p>
          <a:p>
            <a:pPr marL="457200" indent="-457200">
              <a:buAutoNum type="arabicPeriod"/>
            </a:pPr>
            <a:r>
              <a:rPr lang="en-US" sz="2800" dirty="0"/>
              <a:t>Communication- Johari window</a:t>
            </a:r>
          </a:p>
          <a:p>
            <a:pPr marL="457200" indent="-457200">
              <a:buAutoNum type="arabicPeriod"/>
            </a:pPr>
            <a:r>
              <a:rPr lang="en-US" sz="2800" dirty="0"/>
              <a:t>Leadership –styles</a:t>
            </a:r>
          </a:p>
          <a:p>
            <a:pPr marL="457200" indent="-457200">
              <a:buAutoNum type="arabicPeriod"/>
            </a:pPr>
            <a:r>
              <a:rPr lang="en-US" sz="2800" dirty="0"/>
              <a:t>Getting along with people –How ? ,  Why?</a:t>
            </a:r>
          </a:p>
          <a:p>
            <a:pPr marL="457200" indent="-457200">
              <a:buAutoNum type="arabicPeriod"/>
            </a:pPr>
            <a:r>
              <a:rPr lang="en-US" sz="2800" dirty="0"/>
              <a:t>Recognizing Oneself</a:t>
            </a:r>
          </a:p>
          <a:p>
            <a:pPr marL="0" indent="0">
              <a:buNone/>
            </a:pPr>
            <a:endParaRPr lang="en-US" sz="2000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94066819"/>
      </p:ext>
    </p:extLst>
  </p:cSld>
  <p:clrMapOvr>
    <a:masterClrMapping/>
  </p:clrMapOvr>
  <p:transition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5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5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6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TOXICITY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r>
              <a:rPr lang="en-US" sz="2400" dirty="0"/>
              <a:t>Toxicity of chemicals</a:t>
            </a:r>
          </a:p>
          <a:p>
            <a:r>
              <a:rPr lang="en-US" sz="2400" dirty="0"/>
              <a:t>Concept of selective toxicity</a:t>
            </a:r>
          </a:p>
          <a:p>
            <a:r>
              <a:rPr lang="en-US" sz="3000" u="sng" dirty="0"/>
              <a:t>Types of Toxicity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Oral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Inhalation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Dermal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Neurotoxicity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Carcinogens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Teratogenicity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1864457"/>
      </p:ext>
    </p:extLst>
  </p:cSld>
  <p:clrMapOvr>
    <a:masterClrMapping/>
  </p:clrMapOvr>
  <p:transition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10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105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106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TOXICITY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indent="-457200">
              <a:buNone/>
            </a:pPr>
            <a:r>
              <a:rPr lang="en-US" b="1" u="sng" dirty="0"/>
              <a:t>TOXICITY : </a:t>
            </a:r>
          </a:p>
          <a:p>
            <a:r>
              <a:rPr lang="en-US" sz="2400" dirty="0"/>
              <a:t>Acute &amp; Subacute toxicity</a:t>
            </a:r>
          </a:p>
          <a:p>
            <a:r>
              <a:rPr lang="en-US" sz="2400" dirty="0"/>
              <a:t>Impact of the above in working life</a:t>
            </a:r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8675722"/>
      </p:ext>
    </p:extLst>
  </p:cSld>
  <p:clrMapOvr>
    <a:masterClrMapping/>
  </p:clrMapOvr>
  <p:transition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3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3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 dirty="0"/>
              <a:t>TOXICITY</a:t>
            </a:r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 fontScale="92500" lnSpcReduction="10000"/>
          </a:bodyPr>
          <a:lstStyle/>
          <a:p>
            <a:r>
              <a:rPr lang="en-US" b="1" u="sng" dirty="0"/>
              <a:t>Toxicity  Of Chemicals: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Relation between </a:t>
            </a:r>
          </a:p>
          <a:p>
            <a:pPr marL="0" indent="0">
              <a:buNone/>
            </a:pPr>
            <a:r>
              <a:rPr lang="en-US" sz="2000" dirty="0"/>
              <a:t>	Toxicity &amp; physical properties</a:t>
            </a:r>
          </a:p>
          <a:p>
            <a:pPr marL="0" indent="0">
              <a:buNone/>
            </a:pPr>
            <a:r>
              <a:rPr lang="en-US" sz="2000" dirty="0"/>
              <a:t>	Toxicity &amp; </a:t>
            </a:r>
            <a:r>
              <a:rPr lang="en-US" sz="2000" dirty="0" err="1"/>
              <a:t>Corrosivity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	General Antidotes</a:t>
            </a:r>
          </a:p>
          <a:p>
            <a:pPr marL="0" indent="0">
              <a:buNone/>
            </a:pPr>
            <a:r>
              <a:rPr lang="en-US" sz="2000" dirty="0"/>
              <a:t>	Flammability flash point &amp; its impact on chemical process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Residues and Persistence –Why both are important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Metabolism in human body’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Aquatic toxicity and toxicity to honey bees</a:t>
            </a:r>
          </a:p>
          <a:p>
            <a:pPr lvl="0">
              <a:buFont typeface="Wingdings" panose="05000000000000000000" pitchFamily="2" charset="2"/>
              <a:buChar char="Ø"/>
            </a:pPr>
            <a:r>
              <a:rPr lang="en-US" sz="2000" dirty="0"/>
              <a:t>Long term precautions in chemical industry</a:t>
            </a:r>
          </a:p>
          <a:p>
            <a:pPr marL="0" lvl="0" indent="0">
              <a:buNone/>
            </a:pPr>
            <a:r>
              <a:rPr lang="en-US" sz="2000" dirty="0"/>
              <a:t>	Do not be afraid &amp;Do not be a daredevil</a:t>
            </a:r>
          </a:p>
          <a:p>
            <a:pPr marL="0" indent="0">
              <a:buNone/>
            </a:pPr>
            <a:r>
              <a:rPr lang="en-US" sz="2000" dirty="0"/>
              <a:t>	Trust your instinct</a:t>
            </a:r>
          </a:p>
          <a:p>
            <a:pPr marL="0" indent="0">
              <a:buNone/>
            </a:pPr>
            <a:r>
              <a:rPr lang="en-US" sz="2000" dirty="0"/>
              <a:t>	Take simple precautions</a:t>
            </a:r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4173805"/>
      </p:ext>
    </p:extLst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2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21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r>
              <a:rPr lang="en-US" sz="2800" b="1"/>
              <a:t>TOXICITY</a:t>
            </a: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Methods of Disposal of toxic chemicals: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Transportation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Storage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US" sz="2000" dirty="0"/>
              <a:t>Handling</a:t>
            </a:r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5446737"/>
      </p:ext>
    </p:extLst>
  </p:cSld>
  <p:clrMapOvr>
    <a:masterClrMapping/>
  </p:clrMapOvr>
  <p:transition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0" y="0"/>
          <a:ext cx="914400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3" imgW="2488889" imgH="634697" progId="">
                  <p:embed/>
                </p:oleObj>
              </mc:Choice>
              <mc:Fallback>
                <p:oleObj name="Image" r:id="rId3" imgW="2488889" imgH="634697" progId="">
                  <p:embed/>
                  <p:pic>
                    <p:nvPicPr>
                      <p:cNvPr id="0" name="Picture 79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0"/>
                        <a:ext cx="914400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0" y="6426200"/>
            <a:ext cx="2438400" cy="43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/>
          <a:lstStyle/>
          <a:p>
            <a:pPr algn="ctr"/>
            <a:r>
              <a:rPr lang="en-US" sz="1400" b="1" dirty="0">
                <a:solidFill>
                  <a:schemeClr val="tx2"/>
                </a:solidFill>
                <a:latin typeface="Calibri" pitchFamily="34" charset="0"/>
              </a:rPr>
              <a:t>© ULTRA CONSERVE PVT. LTD.</a:t>
            </a:r>
          </a:p>
        </p:txBody>
      </p:sp>
      <p:graphicFrame>
        <p:nvGraphicFramePr>
          <p:cNvPr id="1027" name="Object 5"/>
          <p:cNvGraphicFramePr>
            <a:graphicFrameLocks/>
          </p:cNvGraphicFramePr>
          <p:nvPr/>
        </p:nvGraphicFramePr>
        <p:xfrm>
          <a:off x="0" y="6354763"/>
          <a:ext cx="9144000" cy="46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5" imgW="698413" imgH="3009524" progId="">
                  <p:embed/>
                </p:oleObj>
              </mc:Choice>
              <mc:Fallback>
                <p:oleObj name="Image" r:id="rId5" imgW="698413" imgH="3009524" progId="">
                  <p:embed/>
                  <p:pic>
                    <p:nvPicPr>
                      <p:cNvPr id="0" name="Picture 798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354763"/>
                        <a:ext cx="9144000" cy="460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8" name="Object 6"/>
          <p:cNvGraphicFramePr>
            <a:graphicFrameLocks/>
          </p:cNvGraphicFramePr>
          <p:nvPr/>
        </p:nvGraphicFramePr>
        <p:xfrm>
          <a:off x="0" y="1219200"/>
          <a:ext cx="9144000" cy="46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Image" r:id="rId7" imgW="698413" imgH="3009524" progId="">
                  <p:embed/>
                </p:oleObj>
              </mc:Choice>
              <mc:Fallback>
                <p:oleObj name="Image" r:id="rId7" imgW="698413" imgH="3009524" progId="">
                  <p:embed/>
                  <p:pic>
                    <p:nvPicPr>
                      <p:cNvPr id="0" name="Picture 799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1219200"/>
                        <a:ext cx="9144000" cy="46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1927" name="AutoShape 7"/>
          <p:cNvSpPr>
            <a:spLocks noChangeArrowheads="1"/>
          </p:cNvSpPr>
          <p:nvPr/>
        </p:nvSpPr>
        <p:spPr bwMode="auto">
          <a:xfrm>
            <a:off x="-38100" y="685800"/>
            <a:ext cx="4826124" cy="569913"/>
          </a:xfrm>
          <a:prstGeom prst="roundRect">
            <a:avLst>
              <a:gd name="adj" fmla="val 9375"/>
            </a:avLst>
          </a:prstGeom>
          <a:solidFill>
            <a:srgbClr val="89B719"/>
          </a:solidFill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pPr marL="457200" lvl="0" indent="-457200">
              <a:buNone/>
            </a:pPr>
            <a:endParaRPr lang="en-US" sz="2800" b="1" dirty="0"/>
          </a:p>
        </p:txBody>
      </p:sp>
      <p:sp>
        <p:nvSpPr>
          <p:cNvPr id="1034" name="AutoShape 12"/>
          <p:cNvSpPr>
            <a:spLocks noChangeArrowheads="1"/>
          </p:cNvSpPr>
          <p:nvPr/>
        </p:nvSpPr>
        <p:spPr bwMode="auto">
          <a:xfrm>
            <a:off x="25400" y="88900"/>
            <a:ext cx="1079500" cy="215900"/>
          </a:xfrm>
          <a:prstGeom prst="roundRect">
            <a:avLst>
              <a:gd name="adj" fmla="val 9375"/>
            </a:avLst>
          </a:prstGeom>
          <a:noFill/>
          <a:ln w="9525">
            <a:noFill/>
            <a:round/>
            <a:headEnd/>
            <a:tailEnd/>
          </a:ln>
        </p:spPr>
        <p:txBody>
          <a:bodyPr wrap="none" anchor="ctr"/>
          <a:lstStyle/>
          <a:p>
            <a:endParaRPr lang="en-US" sz="1200" b="1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25400" y="1600200"/>
            <a:ext cx="9042400" cy="4525963"/>
          </a:xfrm>
        </p:spPr>
        <p:txBody>
          <a:bodyPr>
            <a:normAutofit/>
          </a:bodyPr>
          <a:lstStyle/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AutoNum type="arabicPeriod"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457200" lvl="0" indent="-45720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lvl="0" indent="0">
              <a:buNone/>
            </a:pPr>
            <a:endParaRPr lang="en-US" sz="2000" b="1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1" name="Picture 10" descr="C:\Users\Admin\Downloads\Alumni Logo New.tif"/>
          <p:cNvPicPr/>
          <p:nvPr/>
        </p:nvPicPr>
        <p:blipFill>
          <a:blip r:embed="rId8">
            <a:lum bright="3000" contrast="27000"/>
          </a:blip>
          <a:stretch>
            <a:fillRect/>
          </a:stretch>
        </p:blipFill>
        <p:spPr bwMode="auto">
          <a:xfrm>
            <a:off x="8229600" y="457200"/>
            <a:ext cx="694425" cy="694808"/>
          </a:xfrm>
          <a:prstGeom prst="rect">
            <a:avLst/>
          </a:prstGeom>
          <a:solidFill>
            <a:srgbClr val="FFFF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Rectangle 1"/>
          <p:cNvSpPr/>
          <p:nvPr/>
        </p:nvSpPr>
        <p:spPr>
          <a:xfrm>
            <a:off x="609600" y="2590800"/>
            <a:ext cx="7874305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6600" b="1" dirty="0"/>
              <a:t>!! THANK YOU !!</a:t>
            </a:r>
            <a:endParaRPr lang="en-US" sz="6600" dirty="0"/>
          </a:p>
        </p:txBody>
      </p:sp>
    </p:spTree>
    <p:extLst>
      <p:ext uri="{BB962C8B-B14F-4D97-AF65-F5344CB8AC3E}">
        <p14:creationId xmlns:p14="http://schemas.microsoft.com/office/powerpoint/2010/main" val="3787893929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3078</TotalTime>
  <Words>2228</Words>
  <Application>Microsoft Office PowerPoint</Application>
  <PresentationFormat>On-screen Show (4:3)</PresentationFormat>
  <Paragraphs>2338</Paragraphs>
  <Slides>70</Slides>
  <Notes>69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5" baseType="lpstr">
      <vt:lpstr>Arial</vt:lpstr>
      <vt:lpstr>Calibri</vt:lpstr>
      <vt:lpstr>Wingdings</vt:lpstr>
      <vt:lpstr>Office Theme</vt:lpstr>
      <vt:lpstr>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TYPES OF SFTRUCTURES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Project Planning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S.N.Mahajan</dc:creator>
  <cp:lastModifiedBy>Dilip Udas</cp:lastModifiedBy>
  <cp:revision>1026</cp:revision>
  <dcterms:created xsi:type="dcterms:W3CDTF">2013-05-11T06:45:47Z</dcterms:created>
  <dcterms:modified xsi:type="dcterms:W3CDTF">2026-01-15T08:47:53Z</dcterms:modified>
</cp:coreProperties>
</file>