
<file path=[Content_Types].xml><?xml version="1.0" encoding="utf-8"?>
<Types xmlns="http://schemas.openxmlformats.org/package/2006/content-types">
  <Default ContentType="image/tiff" Extension="tiff"/>
  <Default ContentType="application/vnd.openxmlformats-officedocument.oleObject" Extension="bin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Default ContentType="image/x-emf" Extension="emf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0E5EF-B99B-4B58-9AA7-338CBDCB76DF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2F5CC-A1CC-4A17-A5C6-1ED3E1DC7EA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617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69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812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74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50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69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7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009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50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16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21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816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001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864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823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26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777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404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218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84FEC4-CBFB-4CAD-B2CA-85631C7049F1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6936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180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387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65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46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567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97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284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119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977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56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7840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974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72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2178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1506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66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3056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622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5139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2544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70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00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8.bin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6.bin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9.bin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32.bin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35.bin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38.bin"/><Relationship Id="rId4" Type="http://schemas.openxmlformats.org/officeDocument/2006/relationships/image" Target="../media/image1.png"/><Relationship Id="rId9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41.bin"/><Relationship Id="rId4" Type="http://schemas.openxmlformats.org/officeDocument/2006/relationships/image" Target="../media/image1.png"/><Relationship Id="rId9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44.bin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47.bin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50.bin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53.bin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56.bin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59.bin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62.bin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65.bin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68.bin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71.bin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74.bin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77.bin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80.bin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83.bin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86.bin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89.bin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92.bin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95.bin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98.bin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7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49.bin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70.bin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72.bin"/><Relationship Id="rId7" Type="http://schemas.openxmlformats.org/officeDocument/2006/relationships/oleObject" Target="../embeddings/oleObject174.bin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73.bin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7.bin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76.bin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0.bin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79.bin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3.bin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82.bin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85.bin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87.bin"/><Relationship Id="rId7" Type="http://schemas.openxmlformats.org/officeDocument/2006/relationships/oleObject" Target="../embeddings/oleObject189.bin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88.bin"/><Relationship Id="rId4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91.bin"/><Relationship Id="rId4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5.bin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94.bin"/><Relationship Id="rId4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97.bin"/><Relationship Id="rId4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99.bin"/><Relationship Id="rId7" Type="http://schemas.openxmlformats.org/officeDocument/2006/relationships/oleObject" Target="../embeddings/oleObject201.bin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202.bin"/><Relationship Id="rId7" Type="http://schemas.openxmlformats.org/officeDocument/2006/relationships/oleObject" Target="../embeddings/oleObject204.bin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03.bin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39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392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392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 algn="ctr">
              <a:buNone/>
            </a:pPr>
            <a:r>
              <a:rPr lang="en-US" sz="6000" b="1" dirty="0"/>
              <a:t>INDUSTRIAL MANAGEMENT PART 2</a:t>
            </a:r>
            <a:endParaRPr lang="en-IN" sz="6000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dirty="0"/>
              <a:t>ORGANISATION.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SOCIAL UNIT OF PEOPLE SYSTEMATICALLY ARRANGED AND MANAGED TO PURSUE COLLECTIVE GOALS ON CONTUNUING BASIS.</a:t>
            </a: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334233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STRUCTRE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b="1" u="sng" dirty="0"/>
              <a:t>MECHANISTIC</a:t>
            </a:r>
          </a:p>
          <a:p>
            <a:pPr lvl="0"/>
            <a:endParaRPr lang="en-US" b="1" u="sng" dirty="0"/>
          </a:p>
          <a:p>
            <a:pPr lvl="0"/>
            <a:r>
              <a:rPr lang="en-US" b="1" u="sng" dirty="0"/>
              <a:t>ORGANIC</a:t>
            </a:r>
          </a:p>
          <a:p>
            <a:pPr lvl="0"/>
            <a:endParaRPr lang="en-US" sz="2000" b="1" u="sng" dirty="0"/>
          </a:p>
          <a:p>
            <a:pPr marL="0" lvl="0" indent="0" algn="ctr">
              <a:buNone/>
            </a:pPr>
            <a:r>
              <a:rPr lang="en-US" sz="2800" dirty="0"/>
              <a:t>The structure defines position and </a:t>
            </a:r>
            <a:r>
              <a:rPr lang="en-US" sz="2800" dirty="0" err="1"/>
              <a:t>function.The</a:t>
            </a:r>
            <a:r>
              <a:rPr lang="en-US" sz="2800" dirty="0"/>
              <a:t> optimum structure depends on Political, </a:t>
            </a:r>
            <a:r>
              <a:rPr lang="en-US" sz="2800" dirty="0" err="1"/>
              <a:t>Demogrphic,Sociocultural</a:t>
            </a:r>
            <a:r>
              <a:rPr lang="en-US" sz="2800" dirty="0"/>
              <a:t> , </a:t>
            </a:r>
            <a:r>
              <a:rPr lang="en-US" sz="2800" dirty="0" err="1"/>
              <a:t>Economic,Technological,AND</a:t>
            </a:r>
            <a:r>
              <a:rPr lang="en-US" sz="2800" dirty="0"/>
              <a:t> Legal factors. </a:t>
            </a:r>
          </a:p>
          <a:p>
            <a:pPr marL="0" lvl="0" indent="0" algn="ctr">
              <a:buNone/>
            </a:pPr>
            <a:endParaRPr lang="en-US" sz="2800" dirty="0"/>
          </a:p>
          <a:p>
            <a:pPr marL="0" lvl="0" indent="0" algn="ctr">
              <a:buNone/>
            </a:pPr>
            <a:endParaRPr lang="en-US" sz="2800" dirty="0"/>
          </a:p>
          <a:p>
            <a:pPr marL="0" lvl="0" indent="0" algn="ctr">
              <a:buNone/>
            </a:pPr>
            <a:r>
              <a:rPr lang="en-US" sz="2800" dirty="0"/>
              <a:t> 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5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53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53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25338" y="65643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MECHANISTIC AND ORGANIC 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lvl="0"/>
            <a:r>
              <a:rPr lang="en-US" b="1" u="sng" dirty="0"/>
              <a:t>RIGID, WELL DEFINED,BEUROCRATIC,MULTI LEVEL,PYRAMID,LEAST INTERACTIVE AMONG PEERS.</a:t>
            </a:r>
          </a:p>
          <a:p>
            <a:pPr lvl="0"/>
            <a:endParaRPr lang="en-US" b="1" u="sng" dirty="0"/>
          </a:p>
          <a:p>
            <a:pPr lvl="0"/>
            <a:r>
              <a:rPr lang="en-US" b="1" u="sng"/>
              <a:t>FLEXIBLE, FLAT,INTERACTIVE,MINIMUM DOCUMENTATION,MULTIPLE ROLES,DECENTRALIZED DECISION MAKING.</a:t>
            </a:r>
            <a:endParaRPr lang="en-US" b="1" u="sng" dirty="0"/>
          </a:p>
          <a:p>
            <a:pPr lvl="0"/>
            <a:endParaRPr lang="en-US" b="1" u="sng" dirty="0"/>
          </a:p>
          <a:p>
            <a:pPr lvl="0"/>
            <a:endParaRPr lang="en-US" b="1" u="sng" dirty="0"/>
          </a:p>
          <a:p>
            <a:pPr lvl="0"/>
            <a:endParaRPr lang="en-US" sz="2000" b="1" dirty="0"/>
          </a:p>
          <a:p>
            <a:pPr lvl="0"/>
            <a:endParaRPr lang="en-US" sz="2000" b="1" dirty="0"/>
          </a:p>
          <a:p>
            <a:pPr marL="0" lvl="0" indent="0" algn="ctr">
              <a:buNone/>
            </a:pPr>
            <a:endParaRPr lang="en-US" sz="2800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192318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GREINERS MODEL 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lvl="0"/>
            <a:r>
              <a:rPr lang="en-US" sz="3000" b="1" u="sng" dirty="0"/>
              <a:t>ASSUMPTIONS</a:t>
            </a:r>
          </a:p>
          <a:p>
            <a:pPr lvl="0"/>
            <a:endParaRPr lang="en-US" sz="3000" b="1" u="sng" dirty="0"/>
          </a:p>
          <a:p>
            <a:pPr lvl="0"/>
            <a:endParaRPr lang="en-US" sz="3000" b="1" u="sng" dirty="0"/>
          </a:p>
          <a:p>
            <a:pPr marL="457200" lvl="0" indent="-457200">
              <a:buAutoNum type="alphaLcParenR"/>
            </a:pPr>
            <a:r>
              <a:rPr lang="en-US" sz="2400" dirty="0"/>
              <a:t>GROWTH</a:t>
            </a:r>
          </a:p>
          <a:p>
            <a:pPr marL="457200" lvl="0" indent="-457200">
              <a:buAutoNum type="alphaLcParenR"/>
            </a:pPr>
            <a:r>
              <a:rPr lang="en-US" sz="2400" dirty="0"/>
              <a:t>MANAGEMENT STYLE</a:t>
            </a:r>
          </a:p>
          <a:p>
            <a:pPr marL="457200" lvl="0" indent="-457200">
              <a:buAutoNum type="alphaLcParenR"/>
            </a:pPr>
            <a:r>
              <a:rPr lang="en-US" sz="2400" dirty="0"/>
              <a:t>STRUCTURE</a:t>
            </a:r>
          </a:p>
          <a:p>
            <a:pPr marL="457200" lvl="0" indent="-457200">
              <a:buAutoNum type="alphaLcParenR"/>
            </a:pPr>
            <a:r>
              <a:rPr lang="en-US" sz="2400" dirty="0"/>
              <a:t>COORDINATION</a:t>
            </a:r>
          </a:p>
          <a:p>
            <a:pPr marL="457200" lvl="0" indent="-457200">
              <a:buAutoNum type="alphaLcParenR"/>
            </a:pPr>
            <a:endParaRPr lang="en-US" sz="2400" dirty="0"/>
          </a:p>
          <a:p>
            <a:pPr marL="457200" lvl="0" indent="-457200">
              <a:buAutoNum type="alphaLcParenR"/>
            </a:pPr>
            <a:endParaRPr lang="en-US" sz="2400" dirty="0"/>
          </a:p>
          <a:p>
            <a:pPr marL="457200" lvl="0" indent="-457200">
              <a:buAutoNum type="alphaLcParenR"/>
            </a:pPr>
            <a:endParaRPr lang="en-US" sz="2400" dirty="0"/>
          </a:p>
          <a:p>
            <a:pPr marL="457200" lvl="0" indent="-457200">
              <a:buAutoNum type="alphaLcParenR"/>
            </a:pPr>
            <a:endParaRPr lang="en-US" sz="2400" dirty="0"/>
          </a:p>
          <a:p>
            <a:pPr marL="457200" lvl="0" indent="-457200">
              <a:buAutoNum type="alphaLcParenR"/>
            </a:pPr>
            <a:endParaRPr lang="en-US" sz="2400" dirty="0"/>
          </a:p>
          <a:p>
            <a:pPr marL="0" lv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D7E8-537D-4AE0-8B73-076C2471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SFTRUCTURES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E2B7D-5628-43C9-BA60-049ED8C0D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FUNCTIONAL     Manufacturing firms</a:t>
            </a:r>
          </a:p>
          <a:p>
            <a:r>
              <a:rPr lang="en-IN" dirty="0"/>
              <a:t>DIVISIONAL        Multiple markets</a:t>
            </a:r>
          </a:p>
          <a:p>
            <a:r>
              <a:rPr lang="en-IN" dirty="0"/>
              <a:t>MATRIX               Project Based Companies</a:t>
            </a:r>
          </a:p>
          <a:p>
            <a:r>
              <a:rPr lang="en-IN" dirty="0"/>
              <a:t>TEAM BASED      Flexibility Innovation</a:t>
            </a:r>
          </a:p>
          <a:p>
            <a:r>
              <a:rPr lang="en-IN" dirty="0"/>
              <a:t>NETWORK           Outsourcing Companies</a:t>
            </a:r>
          </a:p>
          <a:p>
            <a:r>
              <a:rPr lang="en-IN" dirty="0"/>
              <a:t>HIERARCHIAL      Traditional Stable</a:t>
            </a:r>
          </a:p>
          <a:p>
            <a:r>
              <a:rPr lang="en-IN" dirty="0"/>
              <a:t>FLAT                      Faster </a:t>
            </a:r>
            <a:r>
              <a:rPr lang="en-IN"/>
              <a:t>Decisions Collaborative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4160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4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45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45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PHASES OF GROWTH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2000" dirty="0"/>
              <a:t>GROWTH THROUGH CREATIVITY                                    LEADERSHIP CRISIS</a:t>
            </a:r>
          </a:p>
          <a:p>
            <a:pPr marL="0" lvl="0" indent="0" algn="just">
              <a:buNone/>
            </a:pPr>
            <a:endParaRPr lang="en-US" sz="2000" dirty="0"/>
          </a:p>
          <a:p>
            <a:pPr marL="0" lvl="0" indent="0" algn="just">
              <a:buNone/>
            </a:pPr>
            <a:r>
              <a:rPr lang="en-US" sz="2000" dirty="0"/>
              <a:t>GROWTH THROUGH DIRECTION                                    AUTONOMY CRISIS</a:t>
            </a:r>
          </a:p>
          <a:p>
            <a:pPr marL="0" lvl="0" indent="0" algn="just">
              <a:buNone/>
            </a:pPr>
            <a:endParaRPr lang="en-US" sz="2000" dirty="0"/>
          </a:p>
          <a:p>
            <a:pPr marL="0" lvl="0" indent="0" algn="just">
              <a:buNone/>
            </a:pPr>
            <a:r>
              <a:rPr lang="en-US" sz="2000" dirty="0"/>
              <a:t>GROWTH THROUGH DELEGATION                                  CONTROL CRISIS</a:t>
            </a:r>
          </a:p>
          <a:p>
            <a:pPr marL="0" lvl="0" indent="0" algn="just">
              <a:buNone/>
            </a:pPr>
            <a:endParaRPr lang="en-US" sz="2000" dirty="0"/>
          </a:p>
          <a:p>
            <a:pPr marL="0" lvl="0" indent="0" algn="just">
              <a:buNone/>
            </a:pPr>
            <a:r>
              <a:rPr lang="en-US" sz="2000" dirty="0"/>
              <a:t>GROWTH THROUGH COORDINATION                           RED TAPE CRISIS</a:t>
            </a:r>
          </a:p>
          <a:p>
            <a:pPr marL="0" lvl="0" indent="0" algn="just">
              <a:buNone/>
            </a:pPr>
            <a:endParaRPr lang="en-US" sz="2000" dirty="0"/>
          </a:p>
          <a:p>
            <a:pPr marL="0" lvl="0" indent="0" algn="just">
              <a:buNone/>
            </a:pPr>
            <a:r>
              <a:rPr lang="en-US" sz="2000" dirty="0"/>
              <a:t>GROWTH THROUGH COLLABORATION         INTERNAL GROWTH CRISIS</a:t>
            </a:r>
          </a:p>
          <a:p>
            <a:pPr marL="0" lvl="0" indent="0" algn="just">
              <a:buNone/>
            </a:pPr>
            <a:endParaRPr lang="en-US" sz="2000" dirty="0"/>
          </a:p>
          <a:p>
            <a:pPr marL="0" lvl="0" indent="0" algn="just">
              <a:buNone/>
            </a:pPr>
            <a:r>
              <a:rPr lang="en-US" sz="2000" dirty="0"/>
              <a:t>GROWTH THROUGH ALLIANCES                                  IDENTITY CRISIS.</a:t>
            </a:r>
          </a:p>
          <a:p>
            <a:pPr marL="0" lvl="0" indent="0" algn="just">
              <a:buNone/>
            </a:pPr>
            <a:endParaRPr lang="en-US" sz="2000" dirty="0"/>
          </a:p>
          <a:p>
            <a:pPr marL="0" lvl="0" indent="0" algn="just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lvl="0" indent="-457200">
              <a:buFont typeface="+mj-lt"/>
              <a:buAutoNum type="arabicPeriod"/>
            </a:pPr>
            <a:endParaRPr lang="en-US" sz="2000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282396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STAGE 1 CREATIVITY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Flat structure</a:t>
            </a:r>
          </a:p>
          <a:p>
            <a:pPr marL="0" indent="0">
              <a:buNone/>
            </a:pPr>
            <a:r>
              <a:rPr lang="en-US" sz="2400" dirty="0"/>
              <a:t>Small and Informal</a:t>
            </a:r>
          </a:p>
          <a:p>
            <a:pPr marL="0" indent="0">
              <a:buNone/>
            </a:pPr>
            <a:r>
              <a:rPr lang="en-US" sz="2400" dirty="0" err="1"/>
              <a:t>Entreprenurial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Loyal employees.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ONE MAN SHOW…Not possible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4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42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43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STAGE 2 DIRECTION  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r>
              <a:rPr lang="en-US" sz="2400" b="1" dirty="0"/>
              <a:t>Appoint Functional Managers.</a:t>
            </a:r>
          </a:p>
          <a:p>
            <a:pPr marL="0" lvl="0" indent="0">
              <a:buNone/>
            </a:pPr>
            <a:r>
              <a:rPr lang="en-US" sz="2400" b="1" dirty="0"/>
              <a:t>Create Middle </a:t>
            </a:r>
            <a:r>
              <a:rPr lang="en-US" sz="2400" b="1" dirty="0" err="1"/>
              <a:t>Management,Rules</a:t>
            </a:r>
            <a:r>
              <a:rPr lang="en-US" sz="2400" b="1" dirty="0"/>
              <a:t> procedures are standardized, Central coordination with Entrepreneur</a:t>
            </a:r>
          </a:p>
          <a:p>
            <a:pPr marL="0" lvl="0" indent="0">
              <a:buNone/>
            </a:pPr>
            <a:endParaRPr lang="en-US" sz="2400" b="1" dirty="0"/>
          </a:p>
          <a:p>
            <a:pPr marL="0" lvl="0" indent="0">
              <a:buNone/>
            </a:pPr>
            <a:endParaRPr lang="en-US" sz="2400" b="1" dirty="0"/>
          </a:p>
          <a:p>
            <a:pPr marL="0" lvl="0" indent="0">
              <a:buNone/>
            </a:pPr>
            <a:endParaRPr lang="en-US" sz="2400" b="1" dirty="0"/>
          </a:p>
          <a:p>
            <a:pPr marL="0" lvl="0" indent="0">
              <a:buNone/>
            </a:pPr>
            <a:r>
              <a:rPr lang="en-US" sz="2400" b="1" dirty="0"/>
              <a:t>Autonomy crisis is Born.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960941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STAGE 3 DELEGATION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r>
              <a:rPr lang="en-US" sz="2400" dirty="0"/>
              <a:t>Tactical , Operational objectives by middle managers.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Low intervention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Product Group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Individual Managers</a:t>
            </a:r>
          </a:p>
          <a:p>
            <a:pPr marL="457200" lvl="0" indent="-457200">
              <a:buAutoNum type="arabicPeriod"/>
            </a:pPr>
            <a:endParaRPr lang="en-US" sz="2400" dirty="0"/>
          </a:p>
          <a:p>
            <a:pPr marL="457200" lvl="0" indent="-457200">
              <a:buAutoNum type="arabicPeriod"/>
            </a:pPr>
            <a:endParaRPr lang="en-US" sz="2400" dirty="0"/>
          </a:p>
          <a:p>
            <a:pPr marL="0" lvl="0" indent="0">
              <a:buNone/>
            </a:pPr>
            <a:r>
              <a:rPr lang="en-US" sz="2000" b="1" dirty="0"/>
              <a:t> Co ordination Difficult Divisional managers plot own course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4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41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41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STAGE 4 COORDINATION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AutoNum type="arabicPeriod"/>
            </a:pPr>
            <a:r>
              <a:rPr lang="en-US" sz="2400" dirty="0"/>
              <a:t>Staff </a:t>
            </a:r>
            <a:r>
              <a:rPr lang="en-US" sz="2400" dirty="0" err="1"/>
              <a:t>Deparments</a:t>
            </a:r>
            <a:r>
              <a:rPr lang="en-US" sz="2400" dirty="0"/>
              <a:t> Introduced… What are staff and line roles?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Take strong position from Headquarters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Manage Divisional managers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Headquarters All important</a:t>
            </a:r>
          </a:p>
          <a:p>
            <a:pPr marL="457200" lvl="0" indent="-457200">
              <a:buAutoNum type="arabicPeriod"/>
            </a:pPr>
            <a:endParaRPr lang="en-US" sz="2400" b="1" dirty="0"/>
          </a:p>
          <a:p>
            <a:pPr marL="457200" lvl="0" indent="-457200">
              <a:buAutoNum type="arabicPeriod"/>
            </a:pPr>
            <a:endParaRPr lang="en-US" sz="2400" b="1" dirty="0"/>
          </a:p>
          <a:p>
            <a:pPr marL="0" lvl="0" indent="0">
              <a:buNone/>
            </a:pPr>
            <a:r>
              <a:rPr lang="en-US" sz="2400" b="1" dirty="0"/>
              <a:t>   COMPANY INFLEXIBLE RED TAPE ARISES STAFF DEPT TAKE UP TOO      MUCH POWER   </a:t>
            </a: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602461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3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39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39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STAGE 5 COLLABORATION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AutoNum type="arabicPeriod"/>
            </a:pPr>
            <a:r>
              <a:rPr lang="en-US" sz="2400" dirty="0"/>
              <a:t>Line and Staff </a:t>
            </a:r>
            <a:r>
              <a:rPr lang="en-US" sz="2400" dirty="0" err="1"/>
              <a:t>Deparment</a:t>
            </a:r>
            <a:r>
              <a:rPr lang="en-US" sz="2400" dirty="0"/>
              <a:t> co-ordination</a:t>
            </a:r>
          </a:p>
          <a:p>
            <a:pPr marL="457200" lvl="0" indent="-457200">
              <a:buAutoNum type="arabicPeriod"/>
            </a:pPr>
            <a:r>
              <a:rPr lang="en-US" sz="2400" dirty="0" err="1"/>
              <a:t>Hierachial</a:t>
            </a:r>
            <a:r>
              <a:rPr lang="en-US" sz="2400" dirty="0"/>
              <a:t> forms</a:t>
            </a:r>
          </a:p>
          <a:p>
            <a:pPr marL="457200" lvl="0" indent="-457200">
              <a:buAutoNum type="arabicPeriod"/>
            </a:pPr>
            <a:r>
              <a:rPr lang="en-US" sz="2400"/>
              <a:t>Matrix Structure</a:t>
            </a:r>
            <a:endParaRPr lang="en-US" sz="2400" dirty="0"/>
          </a:p>
          <a:p>
            <a:pPr marL="457200" lvl="0" indent="-457200">
              <a:buAutoNum type="arabicPeriod"/>
            </a:pPr>
            <a:r>
              <a:rPr lang="en-US" sz="2400" dirty="0"/>
              <a:t>Consultation Groups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Meetings 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r>
              <a:rPr lang="en-US" sz="2000" b="1" dirty="0"/>
              <a:t>Too many Consultations. Supervision Declines…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455352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4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40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40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STAGE 6 ALLIANCES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u="sng" dirty="0"/>
              <a:t> 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External alliances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Contacts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Mergers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Extensive Network</a:t>
            </a:r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0" lvl="0" indent="0">
              <a:buNone/>
            </a:pPr>
            <a:r>
              <a:rPr lang="en-US" sz="2000" b="1" dirty="0"/>
              <a:t>  Focus on alliances rather than own </a:t>
            </a:r>
            <a:r>
              <a:rPr lang="en-US" sz="2000" b="1" dirty="0" err="1"/>
              <a:t>business.Other</a:t>
            </a:r>
            <a:r>
              <a:rPr lang="en-US" sz="2000" b="1" dirty="0"/>
              <a:t> businesses take </a:t>
            </a:r>
            <a:r>
              <a:rPr lang="en-US" sz="2000" b="1" dirty="0" err="1"/>
              <a:t>over.Identity</a:t>
            </a:r>
            <a:r>
              <a:rPr lang="en-US" sz="2000" b="1" dirty="0"/>
              <a:t> Crisis.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00306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742942-8637-429B-A2B5-14E0485D7E90}"/>
              </a:ext>
            </a:extLst>
          </p:cNvPr>
          <p:cNvSpPr txBox="1"/>
          <p:nvPr/>
        </p:nvSpPr>
        <p:spPr>
          <a:xfrm>
            <a:off x="219975" y="596954"/>
            <a:ext cx="1372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GRAPH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E80CE0-D618-492A-B6F7-F417F0C75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7409"/>
            <a:ext cx="9042400" cy="517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3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38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38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GRAPH 2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-38101" y="2025788"/>
            <a:ext cx="11318159" cy="4100375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76C60F9-2714-495C-8218-A7FBF6077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36" y="1290638"/>
            <a:ext cx="9478164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154182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ORGANISATIONAL DESIGN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b="1" dirty="0"/>
              <a:t>        </a:t>
            </a:r>
            <a:r>
              <a:rPr lang="en-US" sz="2800" b="1" dirty="0"/>
              <a:t>CREATE VALUE FOR FUTURE</a:t>
            </a:r>
          </a:p>
          <a:p>
            <a:pPr marL="0" lvl="0" indent="0">
              <a:buNone/>
            </a:pPr>
            <a:r>
              <a:rPr lang="en-US" sz="2800" b="1" dirty="0"/>
              <a:t>      PEOPLE AT THE CENTRE</a:t>
            </a:r>
          </a:p>
          <a:p>
            <a:pPr marL="0" lvl="0" indent="0">
              <a:buNone/>
            </a:pPr>
            <a:r>
              <a:rPr lang="en-US" sz="2800" b="1" dirty="0"/>
              <a:t>      DESIGN IS LIKE A MAP.  IMPLEMENTATION GPS</a:t>
            </a:r>
          </a:p>
          <a:p>
            <a:pPr marL="0" lvl="0" indent="0">
              <a:buNone/>
            </a:pPr>
            <a:r>
              <a:rPr lang="en-US" sz="2800" b="1" dirty="0"/>
              <a:t>      BUILD RESILIENCE FOR UNKNOWN.</a:t>
            </a:r>
          </a:p>
          <a:p>
            <a:pPr marL="0" lvl="0" indent="0">
              <a:buNone/>
            </a:pPr>
            <a:r>
              <a:rPr lang="en-US" sz="2800" b="1" dirty="0"/>
              <a:t> 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      NO PERFECT MODEL. </a:t>
            </a: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 ORGANISATIONAL DESIGN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r>
              <a:rPr lang="en-US" sz="2000" dirty="0"/>
              <a:t>                                                      </a:t>
            </a:r>
          </a:p>
          <a:p>
            <a:pPr marL="457200" lvl="0" indent="-457200">
              <a:buNone/>
            </a:pPr>
            <a:r>
              <a:rPr lang="en-US" sz="2000" b="1" dirty="0"/>
              <a:t>         </a:t>
            </a:r>
            <a:r>
              <a:rPr lang="en-US" b="1" dirty="0"/>
              <a:t>MISSION</a:t>
            </a:r>
          </a:p>
          <a:p>
            <a:pPr marL="457200" lvl="0" indent="-457200">
              <a:buNone/>
            </a:pPr>
            <a:r>
              <a:rPr lang="en-US" sz="2000" b="1" dirty="0"/>
              <a:t>         </a:t>
            </a:r>
            <a:r>
              <a:rPr lang="en-US" b="1" dirty="0"/>
              <a:t>PROCESS</a:t>
            </a:r>
          </a:p>
          <a:p>
            <a:pPr marL="457200" lvl="0" indent="-457200">
              <a:buNone/>
            </a:pPr>
            <a:r>
              <a:rPr lang="en-US" sz="2000" b="1"/>
              <a:t>         </a:t>
            </a:r>
            <a:r>
              <a:rPr lang="en-US" b="1"/>
              <a:t>ROLES</a:t>
            </a:r>
            <a:r>
              <a:rPr lang="en-US" sz="2000" b="1"/>
              <a:t>  </a:t>
            </a:r>
            <a:r>
              <a:rPr lang="en-US" b="1"/>
              <a:t>                                                                          </a:t>
            </a:r>
            <a:r>
              <a:rPr lang="en-US" b="1" dirty="0"/>
              <a:t>STRUCTURE                                          </a:t>
            </a:r>
          </a:p>
          <a:p>
            <a:pPr marL="457200" lvl="0" indent="-457200">
              <a:buNone/>
            </a:pPr>
            <a:r>
              <a:rPr lang="en-US" b="1" dirty="0"/>
              <a:t>     PEOPLE AND PRACTICES</a:t>
            </a:r>
          </a:p>
          <a:p>
            <a:pPr marL="400050" lvl="1" indent="0">
              <a:buNone/>
            </a:pPr>
            <a:endParaRPr lang="en-US" sz="16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Concept of Internal customers.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 fontScale="92500" lnSpcReduction="10000"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r>
              <a:rPr lang="en-US" sz="2000" b="1" dirty="0"/>
              <a:t>   </a:t>
            </a:r>
            <a:r>
              <a:rPr lang="en-US" sz="2400" b="1" dirty="0"/>
              <a:t>Customer is The Focus.</a:t>
            </a:r>
          </a:p>
          <a:p>
            <a:pPr marL="457200" lvl="0" indent="-457200">
              <a:buNone/>
            </a:pPr>
            <a:endParaRPr lang="en-US" sz="2400" b="1" dirty="0"/>
          </a:p>
          <a:p>
            <a:pPr marL="457200" lvl="0" indent="-457200">
              <a:buNone/>
            </a:pPr>
            <a:r>
              <a:rPr lang="en-US" sz="2400" b="1" dirty="0"/>
              <a:t>    Research.&gt; Development.&gt; Process Design.&gt; Projects.&gt;</a:t>
            </a:r>
          </a:p>
          <a:p>
            <a:pPr marL="457200" lvl="0" indent="-457200">
              <a:buNone/>
            </a:pPr>
            <a:r>
              <a:rPr lang="en-US" sz="2400" b="1" dirty="0"/>
              <a:t>    Operations.&gt;Marketing.&gt; Final Purchaser.</a:t>
            </a:r>
          </a:p>
          <a:p>
            <a:pPr marL="457200" lvl="0" indent="-457200">
              <a:buNone/>
            </a:pPr>
            <a:endParaRPr lang="en-US" sz="2400" b="1" dirty="0"/>
          </a:p>
          <a:p>
            <a:pPr marL="457200" lvl="0" indent="-457200">
              <a:buNone/>
            </a:pPr>
            <a:endParaRPr lang="en-US" sz="2400" b="1" dirty="0"/>
          </a:p>
          <a:p>
            <a:pPr marL="457200" lvl="0" indent="-457200">
              <a:buNone/>
            </a:pPr>
            <a:r>
              <a:rPr lang="en-US" sz="2400" b="1" dirty="0"/>
              <a:t>   Multiple Customers.  Purchase, Finance and accounts, </a:t>
            </a:r>
            <a:r>
              <a:rPr lang="en-US" sz="2400" b="1" dirty="0" err="1"/>
              <a:t>Personnel,Quality</a:t>
            </a:r>
            <a:r>
              <a:rPr lang="en-US" sz="2400" b="1" dirty="0"/>
              <a:t> </a:t>
            </a:r>
          </a:p>
          <a:p>
            <a:pPr marL="457200" lvl="0" indent="-457200">
              <a:buNone/>
            </a:pPr>
            <a:r>
              <a:rPr lang="en-US" sz="2400" b="1" dirty="0"/>
              <a:t>   Assurance, </a:t>
            </a:r>
            <a:r>
              <a:rPr lang="en-US" sz="2400" b="1" dirty="0" err="1"/>
              <a:t>HR,Maintainance</a:t>
            </a:r>
            <a:r>
              <a:rPr lang="en-US" sz="2400" b="1" dirty="0"/>
              <a:t>, Stores, Security, IT services.</a:t>
            </a:r>
          </a:p>
          <a:p>
            <a:pPr marL="457200" lvl="0" indent="-457200">
              <a:buNone/>
            </a:pPr>
            <a:r>
              <a:rPr lang="en-US" sz="2400" b="1" dirty="0"/>
              <a:t>     </a:t>
            </a:r>
          </a:p>
          <a:p>
            <a:pPr marL="457200" lvl="0" indent="-457200">
              <a:buNone/>
            </a:pPr>
            <a:endParaRPr lang="en-US" sz="2400" b="1" dirty="0"/>
          </a:p>
          <a:p>
            <a:pPr marL="457200" lvl="0" indent="-457200">
              <a:buNone/>
            </a:pPr>
            <a:r>
              <a:rPr lang="en-US" sz="2400" b="1" dirty="0"/>
              <a:t>        </a:t>
            </a: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3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36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37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Marketing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Interaction With Others:</a:t>
            </a:r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R&amp;D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Design &amp; projects.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Operations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Quality assurance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Customer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839924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Marketing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Three Major Areas 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New Products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Improving Existing products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Service to the customer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3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36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36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PORTERS VALUE CHAIN MODEL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b="1" dirty="0"/>
              <a:t>  </a:t>
            </a:r>
            <a:r>
              <a:rPr lang="en-US" sz="2800" b="1" dirty="0"/>
              <a:t>INTRODUCED IN 1985 BY MICHEL PORTER</a:t>
            </a:r>
          </a:p>
          <a:p>
            <a:pPr marL="0" lvl="0" indent="0">
              <a:buNone/>
            </a:pPr>
            <a:r>
              <a:rPr lang="en-US" sz="2000" b="1" dirty="0"/>
              <a:t>   </a:t>
            </a:r>
          </a:p>
          <a:p>
            <a:pPr marL="0" lvl="0" indent="0">
              <a:buNone/>
            </a:pPr>
            <a:r>
              <a:rPr lang="en-US" sz="2800" b="1" dirty="0"/>
              <a:t>Primary Activities- Directly Develop Product or Services.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Support Activities- To make Primary Activities more Efficient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Strategic Management tool.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171765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2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24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24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VALUE CHAIN ANALYSIS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800" b="1" dirty="0"/>
              <a:t> COMPETETION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NEW ENTRANTS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BARGAINING POWER OF CUSTOMERS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BARGAINING POWER OF SUPPLIERS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THREAT OF ALTERNATIVES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012213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2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24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24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VALUE CHAIN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PHYSICAL OR TRADITIONAL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VIRTUAL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STRATEGIC BUSINESS UNIT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GLOBAL 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606856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2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24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24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EXAMPLES OF INDUSTRIES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WALL MART  RELIANCE</a:t>
            </a:r>
          </a:p>
          <a:p>
            <a:pPr marL="457200" lvl="0" indent="-457200">
              <a:buNone/>
            </a:pPr>
            <a:r>
              <a:rPr lang="en-US" sz="2800" b="1" dirty="0"/>
              <a:t>AMAZON</a:t>
            </a:r>
          </a:p>
          <a:p>
            <a:pPr marL="457200" lvl="0" indent="-457200">
              <a:buNone/>
            </a:pPr>
            <a:r>
              <a:rPr lang="en-US" sz="2800" b="1" dirty="0"/>
              <a:t>FEDEX   SPEED POST</a:t>
            </a:r>
          </a:p>
          <a:p>
            <a:pPr marL="457200" lvl="0" indent="-457200">
              <a:buNone/>
            </a:pPr>
            <a:r>
              <a:rPr lang="en-US" sz="2800" b="1" dirty="0"/>
              <a:t>BASF</a:t>
            </a:r>
          </a:p>
          <a:p>
            <a:pPr marL="457200" lvl="0" indent="-457200">
              <a:buNone/>
            </a:pPr>
            <a:r>
              <a:rPr lang="en-US" sz="2800" b="1" dirty="0"/>
              <a:t>CITI BANK    ICICI BANK</a:t>
            </a:r>
          </a:p>
          <a:p>
            <a:pPr marL="457200" lvl="0" indent="-457200">
              <a:buNone/>
            </a:pPr>
            <a:r>
              <a:rPr lang="en-US" sz="2800" b="1" dirty="0"/>
              <a:t>ASIAN PAINTS  PIDILITE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000" b="1" dirty="0"/>
              <a:t> 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307812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2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23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24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PORTERS GENERIC STRATEGY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r>
              <a:rPr lang="en-US" sz="2800" b="1" dirty="0"/>
              <a:t>LOWER COST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DIFFERANTIATION.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606168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2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2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FINANANCE AND ACCOUNTS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Autofit/>
          </a:bodyPr>
          <a:lstStyle/>
          <a:p>
            <a:r>
              <a:rPr lang="en-US" b="1" u="sng" dirty="0"/>
              <a:t>BUDGET</a:t>
            </a:r>
          </a:p>
          <a:p>
            <a:endParaRPr lang="en-US" b="1" u="sng" dirty="0"/>
          </a:p>
          <a:p>
            <a:r>
              <a:rPr lang="en-US" b="1" dirty="0"/>
              <a:t>DEFICIT BUDGET AND WHAT IT MEANS</a:t>
            </a:r>
          </a:p>
          <a:p>
            <a:endParaRPr lang="en-US" b="1" dirty="0"/>
          </a:p>
          <a:p>
            <a:r>
              <a:rPr lang="en-US" b="1" dirty="0"/>
              <a:t>CAPITAL AND REVENUE EXPENDITURE</a:t>
            </a:r>
          </a:p>
          <a:p>
            <a:endParaRPr lang="en-US" b="1" dirty="0"/>
          </a:p>
          <a:p>
            <a:r>
              <a:rPr lang="en-US" b="1" dirty="0"/>
              <a:t>DEPRECIATION AND INCOME TAX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These compromises might play out differently if the time period or time cycles are affected.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To Sum up there are no specific rules for effects of scale up.</a:t>
            </a:r>
          </a:p>
          <a:p>
            <a:pPr marL="457200" lvl="0" indent="-457200">
              <a:buNone/>
            </a:pPr>
            <a:r>
              <a:rPr lang="en-US" b="1" dirty="0"/>
              <a:t>The judgement of the Engineers and Chemists should be considered for factors affecting scale up</a:t>
            </a:r>
          </a:p>
          <a:p>
            <a:pPr marL="457200" lvl="0" indent="-457200">
              <a:buNone/>
            </a:pPr>
            <a:r>
              <a:rPr lang="en-US" b="1" dirty="0"/>
              <a:t>AND</a:t>
            </a:r>
          </a:p>
          <a:p>
            <a:pPr marL="457200" lvl="0" indent="-457200">
              <a:buNone/>
            </a:pPr>
            <a:r>
              <a:rPr lang="en-US" b="1" dirty="0"/>
              <a:t>All the parameters independently verified through experiments in lab or Pilot Plant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66800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FINANCE AND ACCOUNTS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SURPLUS BUDGET</a:t>
            </a:r>
            <a:endParaRPr lang="en-US" sz="2000" b="1" dirty="0"/>
          </a:p>
          <a:p>
            <a:pPr marL="457200" lvl="0" indent="-457200">
              <a:buAutoNum type="arabicPeriod"/>
            </a:pPr>
            <a:r>
              <a:rPr lang="en-US" sz="2800" dirty="0"/>
              <a:t>PROFIT AFTER TAX</a:t>
            </a:r>
          </a:p>
          <a:p>
            <a:pPr marL="457200" lvl="0" indent="-457200">
              <a:buAutoNum type="arabicPeriod"/>
            </a:pPr>
            <a:endParaRPr lang="en-US" sz="2800" dirty="0"/>
          </a:p>
          <a:p>
            <a:pPr marL="457200" lvl="0" indent="-457200">
              <a:buAutoNum type="arabicPeriod"/>
            </a:pPr>
            <a:r>
              <a:rPr lang="en-US" sz="2800" dirty="0"/>
              <a:t>CARRY OVER OR DISDURSAL</a:t>
            </a:r>
          </a:p>
          <a:p>
            <a:pPr marL="457200" lvl="0" indent="-457200">
              <a:buAutoNum type="arabicPeriod"/>
            </a:pPr>
            <a:endParaRPr lang="en-US" sz="2800" dirty="0"/>
          </a:p>
          <a:p>
            <a:pPr marL="457200" lvl="0" indent="-457200">
              <a:buAutoNum type="arabicPeriod"/>
            </a:pPr>
            <a:r>
              <a:rPr lang="en-US" sz="2800" dirty="0"/>
              <a:t>EBIDTA</a:t>
            </a:r>
            <a:endParaRPr lang="en-US" sz="2400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3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3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32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INVESTMENT DECISIONS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b="1" dirty="0"/>
              <a:t>  </a:t>
            </a:r>
          </a:p>
          <a:p>
            <a:pPr marL="0" lvl="0" indent="0">
              <a:buNone/>
            </a:pPr>
            <a:r>
              <a:rPr lang="en-US" sz="2800" b="1" dirty="0"/>
              <a:t>  TECHNICAL EVALUATION.</a:t>
            </a:r>
          </a:p>
          <a:p>
            <a:pPr marL="0" lvl="0" indent="0">
              <a:buNone/>
            </a:pPr>
            <a:r>
              <a:rPr lang="en-US" sz="2800" b="1" dirty="0"/>
              <a:t>  FEASIBILITY</a:t>
            </a:r>
          </a:p>
          <a:p>
            <a:pPr marL="0" lvl="0" indent="0">
              <a:buNone/>
            </a:pPr>
            <a:r>
              <a:rPr lang="en-US" sz="2800" b="1" dirty="0"/>
              <a:t>  ABILITY</a:t>
            </a:r>
          </a:p>
          <a:p>
            <a:pPr marL="0" lvl="0" indent="0">
              <a:buNone/>
            </a:pPr>
            <a:r>
              <a:rPr lang="en-US" sz="2800" b="1" dirty="0"/>
              <a:t>  COMPETETION</a:t>
            </a:r>
          </a:p>
          <a:p>
            <a:pPr marL="0" lvl="0" indent="0">
              <a:buNone/>
            </a:pPr>
            <a:r>
              <a:rPr lang="en-US" sz="2800" b="1" dirty="0"/>
              <a:t>   NOVELTY</a:t>
            </a:r>
          </a:p>
          <a:p>
            <a:pPr marL="0" lvl="0" indent="0">
              <a:buNone/>
            </a:pPr>
            <a:r>
              <a:rPr lang="en-US" sz="2800" b="1" dirty="0"/>
              <a:t>   DIFFERRACIATION OR LOW COST</a:t>
            </a:r>
          </a:p>
          <a:p>
            <a:pPr marL="0" lvl="0" indent="0">
              <a:buNone/>
            </a:pPr>
            <a:r>
              <a:rPr lang="en-US" sz="2800" b="1" dirty="0"/>
              <a:t>   GRASS ROOT OR EXISTING INFRASTRUCTURE</a:t>
            </a:r>
          </a:p>
          <a:p>
            <a:pPr marL="0" lvl="0" indent="0">
              <a:buNone/>
            </a:pPr>
            <a:r>
              <a:rPr lang="en-US" sz="2800" b="1" dirty="0"/>
              <a:t>   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689576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UNVESTMENT DECISIONS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r>
              <a:rPr lang="en-US" sz="2800" b="1" dirty="0"/>
              <a:t>    LOCATION</a:t>
            </a:r>
          </a:p>
          <a:p>
            <a:pPr marL="0" lvl="0" indent="0">
              <a:buNone/>
            </a:pPr>
            <a:r>
              <a:rPr lang="en-US" sz="2800" b="1" dirty="0"/>
              <a:t>    LAND ACQUISITION</a:t>
            </a:r>
          </a:p>
          <a:p>
            <a:pPr marL="0" lvl="0" indent="0">
              <a:buNone/>
            </a:pPr>
            <a:r>
              <a:rPr lang="en-US" sz="2800" b="1" dirty="0"/>
              <a:t>    OTHER HISTORICAL AND GEOGRAPHICAL FACTORS</a:t>
            </a:r>
          </a:p>
          <a:p>
            <a:pPr marL="0" lvl="0" indent="0">
              <a:buNone/>
            </a:pPr>
            <a:r>
              <a:rPr lang="en-US" sz="2800" b="1" dirty="0"/>
              <a:t>    AVAILIBILITY OF MANPOWER </a:t>
            </a:r>
          </a:p>
          <a:p>
            <a:pPr marL="0" lvl="0" indent="0">
              <a:buNone/>
            </a:pPr>
            <a:r>
              <a:rPr lang="en-US" sz="2800" b="1" dirty="0"/>
              <a:t>    ENVIRONMENTAL CLEARANCE.</a:t>
            </a:r>
          </a:p>
          <a:p>
            <a:pPr marL="0" lvl="0" indent="0">
              <a:buNone/>
            </a:pPr>
            <a:r>
              <a:rPr lang="en-US" sz="2800" b="1" dirty="0"/>
              <a:t>    OTHER RULES AND REGULATIONS.</a:t>
            </a:r>
          </a:p>
          <a:p>
            <a:pPr marL="0" lvl="0" indent="0">
              <a:buNone/>
            </a:pPr>
            <a:r>
              <a:rPr lang="en-US" sz="2800" b="1" dirty="0"/>
              <a:t>    CONSISTENCY WITH COMPANY PHILOSOPHY AND</a:t>
            </a:r>
          </a:p>
          <a:p>
            <a:pPr marL="0" lvl="0" indent="0">
              <a:buNone/>
            </a:pPr>
            <a:r>
              <a:rPr lang="en-US" sz="2800" b="1" dirty="0"/>
              <a:t>    CULTURE      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48192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INVESTMENT DECISIONS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  RETURN ON INVESTMENT</a:t>
            </a:r>
          </a:p>
          <a:p>
            <a:pPr marL="0" lvl="0" indent="0">
              <a:buNone/>
            </a:pPr>
            <a:r>
              <a:rPr lang="en-US" sz="2800" b="1" dirty="0"/>
              <a:t>  AVAILIBILITY OF CASH FLOW.</a:t>
            </a:r>
          </a:p>
          <a:p>
            <a:pPr marL="0" lvl="0" indent="0">
              <a:buNone/>
            </a:pPr>
            <a:r>
              <a:rPr lang="en-US" sz="2800" b="1" dirty="0"/>
              <a:t>  BANKS NBFCs  OR OTHER INSTITUTIONS.</a:t>
            </a:r>
          </a:p>
          <a:p>
            <a:pPr marL="0" lvl="0" indent="0">
              <a:buNone/>
            </a:pPr>
            <a:r>
              <a:rPr lang="en-US" sz="2800" b="1" dirty="0"/>
              <a:t>  BACKWARD AREA BENEFITS</a:t>
            </a:r>
          </a:p>
          <a:p>
            <a:pPr marL="0" lvl="0" indent="0">
              <a:buNone/>
            </a:pPr>
            <a:r>
              <a:rPr lang="en-US" sz="2800" b="1" dirty="0"/>
              <a:t>  TIME FRAME OF  MONEY REQUIREMENT.</a:t>
            </a:r>
          </a:p>
          <a:p>
            <a:pPr marL="0" lvl="0" indent="0">
              <a:buNone/>
            </a:pPr>
            <a:r>
              <a:rPr lang="en-US" sz="2800" b="1" dirty="0"/>
              <a:t>   OPPORTUNITY COST.</a:t>
            </a: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PRODUCT LIFE CYCLE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r>
              <a:rPr lang="en-US" sz="2800" b="1" dirty="0"/>
              <a:t> Estimation.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 </a:t>
            </a:r>
            <a:r>
              <a:rPr lang="en-US" sz="2800" b="1" dirty="0" err="1"/>
              <a:t>Competetion</a:t>
            </a:r>
            <a:r>
              <a:rPr lang="en-US" sz="2800" b="1" dirty="0"/>
              <a:t>.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 External factors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 Tie up with prospective customers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 RISK ANALYSIS 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 fontScale="62500" lnSpcReduction="20000"/>
          </a:bodyPr>
          <a:lstStyle/>
          <a:p>
            <a:pPr marL="457200" lvl="0" indent="-457200">
              <a:buNone/>
            </a:pPr>
            <a:endParaRPr lang="en-US" sz="2400" dirty="0"/>
          </a:p>
          <a:p>
            <a:pPr marL="457200" lvl="0" indent="-457200">
              <a:buNone/>
            </a:pPr>
            <a:r>
              <a:rPr lang="en-US" sz="2800" dirty="0"/>
              <a:t>   Evaluate And Quantify.</a:t>
            </a:r>
          </a:p>
          <a:p>
            <a:pPr marL="457200" lvl="0" indent="-457200">
              <a:buNone/>
            </a:pPr>
            <a:endParaRPr lang="en-US" sz="2800" dirty="0"/>
          </a:p>
          <a:p>
            <a:pPr marL="457200" lvl="0" indent="-457200">
              <a:buNone/>
            </a:pPr>
            <a:r>
              <a:rPr lang="en-US" sz="2800" dirty="0"/>
              <a:t>   Do or Die category.</a:t>
            </a:r>
          </a:p>
          <a:p>
            <a:pPr marL="457200" lvl="0" indent="-457200">
              <a:buNone/>
            </a:pPr>
            <a:endParaRPr lang="en-US" sz="2800" dirty="0"/>
          </a:p>
          <a:p>
            <a:pPr marL="457200" lvl="0" indent="-457200">
              <a:buNone/>
            </a:pPr>
            <a:r>
              <a:rPr lang="en-US" sz="2800" dirty="0"/>
              <a:t>   Environmental Impact</a:t>
            </a:r>
          </a:p>
          <a:p>
            <a:pPr marL="457200" lvl="0" indent="-457200">
              <a:buNone/>
            </a:pPr>
            <a:endParaRPr lang="en-US" sz="2800" dirty="0"/>
          </a:p>
          <a:p>
            <a:pPr marL="457200" lvl="0" indent="-457200">
              <a:buNone/>
            </a:pPr>
            <a:r>
              <a:rPr lang="en-US" sz="2800" dirty="0"/>
              <a:t>   Sustainability.</a:t>
            </a:r>
          </a:p>
          <a:p>
            <a:pPr marL="457200" lvl="0" indent="-457200">
              <a:buNone/>
            </a:pPr>
            <a:endParaRPr lang="en-US" sz="2800" dirty="0"/>
          </a:p>
          <a:p>
            <a:pPr marL="457200" lvl="0" indent="-457200">
              <a:buNone/>
            </a:pPr>
            <a:r>
              <a:rPr lang="en-US" sz="2800" dirty="0"/>
              <a:t>   Intangibles-  </a:t>
            </a:r>
            <a:r>
              <a:rPr lang="en-US" sz="2800" dirty="0" err="1"/>
              <a:t>Patents,Value</a:t>
            </a:r>
            <a:r>
              <a:rPr lang="en-US" sz="2800" dirty="0"/>
              <a:t> </a:t>
            </a:r>
            <a:r>
              <a:rPr lang="en-US" sz="2800" dirty="0" err="1"/>
              <a:t>addition,Market</a:t>
            </a:r>
            <a:r>
              <a:rPr lang="en-US" sz="2800" dirty="0"/>
              <a:t> Reputation.  </a:t>
            </a:r>
          </a:p>
          <a:p>
            <a:pPr marL="457200" lvl="0" indent="-457200">
              <a:buNone/>
            </a:pPr>
            <a:endParaRPr lang="en-US" sz="2800" dirty="0"/>
          </a:p>
          <a:p>
            <a:pPr marL="457200" lvl="0" indent="-457200">
              <a:buNone/>
            </a:pPr>
            <a:r>
              <a:rPr lang="en-US" sz="2800" dirty="0"/>
              <a:t>   Opportunity cost.</a:t>
            </a:r>
          </a:p>
          <a:p>
            <a:pPr marL="457200" lvl="0" indent="-457200">
              <a:buNone/>
            </a:pPr>
            <a:endParaRPr lang="en-US" sz="2800" dirty="0"/>
          </a:p>
          <a:p>
            <a:pPr marL="457200" lvl="0" indent="-457200">
              <a:buNone/>
            </a:pPr>
            <a:endParaRPr lang="en-US" sz="2800" dirty="0"/>
          </a:p>
          <a:p>
            <a:pPr marL="457200" lvl="0" indent="-457200">
              <a:buNone/>
            </a:pPr>
            <a:r>
              <a:rPr lang="en-US" sz="2800" dirty="0"/>
              <a:t> </a:t>
            </a:r>
          </a:p>
          <a:p>
            <a:pPr marL="457200" lvl="0" indent="-457200">
              <a:buNone/>
            </a:pPr>
            <a:r>
              <a:rPr lang="en-US" sz="2800" dirty="0"/>
              <a:t>  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ACCOUNTING SYSTEMS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Tracking Expenditure</a:t>
            </a:r>
          </a:p>
          <a:p>
            <a:pPr marL="457200" lvl="0" indent="-457200">
              <a:buNone/>
            </a:pPr>
            <a:r>
              <a:rPr lang="en-US" sz="2800" b="1" dirty="0"/>
              <a:t>Single Entry </a:t>
            </a:r>
          </a:p>
          <a:p>
            <a:pPr marL="457200" lvl="0" indent="-457200">
              <a:buNone/>
            </a:pPr>
            <a:r>
              <a:rPr lang="en-US" sz="2800" b="1" dirty="0"/>
              <a:t>Double entry</a:t>
            </a:r>
          </a:p>
          <a:p>
            <a:pPr marL="457200" lvl="0" indent="-457200">
              <a:buNone/>
            </a:pPr>
            <a:r>
              <a:rPr lang="en-US" sz="2800" b="1" dirty="0"/>
              <a:t>Manual ( Redundant)</a:t>
            </a:r>
          </a:p>
          <a:p>
            <a:pPr marL="457200" lvl="0" indent="-457200">
              <a:buNone/>
            </a:pPr>
            <a:r>
              <a:rPr lang="en-US" sz="2800" b="1" dirty="0" err="1"/>
              <a:t>Computerised</a:t>
            </a:r>
            <a:r>
              <a:rPr lang="en-US" sz="2800" b="1" dirty="0"/>
              <a:t>.</a:t>
            </a:r>
          </a:p>
          <a:p>
            <a:pPr marL="457200" lvl="0" indent="-457200">
              <a:buNone/>
            </a:pPr>
            <a:r>
              <a:rPr lang="en-US" sz="2800" b="1" dirty="0"/>
              <a:t>Companywide Software.  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STEP COSTING DIAGRAM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Planning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360" y="2514600"/>
            <a:ext cx="4977172" cy="33247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FB08C8-C6AA-4C64-913C-CA13AC1E6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089" y="2432116"/>
            <a:ext cx="5100653" cy="340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58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2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28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28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CONTROLLING EXPENDITURE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Monitoring  Expenditure: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Bar chart of Expenditure and activity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Review of costs if required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Prepare statements for accounts &amp; Loan  disbursal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Control over runs beyond contingencies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229290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QUALITY SYSTEMS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    </a:t>
            </a:r>
          </a:p>
          <a:p>
            <a:pPr marL="457200" lvl="0" indent="-457200">
              <a:buNone/>
            </a:pPr>
            <a:r>
              <a:rPr lang="en-US" b="1"/>
              <a:t>     A </a:t>
            </a:r>
            <a:r>
              <a:rPr lang="en-US" b="1" dirty="0"/>
              <a:t>SYSTEM IS A GROUP OF INTERACTING OR INTERRELATED ELEMENTS THAT ACT ACCORDING TOA SET OF RULES TO FORM A </a:t>
            </a:r>
            <a:r>
              <a:rPr lang="en-US" b="1"/>
              <a:t>UNIFIED WHOLE.</a:t>
            </a:r>
            <a:endParaRPr lang="en-US" b="1" dirty="0"/>
          </a:p>
          <a:p>
            <a:pPr marL="457200" lvl="0" indent="-457200">
              <a:buNone/>
            </a:pPr>
            <a:endParaRPr lang="en-US" sz="18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QUALITY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QUALITY IS NOT THE RESPOSNSIBILITY OF A PARTICULAR SET OF PERSONNEL KNOWN AS QC OR QA</a:t>
            </a:r>
          </a:p>
          <a:p>
            <a:pPr marL="0" lvl="0" indent="0">
              <a:buNone/>
            </a:pPr>
            <a:r>
              <a:rPr lang="en-US" sz="2800" b="1" dirty="0"/>
              <a:t>BUT</a:t>
            </a:r>
          </a:p>
          <a:p>
            <a:pPr marL="0" lvl="0" indent="0">
              <a:buNone/>
            </a:pPr>
            <a:r>
              <a:rPr lang="en-US" sz="2800" b="1" dirty="0"/>
              <a:t>A RESULT OF THE ENTIRE ORGANISATION FOLLOWING THE STIPULATED SYSTEM.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QUALITY SYSTEMS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 lnSpcReduction="10000"/>
          </a:bodyPr>
          <a:lstStyle/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ANY QUALITY SYSTEM </a:t>
            </a:r>
          </a:p>
          <a:p>
            <a:pPr marL="457200" lvl="0" indent="-457200">
              <a:buNone/>
            </a:pPr>
            <a:r>
              <a:rPr lang="en-US" sz="2800" b="1" dirty="0"/>
              <a:t>  ISO 14000 OR SIMILAR REQUIRES.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DEFINATION OF INPUTS</a:t>
            </a:r>
          </a:p>
          <a:p>
            <a:pPr marL="457200" lvl="0" indent="-457200">
              <a:buNone/>
            </a:pPr>
            <a:r>
              <a:rPr lang="en-US" sz="2800" b="1" dirty="0"/>
              <a:t>PROCESS</a:t>
            </a:r>
          </a:p>
          <a:p>
            <a:pPr marL="457200" lvl="0" indent="-457200">
              <a:buNone/>
            </a:pPr>
            <a:r>
              <a:rPr lang="en-US" sz="2800" b="1" dirty="0"/>
              <a:t>OUTPUT</a:t>
            </a:r>
          </a:p>
          <a:p>
            <a:pPr marL="457200" lvl="0" indent="-457200">
              <a:buNone/>
            </a:pPr>
            <a:r>
              <a:rPr lang="en-US" sz="2800" b="1" dirty="0"/>
              <a:t>AND</a:t>
            </a:r>
          </a:p>
          <a:p>
            <a:pPr marL="457200" lvl="0" indent="-457200">
              <a:buNone/>
            </a:pPr>
            <a:r>
              <a:rPr lang="en-US" sz="2800" b="1" dirty="0"/>
              <a:t>FEEDBACK  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2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26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26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Control of inputs: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 Process ,Log sheets, control tests. R.M Specification, operation </a:t>
            </a:r>
          </a:p>
          <a:p>
            <a:pPr marL="0" indent="0">
              <a:buNone/>
            </a:pPr>
            <a:r>
              <a:rPr lang="en-US" sz="2400" dirty="0"/>
              <a:t>        manual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 Equipment, Manpower skilled &amp; semiskilled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Targets- yearly, Monthly, Daily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4674136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Control of process:</a:t>
            </a:r>
            <a:endParaRPr lang="en-US" sz="2000" b="1" dirty="0"/>
          </a:p>
          <a:p>
            <a:pPr marL="457200" lvl="0" indent="-457200">
              <a:buNone/>
            </a:pPr>
            <a:r>
              <a:rPr lang="en-US" sz="2400" dirty="0"/>
              <a:t>       Carry out process as per S.O.P</a:t>
            </a:r>
          </a:p>
          <a:p>
            <a:pPr marL="457200" lvl="0" indent="-457200">
              <a:buNone/>
            </a:pPr>
            <a:r>
              <a:rPr lang="en-US" sz="2400" dirty="0"/>
              <a:t>       Annual plan-Monthly plan-weekly plan-Daily Plan-Hourly Plan-  What needs to be done now?</a:t>
            </a:r>
          </a:p>
          <a:p>
            <a:pPr marL="457200" lvl="0" indent="-457200">
              <a:buNone/>
            </a:pPr>
            <a:r>
              <a:rPr lang="en-US" sz="2400" dirty="0"/>
              <a:t>       Define immediate action</a:t>
            </a:r>
          </a:p>
          <a:p>
            <a:pPr marL="457200" lvl="0" indent="-457200">
              <a:buNone/>
            </a:pPr>
            <a:r>
              <a:rPr lang="en-US" sz="2400" dirty="0"/>
              <a:t>       Device own monitoring systems and plan personal schedule</a:t>
            </a:r>
          </a:p>
          <a:p>
            <a:r>
              <a:rPr lang="en-US" sz="2800" u="sng" dirty="0"/>
              <a:t> Verify :</a:t>
            </a:r>
          </a:p>
          <a:p>
            <a:pPr marL="457200" lvl="0" indent="-457200">
              <a:buNone/>
            </a:pPr>
            <a:r>
              <a:rPr lang="en-US" sz="2000" dirty="0"/>
              <a:t>           Daily reports</a:t>
            </a:r>
          </a:p>
          <a:p>
            <a:pPr marL="457200" lvl="0" indent="-457200">
              <a:buNone/>
            </a:pPr>
            <a:r>
              <a:rPr lang="en-US" sz="2000" dirty="0"/>
              <a:t>           Log sheet</a:t>
            </a:r>
          </a:p>
          <a:p>
            <a:pPr marL="457200" lvl="0" indent="-457200">
              <a:buNone/>
            </a:pPr>
            <a:r>
              <a:rPr lang="en-US" sz="2000" dirty="0"/>
              <a:t>           Batch sheets</a:t>
            </a:r>
          </a:p>
          <a:p>
            <a:pPr marL="457200" lvl="0" indent="-457200">
              <a:buNone/>
            </a:pPr>
            <a:endParaRPr lang="en-US" sz="2000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Monitor Output:</a:t>
            </a:r>
            <a:endParaRPr lang="en-US" sz="2000" b="1" dirty="0"/>
          </a:p>
          <a:p>
            <a:r>
              <a:rPr lang="en-US" sz="2400" dirty="0"/>
              <a:t>Remember Monitor Not Control</a:t>
            </a:r>
          </a:p>
          <a:p>
            <a:r>
              <a:rPr lang="en-US" sz="2400" dirty="0"/>
              <a:t>Output Quality is a result of  me meticulous follow up of S.O.P</a:t>
            </a:r>
          </a:p>
          <a:p>
            <a:r>
              <a:rPr lang="en-US" sz="2400" dirty="0"/>
              <a:t>Prepare Statistical records</a:t>
            </a:r>
          </a:p>
          <a:p>
            <a:r>
              <a:rPr lang="en-US" sz="2400" dirty="0"/>
              <a:t>Use of  fuzzy logic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2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24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24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Safety :</a:t>
            </a:r>
            <a:endParaRPr lang="en-US" b="1" u="sng" dirty="0">
              <a:solidFill>
                <a:schemeClr val="bg1"/>
              </a:solidFill>
              <a:latin typeface="Calibri" pitchFamily="34" charset="0"/>
            </a:endParaRPr>
          </a:p>
          <a:p>
            <a:r>
              <a:rPr lang="en-US" sz="2400" dirty="0"/>
              <a:t>People – Beware of daredevils &amp; alarmists</a:t>
            </a:r>
          </a:p>
          <a:p>
            <a:r>
              <a:rPr lang="en-US" sz="2400" dirty="0"/>
              <a:t>Environment</a:t>
            </a:r>
          </a:p>
          <a:p>
            <a:r>
              <a:rPr lang="en-US" sz="2400" dirty="0"/>
              <a:t>Equipment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007958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Reports:</a:t>
            </a:r>
            <a:endParaRPr lang="en-US" sz="20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Daily, weekly, monthly, annual reports are written at Appropriate levels of hierarchy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Should contain financial numbers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Should contain safety record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Should contain reviews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2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23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Interactions:</a:t>
            </a:r>
          </a:p>
          <a:p>
            <a:pPr marL="457200" lvl="0" indent="-457200">
              <a:buNone/>
            </a:pPr>
            <a:r>
              <a:rPr lang="en-US" sz="2800" dirty="0"/>
              <a:t>1. Purchase : </a:t>
            </a:r>
          </a:p>
          <a:p>
            <a:pPr marL="457200" lvl="0" indent="-457200">
              <a:buNone/>
            </a:pPr>
            <a:r>
              <a:rPr lang="en-US" sz="2400" dirty="0"/>
              <a:t>      To decide stock levels, Decide Availability &amp; shortage and fluctuation in prices</a:t>
            </a:r>
            <a:endParaRPr lang="en-US" sz="2400" b="1" dirty="0"/>
          </a:p>
          <a:p>
            <a:pPr marL="457200" lvl="0" indent="-457200">
              <a:buNone/>
            </a:pPr>
            <a:r>
              <a:rPr lang="en-US" sz="2800" dirty="0"/>
              <a:t>2. Maintenance :</a:t>
            </a:r>
          </a:p>
          <a:p>
            <a:pPr marL="457200" lvl="0" indent="-457200">
              <a:buNone/>
            </a:pPr>
            <a:r>
              <a:rPr lang="en-US" sz="2400" dirty="0"/>
              <a:t>      To decide availability of manpower &amp; equipment</a:t>
            </a:r>
          </a:p>
          <a:p>
            <a:pPr marL="457200" lvl="0" indent="-457200">
              <a:buNone/>
            </a:pPr>
            <a:endParaRPr lang="en-US" sz="2400" b="1" dirty="0"/>
          </a:p>
          <a:p>
            <a:pPr marL="457200" lvl="0" indent="-457200">
              <a:buNone/>
            </a:pPr>
            <a:endParaRPr lang="en-US" sz="2400" b="1" dirty="0"/>
          </a:p>
          <a:p>
            <a:pPr marL="457200" lvl="0" indent="-457200">
              <a:buNone/>
            </a:pPr>
            <a:endParaRPr lang="en-US" sz="24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85819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Control of Effluents : 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Segregation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Chemical treatment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Biological treatment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Post treatment</a:t>
            </a:r>
            <a:endParaRPr lang="en-US" sz="2400" b="1" dirty="0"/>
          </a:p>
          <a:p>
            <a:pPr marL="457200" lvl="0" indent="-457200">
              <a:buFont typeface="+mj-lt"/>
              <a:buAutoNum type="arabicPeriod"/>
            </a:pPr>
            <a:endParaRPr lang="en-US" sz="2000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2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21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22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Control of Costs: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Raw Material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Utilities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Maintenance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Comparison and preparing and revising norms </a:t>
            </a:r>
          </a:p>
          <a:p>
            <a:pPr marL="457200" lvl="0" indent="-457200">
              <a:buFont typeface="+mj-lt"/>
              <a:buAutoNum type="arabicPeriod"/>
            </a:pPr>
            <a:endParaRPr lang="en-US" sz="2000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5993427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Statutory Requirements: 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Excise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Sales tax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Director industrial health &amp; Safety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Effluent control board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Labor Departments</a:t>
            </a:r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2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21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21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Working capital Requirement: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400" dirty="0"/>
              <a:t>Define &amp; Control</a:t>
            </a:r>
          </a:p>
          <a:p>
            <a:pPr marL="0" lvl="0" indent="0">
              <a:buNone/>
            </a:pPr>
            <a:r>
              <a:rPr lang="en-US" sz="2400" dirty="0"/>
              <a:t>	Finished Goods Stocks</a:t>
            </a:r>
          </a:p>
          <a:p>
            <a:pPr marL="0" lvl="0" indent="0">
              <a:buNone/>
            </a:pPr>
            <a:r>
              <a:rPr lang="en-US" sz="2400" dirty="0"/>
              <a:t>	Raw material stocks</a:t>
            </a:r>
          </a:p>
          <a:p>
            <a:pPr marL="0" lvl="0" indent="0">
              <a:buNone/>
            </a:pPr>
            <a:r>
              <a:rPr lang="en-US" sz="2400" dirty="0"/>
              <a:t>	Goods in process &amp; thereby define working capital</a:t>
            </a:r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238687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Improvement in process: </a:t>
            </a:r>
            <a:endParaRPr lang="en-US" sz="2000" b="1" dirty="0"/>
          </a:p>
          <a:p>
            <a:pPr marL="0" lvl="0" indent="0">
              <a:buNone/>
            </a:pPr>
            <a:r>
              <a:rPr lang="en-US" sz="2400" dirty="0"/>
              <a:t>	Adequate data</a:t>
            </a:r>
          </a:p>
          <a:p>
            <a:pPr marL="0" lvl="0" indent="0">
              <a:buNone/>
            </a:pPr>
            <a:r>
              <a:rPr lang="en-US" sz="2400" dirty="0"/>
              <a:t>	Statistical analysis</a:t>
            </a:r>
          </a:p>
          <a:p>
            <a:pPr marL="0" lvl="0" indent="0">
              <a:buNone/>
            </a:pPr>
            <a:r>
              <a:rPr lang="en-US" sz="2400" dirty="0"/>
              <a:t>	Interaction with design ,R&amp;D</a:t>
            </a:r>
          </a:p>
          <a:p>
            <a:pPr marL="0" lvl="0" indent="0">
              <a:buNone/>
            </a:pPr>
            <a:r>
              <a:rPr lang="en-US" sz="2400" dirty="0"/>
              <a:t>	Define changes &amp; authorization</a:t>
            </a:r>
            <a:endParaRPr lang="en-US" sz="24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20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20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ISO Applicability: 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Inputs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Process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Outputs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Importance can not be understated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8040298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Marketing: </a:t>
            </a:r>
          </a:p>
          <a:p>
            <a:endParaRPr lang="en-US"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Some misconception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Marketing and Sales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Customer base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8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9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Plans for Marketing: 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Immediate ( </a:t>
            </a:r>
            <a:r>
              <a:rPr lang="en-US" sz="2400" dirty="0" err="1"/>
              <a:t>Upto</a:t>
            </a:r>
            <a:r>
              <a:rPr lang="en-US" sz="2400" dirty="0"/>
              <a:t> 3 Months)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Short term (1 year)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Long term ( 3-5 years)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Plan should include tonnages as well as revenges &amp; budgets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292177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Information: </a:t>
            </a:r>
            <a:endParaRPr lang="en-US" sz="2000" b="1" dirty="0"/>
          </a:p>
          <a:p>
            <a:pPr marL="457200" lvl="0" indent="-457200">
              <a:buNone/>
            </a:pPr>
            <a:r>
              <a:rPr lang="en-US" sz="2800" dirty="0"/>
              <a:t>Products &amp; Services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Uses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Specifications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Availability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Packaging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Regulatory issues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7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7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Pricing: </a:t>
            </a:r>
          </a:p>
          <a:p>
            <a:pPr marL="457200" lvl="0" indent="-457200">
              <a:buNone/>
            </a:pPr>
            <a:r>
              <a:rPr lang="en-US" sz="2800" dirty="0"/>
              <a:t>Based on</a:t>
            </a:r>
          </a:p>
          <a:p>
            <a:pPr marL="0" lvl="0" indent="0">
              <a:buNone/>
            </a:pPr>
            <a:r>
              <a:rPr lang="en-US" sz="2400" dirty="0"/>
              <a:t>	Opportunity</a:t>
            </a:r>
          </a:p>
          <a:p>
            <a:pPr marL="0" lvl="0" indent="0">
              <a:buNone/>
            </a:pPr>
            <a:r>
              <a:rPr lang="en-US" sz="2400" dirty="0"/>
              <a:t>	Cost Based</a:t>
            </a:r>
          </a:p>
          <a:p>
            <a:pPr marL="0" lvl="0" indent="0">
              <a:buNone/>
            </a:pPr>
            <a:r>
              <a:rPr lang="en-US" sz="2400" dirty="0"/>
              <a:t>	Distress sale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2280440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 lnSpcReduction="10000"/>
          </a:bodyPr>
          <a:lstStyle/>
          <a:p>
            <a:r>
              <a:rPr lang="en-US" b="1" u="sng" dirty="0"/>
              <a:t>Customers &amp; Competitor</a:t>
            </a:r>
            <a:endParaRPr lang="en-US" sz="2000" b="1" dirty="0"/>
          </a:p>
          <a:p>
            <a:pPr marL="457200" lvl="0" indent="-457200">
              <a:buAutoNum type="arabicPeriod"/>
            </a:pPr>
            <a:r>
              <a:rPr lang="en-US" sz="2800" dirty="0"/>
              <a:t>Know your customers</a:t>
            </a:r>
          </a:p>
          <a:p>
            <a:pPr marL="457200" lvl="0" indent="-457200">
              <a:buNone/>
            </a:pPr>
            <a:r>
              <a:rPr lang="en-US" sz="2000" dirty="0"/>
              <a:t>  		</a:t>
            </a:r>
            <a:r>
              <a:rPr lang="en-US" sz="2400" dirty="0"/>
              <a:t>Policies</a:t>
            </a:r>
          </a:p>
          <a:p>
            <a:pPr marL="457200" lvl="0" indent="-457200">
              <a:buNone/>
            </a:pPr>
            <a:r>
              <a:rPr lang="en-US" sz="2400" dirty="0"/>
              <a:t>		Difficulties</a:t>
            </a:r>
          </a:p>
          <a:p>
            <a:pPr marL="457200" lvl="0" indent="-457200">
              <a:buNone/>
            </a:pPr>
            <a:r>
              <a:rPr lang="en-US" sz="2400" dirty="0"/>
              <a:t>		Requirements</a:t>
            </a:r>
          </a:p>
          <a:p>
            <a:pPr marL="457200" lvl="0" indent="-457200">
              <a:buAutoNum type="arabicPeriod" startAt="2"/>
            </a:pPr>
            <a:r>
              <a:rPr lang="en-US" sz="2800" dirty="0"/>
              <a:t>Competitor</a:t>
            </a:r>
          </a:p>
          <a:p>
            <a:pPr marL="457200" lvl="0" indent="-457200">
              <a:buNone/>
            </a:pPr>
            <a:r>
              <a:rPr lang="en-US" sz="2000" dirty="0"/>
              <a:t>		</a:t>
            </a:r>
            <a:r>
              <a:rPr lang="en-US" sz="2400" dirty="0"/>
              <a:t>Products</a:t>
            </a:r>
          </a:p>
          <a:p>
            <a:pPr marL="457200" lvl="0" indent="-457200">
              <a:buNone/>
            </a:pPr>
            <a:r>
              <a:rPr lang="en-US" sz="2400" dirty="0"/>
              <a:t>		Pricing</a:t>
            </a:r>
          </a:p>
          <a:p>
            <a:pPr marL="457200" lvl="0" indent="-457200">
              <a:buNone/>
            </a:pPr>
            <a:r>
              <a:rPr lang="en-US" sz="2400" dirty="0"/>
              <a:t>		Strength &amp; weakness</a:t>
            </a:r>
          </a:p>
          <a:p>
            <a:pPr marL="457200" lvl="0" indent="-457200">
              <a:buNone/>
            </a:pPr>
            <a:r>
              <a:rPr lang="en-US" sz="2400" dirty="0"/>
              <a:t>		Practices.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Interactions:</a:t>
            </a:r>
            <a:endParaRPr lang="en-US" sz="2000" b="1" dirty="0"/>
          </a:p>
          <a:p>
            <a:pPr marL="0" lvl="0" indent="0">
              <a:buNone/>
            </a:pPr>
            <a:r>
              <a:rPr lang="en-US" sz="2400" dirty="0"/>
              <a:t>	R &amp; D for new products</a:t>
            </a:r>
          </a:p>
          <a:p>
            <a:pPr marL="0" lvl="0" indent="0">
              <a:buNone/>
            </a:pPr>
            <a:r>
              <a:rPr lang="en-US" sz="2400" dirty="0"/>
              <a:t>	Operations for plans/stocks</a:t>
            </a:r>
          </a:p>
          <a:p>
            <a:pPr marL="0" lvl="0" indent="0">
              <a:buNone/>
            </a:pPr>
            <a:r>
              <a:rPr lang="en-US" sz="2400" dirty="0"/>
              <a:t>	Sales for logistics</a:t>
            </a:r>
            <a:endParaRPr lang="en-US" sz="24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Information Gathering:</a:t>
            </a:r>
          </a:p>
          <a:p>
            <a:pPr marL="0" lvl="0" indent="0">
              <a:buNone/>
            </a:pPr>
            <a:r>
              <a:rPr lang="en-US" sz="2400" dirty="0"/>
              <a:t>	Library best source</a:t>
            </a:r>
          </a:p>
          <a:p>
            <a:pPr marL="0" lvl="0" indent="0">
              <a:buNone/>
            </a:pPr>
            <a:r>
              <a:rPr lang="en-US" sz="2400" dirty="0"/>
              <a:t>	Trade fares</a:t>
            </a:r>
          </a:p>
          <a:p>
            <a:pPr marL="0" lvl="0" indent="0">
              <a:buNone/>
            </a:pPr>
            <a:r>
              <a:rPr lang="en-US" sz="2400" dirty="0"/>
              <a:t>	Internal meetings</a:t>
            </a:r>
          </a:p>
          <a:p>
            <a:pPr marL="0" lvl="0" indent="0">
              <a:buNone/>
            </a:pPr>
            <a:r>
              <a:rPr lang="en-US" sz="2400" dirty="0"/>
              <a:t>	Academic institutions</a:t>
            </a:r>
          </a:p>
          <a:p>
            <a:pPr marL="0" lvl="0" indent="0">
              <a:buNone/>
            </a:pPr>
            <a:r>
              <a:rPr lang="en-US" sz="2400" dirty="0"/>
              <a:t>	Develop own networking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9506014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MARKETING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 Remember</a:t>
            </a:r>
            <a:endParaRPr lang="en-US" sz="2000" b="1" dirty="0"/>
          </a:p>
          <a:p>
            <a:pPr marL="457200" lvl="0" indent="-457200">
              <a:buNone/>
            </a:pPr>
            <a:r>
              <a:rPr lang="en-US" sz="2800" dirty="0"/>
              <a:t>You are </a:t>
            </a:r>
          </a:p>
          <a:p>
            <a:pPr marL="0" lvl="0" indent="0">
              <a:buNone/>
            </a:pPr>
            <a:r>
              <a:rPr lang="en-US" sz="2400" dirty="0"/>
              <a:t>	Face of the company</a:t>
            </a:r>
          </a:p>
          <a:p>
            <a:pPr marL="0" lvl="0" indent="0">
              <a:buNone/>
            </a:pPr>
            <a:r>
              <a:rPr lang="en-US" sz="2400" dirty="0"/>
              <a:t>	Control your Budget &amp; overheads</a:t>
            </a:r>
          </a:p>
          <a:p>
            <a:pPr marL="0" lvl="0" indent="0">
              <a:buNone/>
            </a:pPr>
            <a:r>
              <a:rPr lang="en-US" sz="2400" dirty="0"/>
              <a:t>	Do not show off</a:t>
            </a:r>
          </a:p>
          <a:p>
            <a:pPr marL="0" lvl="0" indent="0">
              <a:buNone/>
            </a:pPr>
            <a:r>
              <a:rPr lang="en-US" sz="2400" dirty="0"/>
              <a:t>	Do not underwrite other Depts./personal</a:t>
            </a:r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r>
              <a:rPr lang="en-US" sz="2800" b="1" dirty="0"/>
              <a:t>MARKETING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Inputs :</a:t>
            </a:r>
          </a:p>
          <a:p>
            <a:pPr marL="0" indent="0">
              <a:buNone/>
            </a:pPr>
            <a:r>
              <a:rPr lang="en-US" sz="2400" dirty="0"/>
              <a:t>	Production plan</a:t>
            </a:r>
          </a:p>
          <a:p>
            <a:pPr marL="0" indent="0">
              <a:buNone/>
            </a:pPr>
            <a:r>
              <a:rPr lang="en-US" sz="2400" dirty="0"/>
              <a:t>	Product information / produces</a:t>
            </a:r>
          </a:p>
          <a:p>
            <a:pPr marL="0" indent="0">
              <a:buNone/>
            </a:pPr>
            <a:r>
              <a:rPr lang="en-US" sz="2400" dirty="0"/>
              <a:t>	Pricing Guidelines</a:t>
            </a:r>
          </a:p>
          <a:p>
            <a:pPr marL="0" indent="0">
              <a:buNone/>
            </a:pPr>
            <a:r>
              <a:rPr lang="en-US" sz="2400" dirty="0"/>
              <a:t>	Customer details</a:t>
            </a:r>
            <a:endParaRPr lang="en-US" sz="2000" b="1" dirty="0"/>
          </a:p>
          <a:p>
            <a:r>
              <a:rPr lang="en-US" b="1" u="sng" dirty="0"/>
              <a:t>Outputs:</a:t>
            </a:r>
          </a:p>
          <a:p>
            <a:pPr marL="0" lvl="0" indent="0">
              <a:buNone/>
            </a:pPr>
            <a:r>
              <a:rPr lang="en-US" sz="2400" dirty="0"/>
              <a:t>	Marketing plan</a:t>
            </a:r>
          </a:p>
          <a:p>
            <a:pPr marL="0" lvl="0" indent="0">
              <a:buNone/>
            </a:pPr>
            <a:r>
              <a:rPr lang="en-US" sz="2400" dirty="0"/>
              <a:t>	Review addition of customers</a:t>
            </a:r>
          </a:p>
          <a:p>
            <a:pPr marL="0" lvl="0" indent="0">
              <a:buNone/>
            </a:pPr>
            <a:r>
              <a:rPr lang="en-US" sz="2400" dirty="0"/>
              <a:t>	Increase in sales , revenue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r>
              <a:rPr lang="en-US" sz="2800" b="1" dirty="0"/>
              <a:t>CAREER CHOICE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r>
              <a:rPr lang="en-US" sz="2400" dirty="0"/>
              <a:t>It is normal to be uncertain</a:t>
            </a:r>
          </a:p>
          <a:p>
            <a:r>
              <a:rPr lang="en-US" sz="2400" dirty="0"/>
              <a:t>Do not follow the crowd</a:t>
            </a:r>
          </a:p>
          <a:p>
            <a:r>
              <a:rPr lang="en-US" sz="2400" dirty="0"/>
              <a:t>Is the interest in lighter studies genuine</a:t>
            </a:r>
          </a:p>
          <a:p>
            <a:r>
              <a:rPr lang="en-US" sz="2400" dirty="0"/>
              <a:t>It is never too late to change</a:t>
            </a:r>
          </a:p>
          <a:p>
            <a:r>
              <a:rPr lang="en-US" sz="2400" dirty="0"/>
              <a:t>Higher studies ? In which held, Job? In which field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7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76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76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r>
              <a:rPr lang="en-US" sz="2800" b="1" dirty="0"/>
              <a:t>WRITING AN SOP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r>
              <a:rPr lang="en-US" sz="2400" dirty="0"/>
              <a:t>Be Honest &amp; Realistic</a:t>
            </a:r>
          </a:p>
          <a:p>
            <a:r>
              <a:rPr lang="en-US" sz="2400" dirty="0"/>
              <a:t>State what you feel not What you should feel</a:t>
            </a:r>
          </a:p>
          <a:p>
            <a:r>
              <a:rPr lang="en-US" sz="2400" dirty="0"/>
              <a:t>A little uncertainty is not bad</a:t>
            </a:r>
          </a:p>
          <a:p>
            <a:r>
              <a:rPr lang="en-US" sz="2400" dirty="0"/>
              <a:t>State what you intend to achieve through higher education </a:t>
            </a:r>
          </a:p>
          <a:p>
            <a:r>
              <a:rPr lang="en-US" sz="2400" dirty="0"/>
              <a:t>Use understand language and informal narrative </a:t>
            </a: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5429668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7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75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75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endParaRPr lang="en-US" sz="2800" b="1" dirty="0"/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Appearing for an interview : </a:t>
            </a:r>
            <a:endParaRPr lang="en-US" sz="2000" b="1" u="sng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Get information about company &amp; its product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For R&amp; D be ready with some thoughts for the organization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Define what you think you will be required to do &amp; contribute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Do not ask too many queries about locations and transfers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Do not be worried about slightly lower salary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Ask questions</a:t>
            </a:r>
          </a:p>
          <a:p>
            <a:pPr marL="0" indent="0">
              <a:buNone/>
            </a:pPr>
            <a:endParaRPr lang="en-US" sz="2000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3500049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1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1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endParaRPr lang="en-US" sz="2800" b="1" dirty="0"/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Some Soft skills:</a:t>
            </a:r>
          </a:p>
          <a:p>
            <a:pPr marL="457200" indent="-457200">
              <a:buAutoNum type="arabicPeriod"/>
            </a:pPr>
            <a:r>
              <a:rPr lang="en-US" sz="2800" dirty="0"/>
              <a:t>Motivation- Maslow's theory</a:t>
            </a:r>
          </a:p>
          <a:p>
            <a:pPr marL="457200" indent="-457200">
              <a:buAutoNum type="arabicPeriod"/>
            </a:pPr>
            <a:r>
              <a:rPr lang="en-US" sz="2800" dirty="0"/>
              <a:t>Communication- Johari window</a:t>
            </a:r>
          </a:p>
          <a:p>
            <a:pPr marL="457200" indent="-457200">
              <a:buAutoNum type="arabicPeriod"/>
            </a:pPr>
            <a:r>
              <a:rPr lang="en-US" sz="2800" dirty="0"/>
              <a:t>Leadership –styles</a:t>
            </a:r>
          </a:p>
          <a:p>
            <a:pPr marL="457200" indent="-457200">
              <a:buAutoNum type="arabicPeriod"/>
            </a:pPr>
            <a:r>
              <a:rPr lang="en-US" sz="2800" dirty="0"/>
              <a:t>Getting along with people –How ? ,  Why?</a:t>
            </a:r>
          </a:p>
          <a:p>
            <a:pPr marL="457200" indent="-457200">
              <a:buAutoNum type="arabicPeriod"/>
            </a:pPr>
            <a:r>
              <a:rPr lang="en-US" sz="2800" dirty="0"/>
              <a:t>Recognizing Oneself</a:t>
            </a:r>
          </a:p>
          <a:p>
            <a:pPr marL="0" indent="0">
              <a:buNone/>
            </a:pPr>
            <a:endParaRPr lang="en-US" sz="2000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4066819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7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75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76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r>
              <a:rPr lang="en-US" sz="2800" b="1" dirty="0"/>
              <a:t>TOXICITY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Toxicity of chemicals</a:t>
            </a:r>
          </a:p>
          <a:p>
            <a:r>
              <a:rPr lang="en-US" sz="2400" dirty="0"/>
              <a:t>Concept of selective toxicity</a:t>
            </a:r>
          </a:p>
          <a:p>
            <a:r>
              <a:rPr lang="en-US" sz="3000" u="sng" dirty="0"/>
              <a:t>Types of Toxicity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Oral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Inhalation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Dermal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Neurotoxicity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Carcinogens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Teratogenicity</a:t>
            </a:r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1864457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0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0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r>
              <a:rPr lang="en-US" sz="2800" b="1" dirty="0"/>
              <a:t>TOXICITY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n-US" b="1" u="sng" dirty="0"/>
              <a:t>TOXICITY : </a:t>
            </a:r>
          </a:p>
          <a:p>
            <a:r>
              <a:rPr lang="en-US" sz="2400" dirty="0"/>
              <a:t>Acute &amp; Subacute toxicity</a:t>
            </a:r>
          </a:p>
          <a:p>
            <a:r>
              <a:rPr lang="en-US" sz="2400" dirty="0"/>
              <a:t>Impact of the above in working life</a:t>
            </a:r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8675722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7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73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73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r>
              <a:rPr lang="en-US" sz="2800" b="1" dirty="0"/>
              <a:t>TOXICITY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/>
              <a:t>Toxicity  Of Chemicals: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Relation between </a:t>
            </a:r>
          </a:p>
          <a:p>
            <a:pPr marL="0" indent="0">
              <a:buNone/>
            </a:pPr>
            <a:r>
              <a:rPr lang="en-US" sz="2000" dirty="0"/>
              <a:t>	Toxicity &amp; physical properties</a:t>
            </a:r>
          </a:p>
          <a:p>
            <a:pPr marL="0" indent="0">
              <a:buNone/>
            </a:pPr>
            <a:r>
              <a:rPr lang="en-US" sz="2000" dirty="0"/>
              <a:t>	Toxicity &amp; </a:t>
            </a:r>
            <a:r>
              <a:rPr lang="en-US" sz="2000" dirty="0" err="1"/>
              <a:t>Corrosivity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General Antidotes</a:t>
            </a:r>
          </a:p>
          <a:p>
            <a:pPr marL="0" indent="0">
              <a:buNone/>
            </a:pPr>
            <a:r>
              <a:rPr lang="en-US" sz="2000" dirty="0"/>
              <a:t>	Flammability flash point &amp; its impact on chemical process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Residues and Persistence –Why both are important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Metabolism in human body’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Aquatic toxicity and toxicity to honey bees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Long term precautions in chemical industry</a:t>
            </a:r>
          </a:p>
          <a:p>
            <a:pPr marL="0" lvl="0" indent="0">
              <a:buNone/>
            </a:pPr>
            <a:r>
              <a:rPr lang="en-US" sz="2000" dirty="0"/>
              <a:t>	Do not be afraid &amp;Do not be a daredevil</a:t>
            </a:r>
          </a:p>
          <a:p>
            <a:pPr marL="0" indent="0">
              <a:buNone/>
            </a:pPr>
            <a:r>
              <a:rPr lang="en-US" sz="2000" dirty="0"/>
              <a:t>	Trust your instinct</a:t>
            </a:r>
          </a:p>
          <a:p>
            <a:pPr marL="0" indent="0">
              <a:buNone/>
            </a:pPr>
            <a:r>
              <a:rPr lang="en-US" sz="2000" dirty="0"/>
              <a:t>	Take simple precautions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4173805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7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72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72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r>
              <a:rPr lang="en-US" sz="2800" b="1"/>
              <a:t>TOXICITY</a:t>
            </a:r>
            <a:endParaRPr lang="en-US" sz="2800" b="1" dirty="0"/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Methods of Disposal of toxic chemicals: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Transportation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Storage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Handling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5446737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7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79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79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endParaRPr lang="en-US" sz="2800" b="1" dirty="0"/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609600" y="2590800"/>
            <a:ext cx="787430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/>
              <a:t>!! THANK YOU !!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78789392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